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Lst>
  <p:notesMasterIdLst>
    <p:notesMasterId r:id="rId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Buenos días. Soy Jesús Ángel Novillo y presento mi Trabajo Fin de Máster del Máster en Desarrollo con IA de BIG school.
El proyecto se llama Intelligent Automotive Diagnostics: una herramienta que se conecta al coche por el puerto OBD-II, lee sus datos reales y razona sobre ellos con un modelo de lenguaje.
Lo de la derecha no es una maqueta: es la aplicación funcionando, mostrando tres averías que acaba de leer de la centralita.
[~15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Hoy llegas con una máquina de diagnosis, la conectas, y te da diez códigos de error. Cada uno te dice una cosa: válvula EGR obstruida, filtro de partículas lleno.
Vale. Pero esa válvula se ha obstruido por alguna circunstancia, y ese filtro se ha llenado por alguna circunstancia. Y eso la máquina no te lo dice.
Te deja la lista delante, y el trabajo de averiguar el porqué sigue entero por hacer.
[~45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¿Cuál es la gracia que tiene esta aplicación con la IA? Que con esos dos códigos y esos datos, el agente dice: vale, tengo el P0401, que es la válvula EGR obstruida, y el P2002, que es el filtro de partículas lleno. Voy a mirar a ver por qué puede ser esto.
Y hace una diagnosis: esto se produce, puede ser por esto o puede ser por lo otro. Le da al mecánico una serie de opciones.
Y además le dice qué pasos puede seguir para llegar a determinar de dónde viene el problema. Eso es lo que hace la aplicación.
[~55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¿Por qué Clean Architecture y no otra cosa? Porque en este proyecto el dominio no es algo que me haya inventado yo: son normas. SAE J1979, ISO 15031, ISO 15765-4 para el bus CAN, ISO 3779 para el VIN. Las fórmulas que convierten cada PID en una magnitud física, y la decodificación del bastidor. Eso no lo cambia nadie, y no puede estar mezclado con el acceso a datos ni con el modelo de lenguaje.
¿Y por qué no orientada a eventos? Porque aquí no hay varios servicios que desacoplar: es un solo proceso. El flujo es síncrono, el mecánico pregunta y se queda esperando. Un broker y colas me traerían consistencia eventual y mucha más superficie de depuración sin ganar nada. Y soy un solo programador: cuantas más piezas móviles, más sitio donde romper.
Abajo está el ejemplo concreto de este proyecto. En el dominio, los value objects y los catálogos. En aplicación, los casos de uso y los puertos, que dicen qué hace falta pero no cómo. Y en infraestructura el cómo: Express, Drizzle sobre SQLite, LanceDB, el servidor MCP y el transporte del ELM327.
El dominio no sabe que existe SQLite, ni Express, ni ningún modelo de lenguaje.
[~80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Esto es todo lo que hay que entender del OBD-II para seguir el resto de la charla.
La aplicación quiere saber a cuántas revoluciones está el motor. Manda dos bytes: 01 0C. El 01 es el modo, que en la norma significa "dame un dato en vivo", y el 0C es el PID concreto, las revoluciones.
Eso sale por el adaptador ELM327, que es el cachivache que se enchufa al conector del coche, entra en el bus CAN, y llega a la centralita del motor.
La centralita contesta 41 0C 0B B8. El 41 es el 01 más cuarenta, que es como la norma marca que es una respuesta. El 0C confirma qué PID contesta. Y los dos últimos bytes son el dato en crudo.
Ese dato no son revoluciones todavía. Hay que aplicarle la fórmula del PID: A por 256 más B, dividido entre 4. Con 0B y B8, eso da 750 revoluciones.
Esa fórmula la fija la SAE J1979, y por eso está en el dominio y no en el código que habla con el cable.
[~70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Hay dos bases de datos, y no es por capricho: son dos preguntas distintas.
A SQLite le pregunto cosas exactas. Qué usuario es este, qué vehículo tiene este VIN, qué ECUs se le descubrieron, qué sesiones de diagnóstico tiene y cuál fue el informe de cada una. Son trece tablas con sus claves y sus relaciones, y siempre sé por qué clave preguntar.
A LanceDB le pregunto por parecido. Ahí están los PIDs, los DTCs y los diagnósticos ya resueltos, convertidos en vectores de 384 dimensiones. Cuando llega un coche nuevo no tengo una clave por la que buscar: lo que quiero es "enséñame casos que se parezcan a este", y eso una consulta SQL no lo resuelve.
Las dos son embebidas, sin servidor. En el ADR-002 está escrito por qué se descartó PostgreSQL: a esta escala habría añadido un servicio, una red y un backup que gestionar sin resolver ningún problema que yo tuviera. Y como los repositorios están detrás de puertos, migrar el día de mañana es cambiar el driver, no la aplicación.
[~60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720840" y="-91440"/>
            <a:ext cx="5760720" cy="7040880"/>
          </a:xfrm>
          <a:prstGeom prst="rect">
            <a:avLst/>
          </a:prstGeom>
          <a:solidFill>
            <a:srgbClr val="1A1C2E"/>
          </a:solidFill>
          <a:ln/>
        </p:spPr>
      </p:sp>
      <p:sp>
        <p:nvSpPr>
          <p:cNvPr id="3" name="Shape 1"/>
          <p:cNvSpPr/>
          <p:nvPr/>
        </p:nvSpPr>
        <p:spPr>
          <a:xfrm>
            <a:off x="777240" y="685800"/>
            <a:ext cx="475488" cy="475488"/>
          </a:xfrm>
          <a:prstGeom prst="rect">
            <a:avLst/>
          </a:prstGeom>
          <a:solidFill>
            <a:srgbClr val="202CFC"/>
          </a:solidFill>
          <a:ln/>
        </p:spPr>
      </p:sp>
      <p:sp>
        <p:nvSpPr>
          <p:cNvPr id="4" name="Text 2"/>
          <p:cNvSpPr/>
          <p:nvPr/>
        </p:nvSpPr>
        <p:spPr>
          <a:xfrm>
            <a:off x="777240" y="685800"/>
            <a:ext cx="475488" cy="475488"/>
          </a:xfrm>
          <a:prstGeom prst="rect">
            <a:avLst/>
          </a:prstGeom>
          <a:noFill/>
          <a:ln/>
        </p:spPr>
        <p:txBody>
          <a:bodyPr wrap="square" lIns="0" tIns="0" rIns="0" bIns="0" rtlCol="0" anchor="ctr"/>
          <a:lstStyle/>
          <a:p>
            <a:pPr algn="ctr" indent="0" marL="0">
              <a:buNone/>
            </a:pPr>
            <a:r>
              <a:rPr lang="en-US" sz="1768" b="1" dirty="0">
                <a:solidFill>
                  <a:srgbClr val="FFFFFF"/>
                </a:solidFill>
                <a:latin typeface="Arial" pitchFamily="34" charset="0"/>
                <a:ea typeface="Arial" pitchFamily="34" charset="-122"/>
                <a:cs typeface="Arial" pitchFamily="34" charset="-120"/>
              </a:rPr>
              <a:t>BIG</a:t>
            </a:r>
            <a:endParaRPr lang="en-US" sz="1768" dirty="0"/>
          </a:p>
        </p:txBody>
      </p:sp>
      <p:sp>
        <p:nvSpPr>
          <p:cNvPr id="5" name="Text 3"/>
          <p:cNvSpPr/>
          <p:nvPr/>
        </p:nvSpPr>
        <p:spPr>
          <a:xfrm>
            <a:off x="1335024" y="685800"/>
            <a:ext cx="1426464" cy="475488"/>
          </a:xfrm>
          <a:prstGeom prst="rect">
            <a:avLst/>
          </a:prstGeom>
          <a:noFill/>
          <a:ln/>
        </p:spPr>
        <p:txBody>
          <a:bodyPr wrap="square" lIns="0" tIns="0" rIns="0" bIns="0" rtlCol="0" anchor="ctr"/>
          <a:lstStyle/>
          <a:p>
            <a:pPr algn="l" indent="0" marL="0">
              <a:buNone/>
            </a:pPr>
            <a:r>
              <a:rPr lang="en-US" sz="1768" dirty="0">
                <a:solidFill>
                  <a:srgbClr val="1A1C2E"/>
                </a:solidFill>
                <a:latin typeface="Arial" pitchFamily="34" charset="0"/>
                <a:ea typeface="Arial" pitchFamily="34" charset="-122"/>
                <a:cs typeface="Arial" pitchFamily="34" charset="-120"/>
              </a:rPr>
              <a:t>school</a:t>
            </a:r>
            <a:endParaRPr lang="en-US" sz="1768" dirty="0"/>
          </a:p>
        </p:txBody>
      </p:sp>
      <p:sp>
        <p:nvSpPr>
          <p:cNvPr id="6" name="Text 4"/>
          <p:cNvSpPr/>
          <p:nvPr/>
        </p:nvSpPr>
        <p:spPr>
          <a:xfrm>
            <a:off x="777240" y="2148840"/>
            <a:ext cx="5577840" cy="1737360"/>
          </a:xfrm>
          <a:prstGeom prst="rect">
            <a:avLst/>
          </a:prstGeom>
          <a:noFill/>
          <a:ln/>
        </p:spPr>
        <p:txBody>
          <a:bodyPr wrap="square" lIns="0" tIns="0" rIns="0" bIns="0" rtlCol="0" anchor="ctr"/>
          <a:lstStyle/>
          <a:p>
            <a:pPr indent="0" marL="0">
              <a:lnSpc>
                <a:spcPts val="4600"/>
              </a:lnSpc>
              <a:buNone/>
            </a:pPr>
            <a:r>
              <a:rPr lang="en-US" sz="4000" b="1" dirty="0">
                <a:solidFill>
                  <a:srgbClr val="1A1C2E"/>
                </a:solidFill>
                <a:latin typeface="Arial" pitchFamily="34" charset="0"/>
                <a:ea typeface="Arial" pitchFamily="34" charset="-122"/>
                <a:cs typeface="Arial" pitchFamily="34" charset="-120"/>
              </a:rPr>
              <a:t>Intelligent Automotive
</a:t>
            </a:r>
            <a:pPr indent="0" marL="0">
              <a:lnSpc>
                <a:spcPts val="4600"/>
              </a:lnSpc>
              <a:buNone/>
            </a:pPr>
            <a:r>
              <a:rPr lang="en-US" sz="4000" b="1" dirty="0">
                <a:solidFill>
                  <a:srgbClr val="202CFC"/>
                </a:solidFill>
                <a:latin typeface="Arial" pitchFamily="34" charset="0"/>
                <a:ea typeface="Arial" pitchFamily="34" charset="-122"/>
                <a:cs typeface="Arial" pitchFamily="34" charset="-120"/>
              </a:rPr>
              <a:t>Diagnostics</a:t>
            </a:r>
            <a:endParaRPr lang="en-US" sz="4000" dirty="0"/>
          </a:p>
        </p:txBody>
      </p:sp>
      <p:sp>
        <p:nvSpPr>
          <p:cNvPr id="7" name="Text 5"/>
          <p:cNvSpPr/>
          <p:nvPr/>
        </p:nvSpPr>
        <p:spPr>
          <a:xfrm>
            <a:off x="777240" y="3977640"/>
            <a:ext cx="5394960" cy="731520"/>
          </a:xfrm>
          <a:prstGeom prst="rect">
            <a:avLst/>
          </a:prstGeom>
          <a:noFill/>
          <a:ln/>
        </p:spPr>
        <p:txBody>
          <a:bodyPr wrap="square" lIns="0" tIns="0" rIns="0" bIns="0" rtlCol="0" anchor="ctr"/>
          <a:lstStyle/>
          <a:p>
            <a:pPr indent="0" marL="0">
              <a:lnSpc>
                <a:spcPts val="2200"/>
              </a:lnSpc>
              <a:buNone/>
            </a:pPr>
            <a:r>
              <a:rPr lang="en-US" sz="1600" dirty="0">
                <a:solidFill>
                  <a:srgbClr val="5A5F73"/>
                </a:solidFill>
                <a:latin typeface="Calibri" pitchFamily="34" charset="0"/>
                <a:ea typeface="Calibri" pitchFamily="34" charset="-122"/>
                <a:cs typeface="Calibri" pitchFamily="34" charset="-120"/>
              </a:rPr>
              <a:t>Diagnóstico OBD-II asistido por IA agéntica sobre el protocolo MCP</a:t>
            </a:r>
            <a:endParaRPr lang="en-US" sz="1600" dirty="0"/>
          </a:p>
        </p:txBody>
      </p:sp>
      <p:sp>
        <p:nvSpPr>
          <p:cNvPr id="8" name="Text 6"/>
          <p:cNvSpPr/>
          <p:nvPr/>
        </p:nvSpPr>
        <p:spPr>
          <a:xfrm>
            <a:off x="777240" y="5349240"/>
            <a:ext cx="5486400" cy="320040"/>
          </a:xfrm>
          <a:prstGeom prst="rect">
            <a:avLst/>
          </a:prstGeom>
          <a:noFill/>
          <a:ln/>
        </p:spPr>
        <p:txBody>
          <a:bodyPr wrap="square" lIns="0" tIns="0" rIns="0" bIns="0" rtlCol="0" anchor="ctr"/>
          <a:lstStyle/>
          <a:p>
            <a:pPr indent="0" marL="0">
              <a:buNone/>
            </a:pPr>
            <a:r>
              <a:rPr lang="en-US" sz="1500" b="1" dirty="0">
                <a:solidFill>
                  <a:srgbClr val="1A1C2E"/>
                </a:solidFill>
                <a:latin typeface="Arial" pitchFamily="34" charset="0"/>
                <a:ea typeface="Arial" pitchFamily="34" charset="-122"/>
                <a:cs typeface="Arial" pitchFamily="34" charset="-120"/>
              </a:rPr>
              <a:t>Jesús Ángel Novillo Lucas-Vaquero</a:t>
            </a:r>
            <a:endParaRPr lang="en-US" sz="1500" dirty="0"/>
          </a:p>
        </p:txBody>
      </p:sp>
      <p:sp>
        <p:nvSpPr>
          <p:cNvPr id="9" name="Text 7"/>
          <p:cNvSpPr/>
          <p:nvPr/>
        </p:nvSpPr>
        <p:spPr>
          <a:xfrm>
            <a:off x="777240" y="5687568"/>
            <a:ext cx="5486400" cy="32004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Trabajo Fin de Máster  ·  Máster en Desarrollo con IA  ·  BIG school</a:t>
            </a:r>
            <a:endParaRPr lang="en-US" sz="1200" dirty="0"/>
          </a:p>
        </p:txBody>
      </p:sp>
      <p:sp>
        <p:nvSpPr>
          <p:cNvPr id="10" name="Text 8"/>
          <p:cNvSpPr/>
          <p:nvPr/>
        </p:nvSpPr>
        <p:spPr>
          <a:xfrm>
            <a:off x="7114032" y="2148840"/>
            <a:ext cx="4663440" cy="274320"/>
          </a:xfrm>
          <a:prstGeom prst="rect">
            <a:avLst/>
          </a:prstGeom>
          <a:noFill/>
          <a:ln/>
        </p:spPr>
        <p:txBody>
          <a:bodyPr wrap="square" lIns="0" tIns="0" rIns="0" bIns="0" rtlCol="0" anchor="ctr"/>
          <a:lstStyle/>
          <a:p>
            <a:pPr indent="0" marL="0">
              <a:buNone/>
            </a:pPr>
            <a:r>
              <a:rPr lang="en-US" sz="1000" b="1" spc="200" kern="0" dirty="0">
                <a:solidFill>
                  <a:srgbClr val="FFFFFF"/>
                </a:solidFill>
                <a:latin typeface="Calibri" pitchFamily="34" charset="0"/>
                <a:ea typeface="Calibri" pitchFamily="34" charset="-122"/>
                <a:cs typeface="Calibri" pitchFamily="34" charset="-120"/>
              </a:rPr>
              <a:t>LA HERRAMIENTA, EN FUNCIONAMIENTO</a:t>
            </a:r>
            <a:endParaRPr lang="en-US" sz="1000" dirty="0"/>
          </a:p>
        </p:txBody>
      </p:sp>
      <p:pic>
        <p:nvPicPr>
          <p:cNvPr id="11" name="Image 0" descr="/home/user/intelligent-automotive-diagnostics/docs/presentacion/capturas/recortes/03-codigos-dtc.png">    </p:cNvPr>
          <p:cNvPicPr>
            <a:picLocks noChangeAspect="1"/>
          </p:cNvPicPr>
          <p:nvPr/>
        </p:nvPicPr>
        <p:blipFill>
          <a:blip r:embed="rId1"/>
          <a:stretch>
            <a:fillRect/>
          </a:stretch>
        </p:blipFill>
        <p:spPr>
          <a:xfrm>
            <a:off x="7114032" y="2697480"/>
            <a:ext cx="4654296" cy="1453896"/>
          </a:xfrm>
          <a:prstGeom prst="rect">
            <a:avLst/>
          </a:prstGeom>
          <a:effectLst>
            <a:outerShdw sx="100000" sy="100000" kx="0" ky="0" algn="bl" rotWithShape="0" blurRad="254000" dist="63500" dir="8100000">
              <a:srgbClr val="000000">
                <a:alpha val="50000"/>
              </a:srgbClr>
            </a:outerShdw>
          </a:effectLst>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85800"/>
            <a:ext cx="10607040" cy="82296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Lo que te da la máquina</a:t>
            </a:r>
            <a:endParaRPr lang="en-US" sz="3400" dirty="0"/>
          </a:p>
        </p:txBody>
      </p:sp>
      <p:sp>
        <p:nvSpPr>
          <p:cNvPr id="3" name="Text 1"/>
          <p:cNvSpPr/>
          <p:nvPr/>
        </p:nvSpPr>
        <p:spPr>
          <a:xfrm>
            <a:off x="777240" y="201168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Te da</a:t>
            </a:r>
            <a:endParaRPr lang="en-US" sz="2000" dirty="0"/>
          </a:p>
        </p:txBody>
      </p:sp>
      <p:sp>
        <p:nvSpPr>
          <p:cNvPr id="4" name="Text 2"/>
          <p:cNvSpPr/>
          <p:nvPr/>
        </p:nvSpPr>
        <p:spPr>
          <a:xfrm>
            <a:off x="777240" y="2606040"/>
            <a:ext cx="4846320" cy="2377440"/>
          </a:xfrm>
          <a:prstGeom prst="rect">
            <a:avLst/>
          </a:prstGeom>
          <a:noFill/>
          <a:ln/>
        </p:spPr>
        <p:txBody>
          <a:bodyPr wrap="square" lIns="0" tIns="0" rIns="0" bIns="0" rtlCol="0" anchor="t"/>
          <a:lstStyle/>
          <a:p>
            <a:pPr marL="342900" indent="-342900">
              <a:lnSpc>
                <a:spcPts val="2200"/>
              </a:lnSpc>
              <a:spcAft>
                <a:spcPts val="1000"/>
              </a:spcAft>
              <a:buSzPct val="100000"/>
              <a:buChar char="•"/>
            </a:pPr>
            <a:r>
              <a:rPr lang="en-US" sz="1600" dirty="0">
                <a:solidFill>
                  <a:srgbClr val="1A1C2E"/>
                </a:solidFill>
                <a:latin typeface="Calibri" pitchFamily="34" charset="0"/>
                <a:ea typeface="Calibri" pitchFamily="34" charset="-122"/>
                <a:cs typeface="Calibri" pitchFamily="34" charset="-120"/>
              </a:rPr>
              <a:t>P0301   Fallo de encendido en el cilindro 1</a:t>
            </a:r>
            <a:endParaRPr lang="en-US" sz="1600" dirty="0"/>
          </a:p>
          <a:p>
            <a:pPr marL="342900" indent="-342900">
              <a:lnSpc>
                <a:spcPts val="2200"/>
              </a:lnSpc>
              <a:spcAft>
                <a:spcPts val="1000"/>
              </a:spcAft>
              <a:buSzPct val="100000"/>
              <a:buChar char="•"/>
            </a:pPr>
            <a:r>
              <a:rPr lang="en-US" sz="1600" dirty="0">
                <a:solidFill>
                  <a:srgbClr val="1A1C2E"/>
                </a:solidFill>
                <a:latin typeface="Calibri" pitchFamily="34" charset="0"/>
                <a:ea typeface="Calibri" pitchFamily="34" charset="-122"/>
                <a:cs typeface="Calibri" pitchFamily="34" charset="-120"/>
              </a:rPr>
              <a:t>P0401   Válvula EGR obstruida</a:t>
            </a:r>
            <a:endParaRPr lang="en-US" sz="1600" dirty="0"/>
          </a:p>
          <a:p>
            <a:pPr marL="342900" indent="-342900">
              <a:lnSpc>
                <a:spcPts val="2200"/>
              </a:lnSpc>
              <a:spcAft>
                <a:spcPts val="1000"/>
              </a:spcAft>
              <a:buSzPct val="100000"/>
              <a:buChar char="•"/>
            </a:pPr>
            <a:r>
              <a:rPr lang="en-US" sz="1600" dirty="0">
                <a:solidFill>
                  <a:srgbClr val="1A1C2E"/>
                </a:solidFill>
                <a:latin typeface="Calibri" pitchFamily="34" charset="0"/>
                <a:ea typeface="Calibri" pitchFamily="34" charset="-122"/>
                <a:cs typeface="Calibri" pitchFamily="34" charset="-120"/>
              </a:rPr>
              <a:t>P2002   Filtro de partículas lleno</a:t>
            </a:r>
            <a:endParaRPr lang="en-US" sz="1600" dirty="0"/>
          </a:p>
          <a:p>
            <a:pPr marL="342900" indent="-342900">
              <a:lnSpc>
                <a:spcPts val="2200"/>
              </a:lnSpc>
              <a:spcAft>
                <a:spcPts val="1000"/>
              </a:spcAft>
              <a:buSzPct val="100000"/>
              <a:buChar char="•"/>
            </a:pPr>
            <a:r>
              <a:rPr lang="en-US" sz="1600" dirty="0">
                <a:solidFill>
                  <a:srgbClr val="1A1C2E"/>
                </a:solidFill>
                <a:latin typeface="Calibri" pitchFamily="34" charset="0"/>
                <a:ea typeface="Calibri" pitchFamily="34" charset="-122"/>
                <a:cs typeface="Calibri" pitchFamily="34" charset="-120"/>
              </a:rPr>
              <a:t>Y así hasta diez</a:t>
            </a:r>
            <a:endParaRPr lang="en-US" sz="1600" dirty="0"/>
          </a:p>
        </p:txBody>
      </p:sp>
      <p:sp>
        <p:nvSpPr>
          <p:cNvPr id="5" name="Text 3"/>
          <p:cNvSpPr/>
          <p:nvPr/>
        </p:nvSpPr>
        <p:spPr>
          <a:xfrm>
            <a:off x="6537960" y="201168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No te da</a:t>
            </a:r>
            <a:endParaRPr lang="en-US" sz="2000" dirty="0"/>
          </a:p>
        </p:txBody>
      </p:sp>
      <p:sp>
        <p:nvSpPr>
          <p:cNvPr id="6" name="Text 4"/>
          <p:cNvSpPr/>
          <p:nvPr/>
        </p:nvSpPr>
        <p:spPr>
          <a:xfrm>
            <a:off x="6537960" y="2606040"/>
            <a:ext cx="4846320" cy="2377440"/>
          </a:xfrm>
          <a:prstGeom prst="rect">
            <a:avLst/>
          </a:prstGeom>
          <a:noFill/>
          <a:ln/>
        </p:spPr>
        <p:txBody>
          <a:bodyPr wrap="square" lIns="0" tIns="0" rIns="0" bIns="0" rtlCol="0" anchor="t"/>
          <a:lstStyle/>
          <a:p>
            <a:pPr marL="342900" indent="-342900">
              <a:lnSpc>
                <a:spcPts val="2200"/>
              </a:lnSpc>
              <a:spcAft>
                <a:spcPts val="1000"/>
              </a:spcAft>
              <a:buSzPct val="100000"/>
              <a:buChar char="•"/>
            </a:pPr>
            <a:r>
              <a:rPr lang="en-US" sz="1600" dirty="0">
                <a:solidFill>
                  <a:srgbClr val="1A1C2E"/>
                </a:solidFill>
                <a:latin typeface="Calibri" pitchFamily="34" charset="0"/>
                <a:ea typeface="Calibri" pitchFamily="34" charset="-122"/>
                <a:cs typeface="Calibri" pitchFamily="34" charset="-120"/>
              </a:rPr>
              <a:t>Por qué se ha obstruido la válvula</a:t>
            </a:r>
            <a:endParaRPr lang="en-US" sz="1600" dirty="0"/>
          </a:p>
          <a:p>
            <a:pPr marL="342900" indent="-342900">
              <a:lnSpc>
                <a:spcPts val="2200"/>
              </a:lnSpc>
              <a:spcAft>
                <a:spcPts val="1000"/>
              </a:spcAft>
              <a:buSzPct val="100000"/>
              <a:buChar char="•"/>
            </a:pPr>
            <a:r>
              <a:rPr lang="en-US" sz="1600" dirty="0">
                <a:solidFill>
                  <a:srgbClr val="1A1C2E"/>
                </a:solidFill>
                <a:latin typeface="Calibri" pitchFamily="34" charset="0"/>
                <a:ea typeface="Calibri" pitchFamily="34" charset="-122"/>
                <a:cs typeface="Calibri" pitchFamily="34" charset="-120"/>
              </a:rPr>
              <a:t>Por qué se ha llenado el filtro</a:t>
            </a:r>
            <a:endParaRPr lang="en-US" sz="1600" dirty="0"/>
          </a:p>
          <a:p>
            <a:pPr marL="342900" indent="-342900">
              <a:lnSpc>
                <a:spcPts val="2200"/>
              </a:lnSpc>
              <a:spcAft>
                <a:spcPts val="1000"/>
              </a:spcAft>
              <a:buSzPct val="100000"/>
              <a:buChar char="•"/>
            </a:pPr>
            <a:r>
              <a:rPr lang="en-US" sz="1600" dirty="0">
                <a:solidFill>
                  <a:srgbClr val="1A1C2E"/>
                </a:solidFill>
                <a:latin typeface="Calibri" pitchFamily="34" charset="0"/>
                <a:ea typeface="Calibri" pitchFamily="34" charset="-122"/>
                <a:cs typeface="Calibri" pitchFamily="34" charset="-120"/>
              </a:rPr>
              <a:t>Qué tiene que ver un código con otro</a:t>
            </a:r>
            <a:endParaRPr lang="en-US" sz="1600" dirty="0"/>
          </a:p>
          <a:p>
            <a:pPr marL="342900" indent="-342900">
              <a:lnSpc>
                <a:spcPts val="2200"/>
              </a:lnSpc>
              <a:spcAft>
                <a:spcPts val="1000"/>
              </a:spcAft>
              <a:buSzPct val="100000"/>
              <a:buChar char="•"/>
            </a:pPr>
            <a:r>
              <a:rPr lang="en-US" sz="1600" dirty="0">
                <a:solidFill>
                  <a:srgbClr val="1A1C2E"/>
                </a:solidFill>
                <a:latin typeface="Calibri" pitchFamily="34" charset="0"/>
                <a:ea typeface="Calibri" pitchFamily="34" charset="-122"/>
                <a:cs typeface="Calibri" pitchFamily="34" charset="-120"/>
              </a:rPr>
              <a:t>Por dónde empezar a mirar</a:t>
            </a:r>
            <a:endParaRPr lang="en-US" sz="1600" dirty="0"/>
          </a:p>
        </p:txBody>
      </p:sp>
      <p:sp>
        <p:nvSpPr>
          <p:cNvPr id="7" name="Shape 5"/>
          <p:cNvSpPr/>
          <p:nvPr/>
        </p:nvSpPr>
        <p:spPr>
          <a:xfrm>
            <a:off x="777240" y="6263640"/>
            <a:ext cx="219456" cy="219456"/>
          </a:xfrm>
          <a:prstGeom prst="rect">
            <a:avLst/>
          </a:prstGeom>
          <a:solidFill>
            <a:srgbClr val="202CFC"/>
          </a:solidFill>
          <a:ln/>
        </p:spPr>
      </p:sp>
      <p:sp>
        <p:nvSpPr>
          <p:cNvPr id="8" name="Text 6"/>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9" name="Text 7"/>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0" name="Text 8"/>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85800"/>
            <a:ext cx="10607040" cy="82296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Lo que hace la aplicación</a:t>
            </a:r>
            <a:endParaRPr lang="en-US" sz="3400" dirty="0"/>
          </a:p>
        </p:txBody>
      </p:sp>
      <p:sp>
        <p:nvSpPr>
          <p:cNvPr id="3" name="Text 1"/>
          <p:cNvSpPr/>
          <p:nvPr/>
        </p:nvSpPr>
        <p:spPr>
          <a:xfrm>
            <a:off x="777240" y="160020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Con esos mismos códigos y los datos del coche.</a:t>
            </a:r>
            <a:endParaRPr lang="en-US" sz="1700" dirty="0"/>
          </a:p>
        </p:txBody>
      </p:sp>
      <p:sp>
        <p:nvSpPr>
          <p:cNvPr id="4" name="Text 2"/>
          <p:cNvSpPr/>
          <p:nvPr/>
        </p:nvSpPr>
        <p:spPr>
          <a:xfrm>
            <a:off x="777240" y="2606040"/>
            <a:ext cx="10058400" cy="2377440"/>
          </a:xfrm>
          <a:prstGeom prst="rect">
            <a:avLst/>
          </a:prstGeom>
          <a:noFill/>
          <a:ln/>
        </p:spPr>
        <p:txBody>
          <a:bodyPr wrap="square" lIns="0" tIns="0" rIns="0" bIns="0" rtlCol="0" anchor="t"/>
          <a:lstStyle/>
          <a:p>
            <a:pPr marL="342900" indent="-342900">
              <a:lnSpc>
                <a:spcPts val="2800"/>
              </a:lnSpc>
              <a:spcAft>
                <a:spcPts val="2200"/>
              </a:spcAft>
              <a:buSzPct val="100000"/>
              <a:buChar char="•"/>
            </a:pPr>
            <a:r>
              <a:rPr lang="en-US" sz="2000" dirty="0">
                <a:solidFill>
                  <a:srgbClr val="1A1C2E"/>
                </a:solidFill>
                <a:latin typeface="Calibri" pitchFamily="34" charset="0"/>
                <a:ea typeface="Calibri" pitchFamily="34" charset="-122"/>
                <a:cs typeface="Calibri" pitchFamily="34" charset="-120"/>
              </a:rPr>
              <a:t>Investiga por qué puede estar pasando eso</a:t>
            </a:r>
            <a:endParaRPr lang="en-US" sz="2000" dirty="0"/>
          </a:p>
          <a:p>
            <a:pPr marL="342900" indent="-342900">
              <a:lnSpc>
                <a:spcPts val="2800"/>
              </a:lnSpc>
              <a:spcAft>
                <a:spcPts val="2200"/>
              </a:spcAft>
              <a:buSzPct val="100000"/>
              <a:buChar char="•"/>
            </a:pPr>
            <a:r>
              <a:rPr lang="en-US" sz="2000" dirty="0">
                <a:solidFill>
                  <a:srgbClr val="1A1C2E"/>
                </a:solidFill>
                <a:latin typeface="Calibri" pitchFamily="34" charset="0"/>
                <a:ea typeface="Calibri" pitchFamily="34" charset="-122"/>
                <a:cs typeface="Calibri" pitchFamily="34" charset="-120"/>
              </a:rPr>
              <a:t>Le da al mecánico una serie de opciones, no una sola causa</a:t>
            </a:r>
            <a:endParaRPr lang="en-US" sz="2000" dirty="0"/>
          </a:p>
          <a:p>
            <a:pPr marL="342900" indent="-342900">
              <a:lnSpc>
                <a:spcPts val="2800"/>
              </a:lnSpc>
              <a:spcAft>
                <a:spcPts val="2200"/>
              </a:spcAft>
              <a:buSzPct val="100000"/>
              <a:buChar char="•"/>
            </a:pPr>
            <a:r>
              <a:rPr lang="en-US" sz="2000" dirty="0">
                <a:solidFill>
                  <a:srgbClr val="1A1C2E"/>
                </a:solidFill>
                <a:latin typeface="Calibri" pitchFamily="34" charset="0"/>
                <a:ea typeface="Calibri" pitchFamily="34" charset="-122"/>
                <a:cs typeface="Calibri" pitchFamily="34" charset="-120"/>
              </a:rPr>
              <a:t>Y los pasos a seguir para determinar de dónde viene el problema</a:t>
            </a:r>
            <a:endParaRPr lang="en-US" sz="2000" dirty="0"/>
          </a:p>
        </p:txBody>
      </p:sp>
      <p:sp>
        <p:nvSpPr>
          <p:cNvPr id="5" name="Shape 3"/>
          <p:cNvSpPr/>
          <p:nvPr/>
        </p:nvSpPr>
        <p:spPr>
          <a:xfrm>
            <a:off x="777240" y="6263640"/>
            <a:ext cx="219456" cy="219456"/>
          </a:xfrm>
          <a:prstGeom prst="rect">
            <a:avLst/>
          </a:prstGeom>
          <a:solidFill>
            <a:srgbClr val="202CFC"/>
          </a:solidFill>
          <a:ln/>
        </p:spPr>
      </p:sp>
      <p:sp>
        <p:nvSpPr>
          <p:cNvPr id="6" name="Text 4"/>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7" name="Text 5"/>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8" name="Text 6"/>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Por qué esta arquitectura y no otra</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Aquí el dominio son normas. Y las normas no las cambia nadie.</a:t>
            </a:r>
            <a:endParaRPr lang="en-US" sz="1700" dirty="0"/>
          </a:p>
        </p:txBody>
      </p:sp>
      <p:sp>
        <p:nvSpPr>
          <p:cNvPr id="4" name="Text 2"/>
          <p:cNvSpPr/>
          <p:nvPr/>
        </p:nvSpPr>
        <p:spPr>
          <a:xfrm>
            <a:off x="777240" y="214884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Por qué Clean + Hexagonal</a:t>
            </a:r>
            <a:endParaRPr lang="en-US" sz="1900" dirty="0"/>
          </a:p>
        </p:txBody>
      </p:sp>
      <p:sp>
        <p:nvSpPr>
          <p:cNvPr id="5" name="Text 3"/>
          <p:cNvSpPr/>
          <p:nvPr/>
        </p:nvSpPr>
        <p:spPr>
          <a:xfrm>
            <a:off x="777240" y="2697480"/>
            <a:ext cx="4846320" cy="1828800"/>
          </a:xfrm>
          <a:prstGeom prst="rect">
            <a:avLst/>
          </a:prstGeom>
          <a:noFill/>
          <a:ln/>
        </p:spPr>
        <p:txBody>
          <a:bodyPr wrap="square" lIns="0" tIns="0" rIns="0" bIns="0" rtlCol="0" anchor="t"/>
          <a:lstStyle/>
          <a:p>
            <a:pPr marL="342900" indent="-342900">
              <a:lnSpc>
                <a:spcPts val="2100"/>
              </a:lnSpc>
              <a:spcAft>
                <a:spcPts val="1000"/>
              </a:spcAft>
              <a:buSzPct val="100000"/>
              <a:buChar char="•"/>
            </a:pPr>
            <a:r>
              <a:rPr lang="en-US" sz="1500" dirty="0">
                <a:solidFill>
                  <a:srgbClr val="1A1C2E"/>
                </a:solidFill>
                <a:latin typeface="Calibri" pitchFamily="34" charset="0"/>
                <a:ea typeface="Calibri" pitchFamily="34" charset="-122"/>
                <a:cs typeface="Calibri" pitchFamily="34" charset="-120"/>
              </a:rPr>
              <a:t>El dominio son normas: SAE J1979, ISO 15031, ISO 3779</a:t>
            </a:r>
            <a:endParaRPr lang="en-US" sz="1500" dirty="0"/>
          </a:p>
          <a:p>
            <a:pPr marL="342900" indent="-342900">
              <a:lnSpc>
                <a:spcPts val="2100"/>
              </a:lnSpc>
              <a:spcAft>
                <a:spcPts val="1000"/>
              </a:spcAft>
              <a:buSzPct val="100000"/>
              <a:buChar char="•"/>
            </a:pPr>
            <a:r>
              <a:rPr lang="en-US" sz="1500" dirty="0">
                <a:solidFill>
                  <a:srgbClr val="1A1C2E"/>
                </a:solidFill>
                <a:latin typeface="Calibri" pitchFamily="34" charset="0"/>
                <a:ea typeface="Calibri" pitchFamily="34" charset="-122"/>
                <a:cs typeface="Calibri" pitchFamily="34" charset="-120"/>
              </a:rPr>
              <a:t>Las fórmulas de cada PID y la decodificación del VIN</a:t>
            </a:r>
            <a:endParaRPr lang="en-US" sz="1500" dirty="0"/>
          </a:p>
          <a:p>
            <a:pPr marL="342900" indent="-342900">
              <a:lnSpc>
                <a:spcPts val="2100"/>
              </a:lnSpc>
              <a:spcAft>
                <a:spcPts val="1000"/>
              </a:spcAft>
              <a:buSzPct val="100000"/>
              <a:buChar char="•"/>
            </a:pPr>
            <a:r>
              <a:rPr lang="en-US" sz="1500" dirty="0">
                <a:solidFill>
                  <a:srgbClr val="1A1C2E"/>
                </a:solidFill>
                <a:latin typeface="Calibri" pitchFamily="34" charset="0"/>
                <a:ea typeface="Calibri" pitchFamily="34" charset="-122"/>
                <a:cs typeface="Calibri" pitchFamily="34" charset="-120"/>
              </a:rPr>
              <a:t>Nada de eso se mezcla con la base de datos ni con el LLM</a:t>
            </a:r>
            <a:endParaRPr lang="en-US" sz="1500" dirty="0"/>
          </a:p>
        </p:txBody>
      </p:sp>
      <p:sp>
        <p:nvSpPr>
          <p:cNvPr id="6" name="Text 4"/>
          <p:cNvSpPr/>
          <p:nvPr/>
        </p:nvSpPr>
        <p:spPr>
          <a:xfrm>
            <a:off x="6537960" y="2148840"/>
            <a:ext cx="4846320" cy="365760"/>
          </a:xfrm>
          <a:prstGeom prst="rect">
            <a:avLst/>
          </a:prstGeom>
          <a:noFill/>
          <a:ln/>
        </p:spPr>
        <p:txBody>
          <a:bodyPr wrap="square" lIns="0" tIns="0" rIns="0" bIns="0" rtlCol="0" anchor="t"/>
          <a:lstStyle/>
          <a:p>
            <a:pPr indent="0" marL="0">
              <a:buNone/>
            </a:pPr>
            <a:r>
              <a:rPr lang="en-US" sz="1900" b="1" dirty="0">
                <a:solidFill>
                  <a:srgbClr val="5A5F73"/>
                </a:solidFill>
                <a:latin typeface="Arial" pitchFamily="34" charset="0"/>
                <a:ea typeface="Arial" pitchFamily="34" charset="-122"/>
                <a:cs typeface="Arial" pitchFamily="34" charset="-120"/>
              </a:rPr>
              <a:t>Por qué no orientada a eventos</a:t>
            </a:r>
            <a:endParaRPr lang="en-US" sz="1900" dirty="0"/>
          </a:p>
        </p:txBody>
      </p:sp>
      <p:sp>
        <p:nvSpPr>
          <p:cNvPr id="7" name="Text 5"/>
          <p:cNvSpPr/>
          <p:nvPr/>
        </p:nvSpPr>
        <p:spPr>
          <a:xfrm>
            <a:off x="6537960" y="2697480"/>
            <a:ext cx="4846320" cy="1828800"/>
          </a:xfrm>
          <a:prstGeom prst="rect">
            <a:avLst/>
          </a:prstGeom>
          <a:noFill/>
          <a:ln/>
        </p:spPr>
        <p:txBody>
          <a:bodyPr wrap="square" lIns="0" tIns="0" rIns="0" bIns="0" rtlCol="0" anchor="t"/>
          <a:lstStyle/>
          <a:p>
            <a:pPr marL="342900" indent="-342900">
              <a:lnSpc>
                <a:spcPts val="2100"/>
              </a:lnSpc>
              <a:spcAft>
                <a:spcPts val="1000"/>
              </a:spcAft>
              <a:buSzPct val="100000"/>
              <a:buChar char="•"/>
            </a:pPr>
            <a:r>
              <a:rPr lang="en-US" sz="1500" dirty="0">
                <a:solidFill>
                  <a:srgbClr val="1A1C2E"/>
                </a:solidFill>
                <a:latin typeface="Calibri" pitchFamily="34" charset="0"/>
                <a:ea typeface="Calibri" pitchFamily="34" charset="-122"/>
                <a:cs typeface="Calibri" pitchFamily="34" charset="-120"/>
              </a:rPr>
              <a:t>Es un proceso: no hay servicios que desacoplar</a:t>
            </a:r>
            <a:endParaRPr lang="en-US" sz="1500" dirty="0"/>
          </a:p>
          <a:p>
            <a:pPr marL="342900" indent="-342900">
              <a:lnSpc>
                <a:spcPts val="2100"/>
              </a:lnSpc>
              <a:spcAft>
                <a:spcPts val="1000"/>
              </a:spcAft>
              <a:buSzPct val="100000"/>
              <a:buChar char="•"/>
            </a:pPr>
            <a:r>
              <a:rPr lang="en-US" sz="1500" dirty="0">
                <a:solidFill>
                  <a:srgbClr val="1A1C2E"/>
                </a:solidFill>
                <a:latin typeface="Calibri" pitchFamily="34" charset="0"/>
                <a:ea typeface="Calibri" pitchFamily="34" charset="-122"/>
                <a:cs typeface="Calibri" pitchFamily="34" charset="-120"/>
              </a:rPr>
              <a:t>El mecánico pregunta y espera: el flujo es síncrono</a:t>
            </a:r>
            <a:endParaRPr lang="en-US" sz="1500" dirty="0"/>
          </a:p>
          <a:p>
            <a:pPr marL="342900" indent="-342900">
              <a:lnSpc>
                <a:spcPts val="2100"/>
              </a:lnSpc>
              <a:spcAft>
                <a:spcPts val="1000"/>
              </a:spcAft>
              <a:buSzPct val="100000"/>
              <a:buChar char="•"/>
            </a:pPr>
            <a:r>
              <a:rPr lang="en-US" sz="1500" dirty="0">
                <a:solidFill>
                  <a:srgbClr val="1A1C2E"/>
                </a:solidFill>
                <a:latin typeface="Calibri" pitchFamily="34" charset="0"/>
                <a:ea typeface="Calibri" pitchFamily="34" charset="-122"/>
                <a:cs typeface="Calibri" pitchFamily="34" charset="-120"/>
              </a:rPr>
              <a:t>Un solo programador: más piezas es más sitio donde romper</a:t>
            </a:r>
            <a:endParaRPr lang="en-US" sz="1500" dirty="0"/>
          </a:p>
        </p:txBody>
      </p:sp>
      <p:sp>
        <p:nvSpPr>
          <p:cNvPr id="8" name="Text 6"/>
          <p:cNvSpPr/>
          <p:nvPr/>
        </p:nvSpPr>
        <p:spPr>
          <a:xfrm>
            <a:off x="777240" y="4709160"/>
            <a:ext cx="10607040" cy="292608"/>
          </a:xfrm>
          <a:prstGeom prst="rect">
            <a:avLst/>
          </a:prstGeom>
          <a:noFill/>
          <a:ln/>
        </p:spPr>
        <p:txBody>
          <a:bodyPr wrap="square" lIns="0" tIns="0" rIns="0" bIns="0" rtlCol="0" anchor="t"/>
          <a:lstStyle/>
          <a:p>
            <a:pPr indent="0" marL="0">
              <a:buNone/>
            </a:pPr>
            <a:r>
              <a:rPr lang="en-US" sz="1500" b="1" dirty="0">
                <a:solidFill>
                  <a:srgbClr val="1A1C2E"/>
                </a:solidFill>
                <a:latin typeface="Arial" pitchFamily="34" charset="0"/>
                <a:ea typeface="Arial" pitchFamily="34" charset="-122"/>
                <a:cs typeface="Arial" pitchFamily="34" charset="-120"/>
              </a:rPr>
              <a:t>En este proyecto</a:t>
            </a:r>
            <a:endParaRPr lang="en-US" sz="1500" dirty="0"/>
          </a:p>
        </p:txBody>
      </p:sp>
      <p:sp>
        <p:nvSpPr>
          <p:cNvPr id="9" name="Text 7"/>
          <p:cNvSpPr/>
          <p:nvPr/>
        </p:nvSpPr>
        <p:spPr>
          <a:xfrm>
            <a:off x="777240" y="5120640"/>
            <a:ext cx="1737360" cy="310896"/>
          </a:xfrm>
          <a:prstGeom prst="rect">
            <a:avLst/>
          </a:prstGeom>
          <a:noFill/>
          <a:ln/>
        </p:spPr>
        <p:txBody>
          <a:bodyPr wrap="square" lIns="0" tIns="0" rIns="0" bIns="0" rtlCol="0" anchor="ctr"/>
          <a:lstStyle/>
          <a:p>
            <a:pPr indent="0" marL="0">
              <a:buNone/>
            </a:pPr>
            <a:r>
              <a:rPr lang="en-US" sz="1400" b="1" dirty="0">
                <a:solidFill>
                  <a:srgbClr val="202CFC"/>
                </a:solidFill>
                <a:latin typeface="Calibri" pitchFamily="34" charset="0"/>
                <a:ea typeface="Calibri" pitchFamily="34" charset="-122"/>
                <a:cs typeface="Calibri" pitchFamily="34" charset="-120"/>
              </a:rPr>
              <a:t>Dominio</a:t>
            </a:r>
            <a:endParaRPr lang="en-US" sz="1400" dirty="0"/>
          </a:p>
        </p:txBody>
      </p:sp>
      <p:sp>
        <p:nvSpPr>
          <p:cNvPr id="10" name="Text 8"/>
          <p:cNvSpPr/>
          <p:nvPr/>
        </p:nvSpPr>
        <p:spPr>
          <a:xfrm>
            <a:off x="2560320" y="5120640"/>
            <a:ext cx="8778240" cy="310896"/>
          </a:xfrm>
          <a:prstGeom prst="rect">
            <a:avLst/>
          </a:prstGeom>
          <a:noFill/>
          <a:ln/>
        </p:spPr>
        <p:txBody>
          <a:bodyPr wrap="square" lIns="0" tIns="0" rIns="0" bIns="0" rtlCol="0" anchor="ctr"/>
          <a:lstStyle/>
          <a:p>
            <a:pPr indent="0" marL="0">
              <a:buNone/>
            </a:pPr>
            <a:r>
              <a:rPr lang="en-US" sz="1400" dirty="0">
                <a:solidFill>
                  <a:srgbClr val="5A5F73"/>
                </a:solidFill>
                <a:latin typeface="Calibri" pitchFamily="34" charset="0"/>
                <a:ea typeface="Calibri" pitchFamily="34" charset="-122"/>
                <a:cs typeface="Calibri" pitchFamily="34" charset="-120"/>
              </a:rPr>
              <a:t>Vin, DtcCode, PidCode, Formula, catálogos de PID y DTC</a:t>
            </a:r>
            <a:endParaRPr lang="en-US" sz="1400" dirty="0"/>
          </a:p>
        </p:txBody>
      </p:sp>
      <p:sp>
        <p:nvSpPr>
          <p:cNvPr id="11" name="Text 9"/>
          <p:cNvSpPr/>
          <p:nvPr/>
        </p:nvSpPr>
        <p:spPr>
          <a:xfrm>
            <a:off x="777240" y="5486400"/>
            <a:ext cx="1737360" cy="310896"/>
          </a:xfrm>
          <a:prstGeom prst="rect">
            <a:avLst/>
          </a:prstGeom>
          <a:noFill/>
          <a:ln/>
        </p:spPr>
        <p:txBody>
          <a:bodyPr wrap="square" lIns="0" tIns="0" rIns="0" bIns="0" rtlCol="0" anchor="ctr"/>
          <a:lstStyle/>
          <a:p>
            <a:pPr indent="0" marL="0">
              <a:buNone/>
            </a:pPr>
            <a:r>
              <a:rPr lang="en-US" sz="1400" b="1" dirty="0">
                <a:solidFill>
                  <a:srgbClr val="202CFC"/>
                </a:solidFill>
                <a:latin typeface="Calibri" pitchFamily="34" charset="0"/>
                <a:ea typeface="Calibri" pitchFamily="34" charset="-122"/>
                <a:cs typeface="Calibri" pitchFamily="34" charset="-120"/>
              </a:rPr>
              <a:t>Aplicación</a:t>
            </a:r>
            <a:endParaRPr lang="en-US" sz="1400" dirty="0"/>
          </a:p>
        </p:txBody>
      </p:sp>
      <p:sp>
        <p:nvSpPr>
          <p:cNvPr id="12" name="Text 10"/>
          <p:cNvSpPr/>
          <p:nvPr/>
        </p:nvSpPr>
        <p:spPr>
          <a:xfrm>
            <a:off x="2560320" y="5486400"/>
            <a:ext cx="8778240" cy="310896"/>
          </a:xfrm>
          <a:prstGeom prst="rect">
            <a:avLst/>
          </a:prstGeom>
          <a:noFill/>
          <a:ln/>
        </p:spPr>
        <p:txBody>
          <a:bodyPr wrap="square" lIns="0" tIns="0" rIns="0" bIns="0" rtlCol="0" anchor="ctr"/>
          <a:lstStyle/>
          <a:p>
            <a:pPr indent="0" marL="0">
              <a:buNone/>
            </a:pPr>
            <a:r>
              <a:rPr lang="en-US" sz="1400" dirty="0">
                <a:solidFill>
                  <a:srgbClr val="5A5F73"/>
                </a:solidFill>
                <a:latin typeface="Calibri" pitchFamily="34" charset="0"/>
                <a:ea typeface="Calibri" pitchFamily="34" charset="-122"/>
                <a:cs typeface="Calibri" pitchFamily="34" charset="-120"/>
              </a:rPr>
              <a:t>IdentifyVehicle, ExecuteCognitiveDiagnosis, ObdRepository, LlmClientPort</a:t>
            </a:r>
            <a:endParaRPr lang="en-US" sz="1400" dirty="0"/>
          </a:p>
        </p:txBody>
      </p:sp>
      <p:sp>
        <p:nvSpPr>
          <p:cNvPr id="13" name="Text 11"/>
          <p:cNvSpPr/>
          <p:nvPr/>
        </p:nvSpPr>
        <p:spPr>
          <a:xfrm>
            <a:off x="777240" y="5852160"/>
            <a:ext cx="1737360" cy="310896"/>
          </a:xfrm>
          <a:prstGeom prst="rect">
            <a:avLst/>
          </a:prstGeom>
          <a:noFill/>
          <a:ln/>
        </p:spPr>
        <p:txBody>
          <a:bodyPr wrap="square" lIns="0" tIns="0" rIns="0" bIns="0" rtlCol="0" anchor="ctr"/>
          <a:lstStyle/>
          <a:p>
            <a:pPr indent="0" marL="0">
              <a:buNone/>
            </a:pPr>
            <a:r>
              <a:rPr lang="en-US" sz="1400" b="1" dirty="0">
                <a:solidFill>
                  <a:srgbClr val="202CFC"/>
                </a:solidFill>
                <a:latin typeface="Calibri" pitchFamily="34" charset="0"/>
                <a:ea typeface="Calibri" pitchFamily="34" charset="-122"/>
                <a:cs typeface="Calibri" pitchFamily="34" charset="-120"/>
              </a:rPr>
              <a:t>Infraestructura</a:t>
            </a:r>
            <a:endParaRPr lang="en-US" sz="1400" dirty="0"/>
          </a:p>
        </p:txBody>
      </p:sp>
      <p:sp>
        <p:nvSpPr>
          <p:cNvPr id="14" name="Text 12"/>
          <p:cNvSpPr/>
          <p:nvPr/>
        </p:nvSpPr>
        <p:spPr>
          <a:xfrm>
            <a:off x="2560320" y="5852160"/>
            <a:ext cx="8778240" cy="310896"/>
          </a:xfrm>
          <a:prstGeom prst="rect">
            <a:avLst/>
          </a:prstGeom>
          <a:noFill/>
          <a:ln/>
        </p:spPr>
        <p:txBody>
          <a:bodyPr wrap="square" lIns="0" tIns="0" rIns="0" bIns="0" rtlCol="0" anchor="ctr"/>
          <a:lstStyle/>
          <a:p>
            <a:pPr indent="0" marL="0">
              <a:buNone/>
            </a:pPr>
            <a:r>
              <a:rPr lang="en-US" sz="1400" dirty="0">
                <a:solidFill>
                  <a:srgbClr val="5A5F73"/>
                </a:solidFill>
                <a:latin typeface="Calibri" pitchFamily="34" charset="0"/>
                <a:ea typeface="Calibri" pitchFamily="34" charset="-122"/>
                <a:cs typeface="Calibri" pitchFamily="34" charset="-120"/>
              </a:rPr>
              <a:t>Express, Drizzle + SQLite, LanceDB, servidor MCP, transporte ELM327</a:t>
            </a:r>
            <a:endParaRPr lang="en-US" sz="1400" dirty="0"/>
          </a:p>
        </p:txBody>
      </p:sp>
      <p:sp>
        <p:nvSpPr>
          <p:cNvPr id="15" name="Shape 13"/>
          <p:cNvSpPr/>
          <p:nvPr/>
        </p:nvSpPr>
        <p:spPr>
          <a:xfrm>
            <a:off x="777240" y="6263640"/>
            <a:ext cx="219456" cy="219456"/>
          </a:xfrm>
          <a:prstGeom prst="rect">
            <a:avLst/>
          </a:prstGeom>
          <a:solidFill>
            <a:srgbClr val="202CFC"/>
          </a:solidFill>
          <a:ln/>
        </p:spPr>
      </p:sp>
      <p:sp>
        <p:nvSpPr>
          <p:cNvPr id="16" name="Text 14"/>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7" name="Text 15"/>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8" name="Text 16"/>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Cómo se lee el coche</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Un ejemplo: pedirle las revoluciones del motor.</a:t>
            </a:r>
            <a:endParaRPr lang="en-US" sz="1700" dirty="0"/>
          </a:p>
        </p:txBody>
      </p:sp>
      <p:sp>
        <p:nvSpPr>
          <p:cNvPr id="4" name="Shape 2"/>
          <p:cNvSpPr/>
          <p:nvPr/>
        </p:nvSpPr>
        <p:spPr>
          <a:xfrm>
            <a:off x="777240" y="2331720"/>
            <a:ext cx="2194560" cy="1051560"/>
          </a:xfrm>
          <a:prstGeom prst="roundRect">
            <a:avLst>
              <a:gd name="adj" fmla="val 5217"/>
            </a:avLst>
          </a:prstGeom>
          <a:solidFill>
            <a:srgbClr val="FFFFFF"/>
          </a:solidFill>
          <a:ln w="12700">
            <a:solidFill>
              <a:srgbClr val="C9CCD8"/>
            </a:solidFill>
            <a:prstDash val="solid"/>
          </a:ln>
        </p:spPr>
      </p:sp>
      <p:sp>
        <p:nvSpPr>
          <p:cNvPr id="5" name="Text 3"/>
          <p:cNvSpPr/>
          <p:nvPr/>
        </p:nvSpPr>
        <p:spPr>
          <a:xfrm>
            <a:off x="777240" y="2331720"/>
            <a:ext cx="2194560" cy="1051560"/>
          </a:xfrm>
          <a:prstGeom prst="rect">
            <a:avLst/>
          </a:prstGeom>
          <a:noFill/>
          <a:ln/>
        </p:spPr>
        <p:txBody>
          <a:bodyPr wrap="square" lIns="0" tIns="0" rIns="0" bIns="0" rtlCol="0" anchor="ctr"/>
          <a:lstStyle/>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La aplicación</a:t>
            </a:r>
            <a:endParaRPr lang="en-US" sz="1500" dirty="0"/>
          </a:p>
        </p:txBody>
      </p:sp>
      <p:sp>
        <p:nvSpPr>
          <p:cNvPr id="6" name="Shape 4"/>
          <p:cNvSpPr/>
          <p:nvPr/>
        </p:nvSpPr>
        <p:spPr>
          <a:xfrm>
            <a:off x="3081528" y="2857500"/>
            <a:ext cx="374904" cy="0"/>
          </a:xfrm>
          <a:prstGeom prst="line">
            <a:avLst/>
          </a:prstGeom>
          <a:noFill/>
          <a:ln w="19050">
            <a:solidFill>
              <a:srgbClr val="202CFC"/>
            </a:solidFill>
            <a:prstDash val="solid"/>
            <a:tailEnd type="triangle"/>
          </a:ln>
        </p:spPr>
      </p:sp>
      <p:sp>
        <p:nvSpPr>
          <p:cNvPr id="7" name="Shape 5"/>
          <p:cNvSpPr/>
          <p:nvPr/>
        </p:nvSpPr>
        <p:spPr>
          <a:xfrm>
            <a:off x="3566160" y="2331720"/>
            <a:ext cx="2194560" cy="1051560"/>
          </a:xfrm>
          <a:prstGeom prst="roundRect">
            <a:avLst>
              <a:gd name="adj" fmla="val 5217"/>
            </a:avLst>
          </a:prstGeom>
          <a:solidFill>
            <a:srgbClr val="FFFFFF"/>
          </a:solidFill>
          <a:ln w="12700">
            <a:solidFill>
              <a:srgbClr val="C9CCD8"/>
            </a:solidFill>
            <a:prstDash val="solid"/>
          </a:ln>
        </p:spPr>
      </p:sp>
      <p:sp>
        <p:nvSpPr>
          <p:cNvPr id="8" name="Text 6"/>
          <p:cNvSpPr/>
          <p:nvPr/>
        </p:nvSpPr>
        <p:spPr>
          <a:xfrm>
            <a:off x="3566160" y="2331720"/>
            <a:ext cx="2194560" cy="1051560"/>
          </a:xfrm>
          <a:prstGeom prst="rect">
            <a:avLst/>
          </a:prstGeom>
          <a:noFill/>
          <a:ln/>
        </p:spPr>
        <p:txBody>
          <a:bodyPr wrap="square" lIns="0" tIns="0" rIns="0" bIns="0" rtlCol="0" anchor="ctr"/>
          <a:lstStyle/>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Adaptador</a:t>
            </a:r>
            <a:endParaRPr lang="en-US" sz="1500" dirty="0"/>
          </a:p>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ELM327</a:t>
            </a:r>
            <a:endParaRPr lang="en-US" sz="1500" dirty="0"/>
          </a:p>
        </p:txBody>
      </p:sp>
      <p:sp>
        <p:nvSpPr>
          <p:cNvPr id="9" name="Shape 7"/>
          <p:cNvSpPr/>
          <p:nvPr/>
        </p:nvSpPr>
        <p:spPr>
          <a:xfrm>
            <a:off x="5870448" y="2857500"/>
            <a:ext cx="374904" cy="0"/>
          </a:xfrm>
          <a:prstGeom prst="line">
            <a:avLst/>
          </a:prstGeom>
          <a:noFill/>
          <a:ln w="19050">
            <a:solidFill>
              <a:srgbClr val="202CFC"/>
            </a:solidFill>
            <a:prstDash val="solid"/>
            <a:tailEnd type="triangle"/>
          </a:ln>
        </p:spPr>
      </p:sp>
      <p:sp>
        <p:nvSpPr>
          <p:cNvPr id="10" name="Shape 8"/>
          <p:cNvSpPr/>
          <p:nvPr/>
        </p:nvSpPr>
        <p:spPr>
          <a:xfrm>
            <a:off x="6355080" y="2331720"/>
            <a:ext cx="2194560" cy="1051560"/>
          </a:xfrm>
          <a:prstGeom prst="roundRect">
            <a:avLst>
              <a:gd name="adj" fmla="val 5217"/>
            </a:avLst>
          </a:prstGeom>
          <a:solidFill>
            <a:srgbClr val="FFFFFF"/>
          </a:solidFill>
          <a:ln w="12700">
            <a:solidFill>
              <a:srgbClr val="C9CCD8"/>
            </a:solidFill>
            <a:prstDash val="solid"/>
          </a:ln>
        </p:spPr>
      </p:sp>
      <p:sp>
        <p:nvSpPr>
          <p:cNvPr id="11" name="Text 9"/>
          <p:cNvSpPr/>
          <p:nvPr/>
        </p:nvSpPr>
        <p:spPr>
          <a:xfrm>
            <a:off x="6355080" y="2331720"/>
            <a:ext cx="2194560" cy="1051560"/>
          </a:xfrm>
          <a:prstGeom prst="rect">
            <a:avLst/>
          </a:prstGeom>
          <a:noFill/>
          <a:ln/>
        </p:spPr>
        <p:txBody>
          <a:bodyPr wrap="square" lIns="0" tIns="0" rIns="0" bIns="0" rtlCol="0" anchor="ctr"/>
          <a:lstStyle/>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Bus CAN</a:t>
            </a:r>
            <a:endParaRPr lang="en-US" sz="1500" dirty="0"/>
          </a:p>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del coche</a:t>
            </a:r>
            <a:endParaRPr lang="en-US" sz="1500" dirty="0"/>
          </a:p>
        </p:txBody>
      </p:sp>
      <p:sp>
        <p:nvSpPr>
          <p:cNvPr id="12" name="Shape 10"/>
          <p:cNvSpPr/>
          <p:nvPr/>
        </p:nvSpPr>
        <p:spPr>
          <a:xfrm>
            <a:off x="8659368" y="2857500"/>
            <a:ext cx="374904" cy="0"/>
          </a:xfrm>
          <a:prstGeom prst="line">
            <a:avLst/>
          </a:prstGeom>
          <a:noFill/>
          <a:ln w="19050">
            <a:solidFill>
              <a:srgbClr val="202CFC"/>
            </a:solidFill>
            <a:prstDash val="solid"/>
            <a:tailEnd type="triangle"/>
          </a:ln>
        </p:spPr>
      </p:sp>
      <p:sp>
        <p:nvSpPr>
          <p:cNvPr id="13" name="Shape 11"/>
          <p:cNvSpPr/>
          <p:nvPr/>
        </p:nvSpPr>
        <p:spPr>
          <a:xfrm>
            <a:off x="9144000" y="2331720"/>
            <a:ext cx="2194560" cy="1051560"/>
          </a:xfrm>
          <a:prstGeom prst="roundRect">
            <a:avLst>
              <a:gd name="adj" fmla="val 5217"/>
            </a:avLst>
          </a:prstGeom>
          <a:solidFill>
            <a:srgbClr val="FFFFFF"/>
          </a:solidFill>
          <a:ln w="12700">
            <a:solidFill>
              <a:srgbClr val="C9CCD8"/>
            </a:solidFill>
            <a:prstDash val="solid"/>
          </a:ln>
        </p:spPr>
      </p:sp>
      <p:sp>
        <p:nvSpPr>
          <p:cNvPr id="14" name="Text 12"/>
          <p:cNvSpPr/>
          <p:nvPr/>
        </p:nvSpPr>
        <p:spPr>
          <a:xfrm>
            <a:off x="9144000" y="2331720"/>
            <a:ext cx="2194560" cy="1051560"/>
          </a:xfrm>
          <a:prstGeom prst="rect">
            <a:avLst/>
          </a:prstGeom>
          <a:noFill/>
          <a:ln/>
        </p:spPr>
        <p:txBody>
          <a:bodyPr wrap="square" lIns="0" tIns="0" rIns="0" bIns="0" rtlCol="0" anchor="ctr"/>
          <a:lstStyle/>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Centralita</a:t>
            </a:r>
            <a:endParaRPr lang="en-US" sz="1500" dirty="0"/>
          </a:p>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del motor</a:t>
            </a:r>
            <a:endParaRPr lang="en-US" sz="1500" dirty="0"/>
          </a:p>
        </p:txBody>
      </p:sp>
      <p:sp>
        <p:nvSpPr>
          <p:cNvPr id="15" name="Text 13"/>
          <p:cNvSpPr/>
          <p:nvPr/>
        </p:nvSpPr>
        <p:spPr>
          <a:xfrm>
            <a:off x="777240" y="3977640"/>
            <a:ext cx="1005840" cy="301752"/>
          </a:xfrm>
          <a:prstGeom prst="rect">
            <a:avLst/>
          </a:prstGeom>
          <a:noFill/>
          <a:ln/>
        </p:spPr>
        <p:txBody>
          <a:bodyPr wrap="square" lIns="0" tIns="0" rIns="0" bIns="0" rtlCol="0" anchor="ctr"/>
          <a:lstStyle/>
          <a:p>
            <a:pPr indent="0" marL="0">
              <a:buNone/>
            </a:pPr>
            <a:r>
              <a:rPr lang="en-US" sz="1400" b="1" dirty="0">
                <a:solidFill>
                  <a:srgbClr val="5A5F73"/>
                </a:solidFill>
                <a:latin typeface="Calibri" pitchFamily="34" charset="0"/>
                <a:ea typeface="Calibri" pitchFamily="34" charset="-122"/>
                <a:cs typeface="Calibri" pitchFamily="34" charset="-120"/>
              </a:rPr>
              <a:t>Va</a:t>
            </a:r>
            <a:endParaRPr lang="en-US" sz="1400" dirty="0"/>
          </a:p>
        </p:txBody>
      </p:sp>
      <p:sp>
        <p:nvSpPr>
          <p:cNvPr id="16" name="Text 14"/>
          <p:cNvSpPr/>
          <p:nvPr/>
        </p:nvSpPr>
        <p:spPr>
          <a:xfrm>
            <a:off x="1828800" y="3977640"/>
            <a:ext cx="2743200" cy="301752"/>
          </a:xfrm>
          <a:prstGeom prst="rect">
            <a:avLst/>
          </a:prstGeom>
          <a:noFill/>
          <a:ln/>
        </p:spPr>
        <p:txBody>
          <a:bodyPr wrap="square" lIns="0" tIns="0" rIns="0" bIns="0" rtlCol="0" anchor="ctr"/>
          <a:lstStyle/>
          <a:p>
            <a:pPr indent="0" marL="0">
              <a:buNone/>
            </a:pPr>
            <a:r>
              <a:rPr lang="en-US" sz="1600" b="1" dirty="0">
                <a:solidFill>
                  <a:srgbClr val="1A1C2E"/>
                </a:solidFill>
                <a:latin typeface="Courier New" pitchFamily="34" charset="0"/>
                <a:ea typeface="Courier New" pitchFamily="34" charset="-122"/>
                <a:cs typeface="Courier New" pitchFamily="34" charset="-120"/>
              </a:rPr>
              <a:t>01 0C</a:t>
            </a:r>
            <a:endParaRPr lang="en-US" sz="1600" dirty="0"/>
          </a:p>
        </p:txBody>
      </p:sp>
      <p:sp>
        <p:nvSpPr>
          <p:cNvPr id="17" name="Text 15"/>
          <p:cNvSpPr/>
          <p:nvPr/>
        </p:nvSpPr>
        <p:spPr>
          <a:xfrm>
            <a:off x="4206240" y="3977640"/>
            <a:ext cx="6858000" cy="301752"/>
          </a:xfrm>
          <a:prstGeom prst="rect">
            <a:avLst/>
          </a:prstGeom>
          <a:noFill/>
          <a:ln/>
        </p:spPr>
        <p:txBody>
          <a:bodyPr wrap="square" lIns="0" tIns="0" rIns="0" bIns="0" rtlCol="0" anchor="ctr"/>
          <a:lstStyle/>
          <a:p>
            <a:pPr indent="0" marL="0">
              <a:buNone/>
            </a:pPr>
            <a:r>
              <a:rPr lang="en-US" sz="1400" dirty="0">
                <a:solidFill>
                  <a:srgbClr val="5A5F73"/>
                </a:solidFill>
                <a:latin typeface="Calibri" pitchFamily="34" charset="0"/>
                <a:ea typeface="Calibri" pitchFamily="34" charset="-122"/>
                <a:cs typeface="Calibri" pitchFamily="34" charset="-120"/>
              </a:rPr>
              <a:t>modo 01, PID 0C — revoluciones</a:t>
            </a:r>
            <a:endParaRPr lang="en-US" sz="1400" dirty="0"/>
          </a:p>
        </p:txBody>
      </p:sp>
      <p:sp>
        <p:nvSpPr>
          <p:cNvPr id="18" name="Text 16"/>
          <p:cNvSpPr/>
          <p:nvPr/>
        </p:nvSpPr>
        <p:spPr>
          <a:xfrm>
            <a:off x="777240" y="4434840"/>
            <a:ext cx="1005840" cy="301752"/>
          </a:xfrm>
          <a:prstGeom prst="rect">
            <a:avLst/>
          </a:prstGeom>
          <a:noFill/>
          <a:ln/>
        </p:spPr>
        <p:txBody>
          <a:bodyPr wrap="square" lIns="0" tIns="0" rIns="0" bIns="0" rtlCol="0" anchor="ctr"/>
          <a:lstStyle/>
          <a:p>
            <a:pPr indent="0" marL="0">
              <a:buNone/>
            </a:pPr>
            <a:r>
              <a:rPr lang="en-US" sz="1400" b="1" dirty="0">
                <a:solidFill>
                  <a:srgbClr val="5A5F73"/>
                </a:solidFill>
                <a:latin typeface="Calibri" pitchFamily="34" charset="0"/>
                <a:ea typeface="Calibri" pitchFamily="34" charset="-122"/>
                <a:cs typeface="Calibri" pitchFamily="34" charset="-120"/>
              </a:rPr>
              <a:t>Vuelve</a:t>
            </a:r>
            <a:endParaRPr lang="en-US" sz="1400" dirty="0"/>
          </a:p>
        </p:txBody>
      </p:sp>
      <p:sp>
        <p:nvSpPr>
          <p:cNvPr id="19" name="Text 17"/>
          <p:cNvSpPr/>
          <p:nvPr/>
        </p:nvSpPr>
        <p:spPr>
          <a:xfrm>
            <a:off x="1828800" y="4434840"/>
            <a:ext cx="2743200" cy="301752"/>
          </a:xfrm>
          <a:prstGeom prst="rect">
            <a:avLst/>
          </a:prstGeom>
          <a:noFill/>
          <a:ln/>
        </p:spPr>
        <p:txBody>
          <a:bodyPr wrap="square" lIns="0" tIns="0" rIns="0" bIns="0" rtlCol="0" anchor="ctr"/>
          <a:lstStyle/>
          <a:p>
            <a:pPr indent="0" marL="0">
              <a:buNone/>
            </a:pPr>
            <a:r>
              <a:rPr lang="en-US" sz="1600" b="1" dirty="0">
                <a:solidFill>
                  <a:srgbClr val="1A1C2E"/>
                </a:solidFill>
                <a:latin typeface="Courier New" pitchFamily="34" charset="0"/>
                <a:ea typeface="Courier New" pitchFamily="34" charset="-122"/>
                <a:cs typeface="Courier New" pitchFamily="34" charset="-120"/>
              </a:rPr>
              <a:t>41 0C 0B B8</a:t>
            </a:r>
            <a:endParaRPr lang="en-US" sz="1600" dirty="0"/>
          </a:p>
        </p:txBody>
      </p:sp>
      <p:sp>
        <p:nvSpPr>
          <p:cNvPr id="20" name="Text 18"/>
          <p:cNvSpPr/>
          <p:nvPr/>
        </p:nvSpPr>
        <p:spPr>
          <a:xfrm>
            <a:off x="4206240" y="4434840"/>
            <a:ext cx="6858000" cy="301752"/>
          </a:xfrm>
          <a:prstGeom prst="rect">
            <a:avLst/>
          </a:prstGeom>
          <a:noFill/>
          <a:ln/>
        </p:spPr>
        <p:txBody>
          <a:bodyPr wrap="square" lIns="0" tIns="0" rIns="0" bIns="0" rtlCol="0" anchor="ctr"/>
          <a:lstStyle/>
          <a:p>
            <a:pPr indent="0" marL="0">
              <a:buNone/>
            </a:pPr>
            <a:r>
              <a:rPr lang="en-US" sz="1400" dirty="0">
                <a:solidFill>
                  <a:srgbClr val="5A5F73"/>
                </a:solidFill>
                <a:latin typeface="Calibri" pitchFamily="34" charset="0"/>
                <a:ea typeface="Calibri" pitchFamily="34" charset="-122"/>
                <a:cs typeface="Calibri" pitchFamily="34" charset="-120"/>
              </a:rPr>
              <a:t>los dos bytes de datos son A = 0B y B = B8</a:t>
            </a:r>
            <a:endParaRPr lang="en-US" sz="1400" dirty="0"/>
          </a:p>
        </p:txBody>
      </p:sp>
      <p:sp>
        <p:nvSpPr>
          <p:cNvPr id="21" name="Text 19"/>
          <p:cNvSpPr/>
          <p:nvPr/>
        </p:nvSpPr>
        <p:spPr>
          <a:xfrm>
            <a:off x="777240" y="5166360"/>
            <a:ext cx="10607040" cy="411480"/>
          </a:xfrm>
          <a:prstGeom prst="rect">
            <a:avLst/>
          </a:prstGeom>
          <a:noFill/>
          <a:ln/>
        </p:spPr>
        <p:txBody>
          <a:bodyPr wrap="square" lIns="0" tIns="0" rIns="0" bIns="0" rtlCol="0" anchor="ctr"/>
          <a:lstStyle/>
          <a:p>
            <a:pPr indent="0" marL="0">
              <a:buNone/>
            </a:pPr>
            <a:r>
              <a:rPr lang="en-US" sz="1900" b="1" dirty="0">
                <a:solidFill>
                  <a:srgbClr val="1A1C2E"/>
                </a:solidFill>
                <a:latin typeface="Arial" pitchFamily="34" charset="0"/>
                <a:ea typeface="Arial" pitchFamily="34" charset="-122"/>
                <a:cs typeface="Arial" pitchFamily="34" charset="-120"/>
              </a:rPr>
              <a:t>(A × 256 + B) / 4   =   (11 × 256 + 184) / 4   =   </a:t>
            </a:r>
            <a:pPr indent="0" marL="0">
              <a:buNone/>
            </a:pPr>
            <a:r>
              <a:rPr lang="en-US" sz="1900" b="1" dirty="0">
                <a:solidFill>
                  <a:srgbClr val="202CFC"/>
                </a:solidFill>
                <a:latin typeface="Arial" pitchFamily="34" charset="0"/>
                <a:ea typeface="Arial" pitchFamily="34" charset="-122"/>
                <a:cs typeface="Arial" pitchFamily="34" charset="-120"/>
              </a:rPr>
              <a:t>750 rpm</a:t>
            </a:r>
            <a:endParaRPr lang="en-US" sz="1900" dirty="0"/>
          </a:p>
        </p:txBody>
      </p:sp>
      <p:sp>
        <p:nvSpPr>
          <p:cNvPr id="22" name="Text 20"/>
          <p:cNvSpPr/>
          <p:nvPr/>
        </p:nvSpPr>
        <p:spPr>
          <a:xfrm>
            <a:off x="777240" y="5669280"/>
            <a:ext cx="10607040" cy="320040"/>
          </a:xfrm>
          <a:prstGeom prst="rect">
            <a:avLst/>
          </a:prstGeom>
          <a:noFill/>
          <a:ln/>
        </p:spPr>
        <p:txBody>
          <a:bodyPr wrap="square" lIns="0" tIns="0" rIns="0" bIns="0" rtlCol="0" anchor="ctr"/>
          <a:lstStyle/>
          <a:p>
            <a:pPr indent="0" marL="0">
              <a:buNone/>
            </a:pPr>
            <a:r>
              <a:rPr lang="en-US" sz="1400" dirty="0">
                <a:solidFill>
                  <a:srgbClr val="5A5F73"/>
                </a:solidFill>
                <a:latin typeface="Calibri" pitchFamily="34" charset="0"/>
                <a:ea typeface="Calibri" pitchFamily="34" charset="-122"/>
                <a:cs typeface="Calibri" pitchFamily="34" charset="-120"/>
              </a:rPr>
              <a:t>La fórmula la fija la SAE J1979 y vive en el dominio.</a:t>
            </a:r>
            <a:endParaRPr lang="en-US" sz="1400" dirty="0"/>
          </a:p>
        </p:txBody>
      </p:sp>
      <p:sp>
        <p:nvSpPr>
          <p:cNvPr id="23" name="Shape 21"/>
          <p:cNvSpPr/>
          <p:nvPr/>
        </p:nvSpPr>
        <p:spPr>
          <a:xfrm>
            <a:off x="777240" y="6263640"/>
            <a:ext cx="219456" cy="219456"/>
          </a:xfrm>
          <a:prstGeom prst="rect">
            <a:avLst/>
          </a:prstGeom>
          <a:solidFill>
            <a:srgbClr val="202CFC"/>
          </a:solidFill>
          <a:ln/>
        </p:spPr>
      </p:sp>
      <p:sp>
        <p:nvSpPr>
          <p:cNvPr id="24" name="Text 22"/>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25" name="Text 23"/>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26" name="Text 24"/>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Dos bases de datos</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Porque hay dos preguntas distintas que hacerle a los datos.</a:t>
            </a:r>
            <a:endParaRPr lang="en-US" sz="1700" dirty="0"/>
          </a:p>
        </p:txBody>
      </p:sp>
      <p:sp>
        <p:nvSpPr>
          <p:cNvPr id="4" name="Text 2"/>
          <p:cNvSpPr/>
          <p:nvPr/>
        </p:nvSpPr>
        <p:spPr>
          <a:xfrm>
            <a:off x="777240" y="224028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SQLite</a:t>
            </a:r>
            <a:endParaRPr lang="en-US" sz="2000" dirty="0"/>
          </a:p>
        </p:txBody>
      </p:sp>
      <p:sp>
        <p:nvSpPr>
          <p:cNvPr id="5" name="Text 3"/>
          <p:cNvSpPr/>
          <p:nvPr/>
        </p:nvSpPr>
        <p:spPr>
          <a:xfrm>
            <a:off x="777240" y="2670048"/>
            <a:ext cx="4846320" cy="320040"/>
          </a:xfrm>
          <a:prstGeom prst="rect">
            <a:avLst/>
          </a:prstGeom>
          <a:noFill/>
          <a:ln/>
        </p:spPr>
        <p:txBody>
          <a:bodyPr wrap="square" lIns="0" tIns="0" rIns="0" bIns="0" rtlCol="0" anchor="t"/>
          <a:lstStyle/>
          <a:p>
            <a:pPr indent="0" marL="0">
              <a:buNone/>
            </a:pPr>
            <a:r>
              <a:rPr lang="en-US" sz="1500" i="1" dirty="0">
                <a:solidFill>
                  <a:srgbClr val="5A5F73"/>
                </a:solidFill>
                <a:latin typeface="Calibri" pitchFamily="34" charset="0"/>
                <a:ea typeface="Calibri" pitchFamily="34" charset="-122"/>
                <a:cs typeface="Calibri" pitchFamily="34" charset="-120"/>
              </a:rPr>
              <a:t>«¿Qué es esto exactamente?»</a:t>
            </a:r>
            <a:endParaRPr lang="en-US" sz="1500" dirty="0"/>
          </a:p>
        </p:txBody>
      </p:sp>
      <p:sp>
        <p:nvSpPr>
          <p:cNvPr id="6" name="Text 4"/>
          <p:cNvSpPr/>
          <p:nvPr/>
        </p:nvSpPr>
        <p:spPr>
          <a:xfrm>
            <a:off x="777240" y="3200400"/>
            <a:ext cx="4846320" cy="219456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Usuarios, vehículos, ECUs y sesiones</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13 tablas con sus claves y relaciones</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El informe de cada sesión, congelado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Se responde con una clave: este VIN, este usuario</a:t>
            </a:r>
            <a:endParaRPr lang="en-US" sz="1500" dirty="0"/>
          </a:p>
        </p:txBody>
      </p:sp>
      <p:sp>
        <p:nvSpPr>
          <p:cNvPr id="7" name="Text 5"/>
          <p:cNvSpPr/>
          <p:nvPr/>
        </p:nvSpPr>
        <p:spPr>
          <a:xfrm>
            <a:off x="6537960" y="224028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LanceDB</a:t>
            </a:r>
            <a:endParaRPr lang="en-US" sz="2000" dirty="0"/>
          </a:p>
        </p:txBody>
      </p:sp>
      <p:sp>
        <p:nvSpPr>
          <p:cNvPr id="8" name="Text 6"/>
          <p:cNvSpPr/>
          <p:nvPr/>
        </p:nvSpPr>
        <p:spPr>
          <a:xfrm>
            <a:off x="6537960" y="2670048"/>
            <a:ext cx="4846320" cy="320040"/>
          </a:xfrm>
          <a:prstGeom prst="rect">
            <a:avLst/>
          </a:prstGeom>
          <a:noFill/>
          <a:ln/>
        </p:spPr>
        <p:txBody>
          <a:bodyPr wrap="square" lIns="0" tIns="0" rIns="0" bIns="0" rtlCol="0" anchor="t"/>
          <a:lstStyle/>
          <a:p>
            <a:pPr indent="0" marL="0">
              <a:buNone/>
            </a:pPr>
            <a:r>
              <a:rPr lang="en-US" sz="1500" i="1" dirty="0">
                <a:solidFill>
                  <a:srgbClr val="5A5F73"/>
                </a:solidFill>
                <a:latin typeface="Calibri" pitchFamily="34" charset="0"/>
                <a:ea typeface="Calibri" pitchFamily="34" charset="-122"/>
                <a:cs typeface="Calibri" pitchFamily="34" charset="-120"/>
              </a:rPr>
              <a:t>«¿Qué se parece a esto?»</a:t>
            </a:r>
            <a:endParaRPr lang="en-US" sz="1500" dirty="0"/>
          </a:p>
        </p:txBody>
      </p:sp>
      <p:sp>
        <p:nvSpPr>
          <p:cNvPr id="9" name="Text 7"/>
          <p:cNvSpPr/>
          <p:nvPr/>
        </p:nvSpPr>
        <p:spPr>
          <a:xfrm>
            <a:off x="6537960" y="3200400"/>
            <a:ext cx="4846320" cy="219456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PIDs, DTCs y diagnósticos ya resueltos</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El texto se convierte en vectores de 384 dimensiones</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Busca por significado, no por palabra exacta</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No hay clave que valga: no sabes qué buscas hasta verlo</a:t>
            </a:r>
            <a:endParaRPr lang="en-US" sz="1500" dirty="0"/>
          </a:p>
        </p:txBody>
      </p:sp>
      <p:sp>
        <p:nvSpPr>
          <p:cNvPr id="10" name="Text 8"/>
          <p:cNvSpPr/>
          <p:nvPr/>
        </p:nvSpPr>
        <p:spPr>
          <a:xfrm>
            <a:off x="777240" y="5623560"/>
            <a:ext cx="10607040" cy="411480"/>
          </a:xfrm>
          <a:prstGeom prst="rect">
            <a:avLst/>
          </a:prstGeom>
          <a:noFill/>
          <a:ln/>
        </p:spPr>
        <p:txBody>
          <a:bodyPr wrap="square" lIns="0" tIns="0" rIns="0" bIns="0" rtlCol="0" anchor="t"/>
          <a:lstStyle/>
          <a:p>
            <a:pPr indent="0" marL="0">
              <a:lnSpc>
                <a:spcPts val="1900"/>
              </a:lnSpc>
              <a:buNone/>
            </a:pPr>
            <a:r>
              <a:rPr lang="en-US" sz="1400" dirty="0">
                <a:solidFill>
                  <a:srgbClr val="5A5F73"/>
                </a:solidFill>
                <a:latin typeface="Calibri" pitchFamily="34" charset="0"/>
                <a:ea typeface="Calibri" pitchFamily="34" charset="-122"/>
                <a:cs typeface="Calibri" pitchFamily="34" charset="-120"/>
              </a:rPr>
              <a:t>Las dos van embebidas, sin servidor que mantener. PostgreSQL se descartó por eso: un servicio más sin resolver ningún problema a esta escala.</a:t>
            </a:r>
            <a:endParaRPr lang="en-US" sz="1400" dirty="0"/>
          </a:p>
        </p:txBody>
      </p:sp>
      <p:sp>
        <p:nvSpPr>
          <p:cNvPr id="11" name="Shape 9"/>
          <p:cNvSpPr/>
          <p:nvPr/>
        </p:nvSpPr>
        <p:spPr>
          <a:xfrm>
            <a:off x="777240" y="6263640"/>
            <a:ext cx="219456" cy="219456"/>
          </a:xfrm>
          <a:prstGeom prst="rect">
            <a:avLst/>
          </a:prstGeom>
          <a:solidFill>
            <a:srgbClr val="202CFC"/>
          </a:solidFill>
          <a:ln/>
        </p:spPr>
      </p:sp>
      <p:sp>
        <p:nvSpPr>
          <p:cNvPr id="12" name="Text 10"/>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3" name="Text 11"/>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4" name="Text 12"/>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6</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Slides>
  <Notes>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vt:i4>
      </vt:variant>
    </vt:vector>
  </HeadingPairs>
  <TitlesOfParts>
    <vt:vector size="9" baseType="lpstr">
      <vt:lpstr>Arial</vt:lpstr>
      <vt:lpstr>Calibri</vt:lpstr>
      <vt:lpstr>Office Theme</vt:lpstr>
      <vt:lpstr>Slide 1</vt:lpstr>
      <vt:lpstr>Slide 2</vt:lpstr>
      <vt:lpstr>Slide 3</vt:lpstr>
      <vt:lpstr>Slide 4</vt:lpstr>
      <vt:lpstr>Slide 5</vt:lpstr>
      <vt:lpstr>Slide 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Intelligent Automotive Diagnostics — TFM</dc:title>
  <dc:subject>PptxGenJS Presentation</dc:subject>
  <dc:creator>Jesús Ángel Novillo Lucas-Vaquero</dc:creator>
  <cp:lastModifiedBy>Jesús Ángel Novillo Lucas-Vaquero</cp:lastModifiedBy>
  <cp:revision>1</cp:revision>
  <dcterms:created xsi:type="dcterms:W3CDTF">2026-08-25T12:12:37Z</dcterms:created>
  <dcterms:modified xsi:type="dcterms:W3CDTF">2026-08-25T12:12:37Z</dcterms:modified>
</cp:coreProperties>
</file>