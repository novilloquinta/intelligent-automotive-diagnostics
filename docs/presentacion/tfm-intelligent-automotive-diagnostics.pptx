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de trabajo, de principio a fin.
Empieza donde empieza de verdad: se enchufa el adaptador al conector de diagnóstico del coche y se pulsa iniciar. A partir de ahí va solo.
Lo primero, preguntarle al coche el bastidor para saber qué vehículo es. Después un barrido del bus, para ver qué centralitas responden. Luego se leen los datos en vivo, los códigos de avería y el freeze frame. Y con eso se calcula la severidad y sale todo en pantalla.
Fijaos en la línea: hasta ese punto no ha intervenido la IA. Si no hay modelo configurado, o si el taller no tiene internet, el mecánico ya tiene su diagnóstico.
De ahí para abajo es opcional, y solo pasa si el mecánico pregunta al agente. Antes de llamarlo se buscan casos parecidos de diagnósticos anteriores. El agente pide lo que le falta: mirar el catálogo, leer más cosas del coche, o buscar en la web. Y responde con la explicación, la severidad y qué conviene revisar.
Y el último paso es el que hace que esto crezca: el caso se guarda, y queda disponible para el siguiente coche que entre con síntomas parecidos.
[~75 s · acumulado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457200"/>
            <a:ext cx="10607040" cy="64008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El flujo de trabajo</a:t>
            </a:r>
            <a:endParaRPr lang="en-US" sz="3200" dirty="0"/>
          </a:p>
        </p:txBody>
      </p:sp>
      <p:sp>
        <p:nvSpPr>
          <p:cNvPr id="3" name="Text 1"/>
          <p:cNvSpPr/>
          <p:nvPr/>
        </p:nvSpPr>
        <p:spPr>
          <a:xfrm>
            <a:off x="777240" y="1188720"/>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Qué pasa desde que enchufas el adaptador hasta que el caso queda guardado.</a:t>
            </a:r>
            <a:endParaRPr lang="en-US" sz="1500" dirty="0"/>
          </a:p>
        </p:txBody>
      </p:sp>
      <p:sp>
        <p:nvSpPr>
          <p:cNvPr id="4" name="Shape 2"/>
          <p:cNvSpPr/>
          <p:nvPr/>
        </p:nvSpPr>
        <p:spPr>
          <a:xfrm>
            <a:off x="1234440" y="2075688"/>
            <a:ext cx="0" cy="3803904"/>
          </a:xfrm>
          <a:prstGeom prst="line">
            <a:avLst/>
          </a:prstGeom>
          <a:noFill/>
          <a:ln w="19050">
            <a:solidFill>
              <a:srgbClr val="C9CCD8"/>
            </a:solidFill>
            <a:prstDash val="solid"/>
          </a:ln>
        </p:spPr>
      </p:sp>
      <p:sp>
        <p:nvSpPr>
          <p:cNvPr id="5" name="Shape 3"/>
          <p:cNvSpPr/>
          <p:nvPr/>
        </p:nvSpPr>
        <p:spPr>
          <a:xfrm>
            <a:off x="1078992" y="1920240"/>
            <a:ext cx="310896" cy="310896"/>
          </a:xfrm>
          <a:prstGeom prst="ellipse">
            <a:avLst/>
          </a:prstGeom>
          <a:solidFill>
            <a:srgbClr val="202CFC"/>
          </a:solidFill>
          <a:ln/>
        </p:spPr>
      </p:sp>
      <p:sp>
        <p:nvSpPr>
          <p:cNvPr id="6" name="Text 4"/>
          <p:cNvSpPr/>
          <p:nvPr/>
        </p:nvSpPr>
        <p:spPr>
          <a:xfrm>
            <a:off x="1078992" y="19202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7" name="Text 5"/>
          <p:cNvSpPr/>
          <p:nvPr/>
        </p:nvSpPr>
        <p:spPr>
          <a:xfrm>
            <a:off x="1618488" y="1901952"/>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enchufa el adaptador al coche y se pulsa «Iniciar diagnóstico»</a:t>
            </a:r>
            <a:endParaRPr lang="en-US" sz="1500" dirty="0"/>
          </a:p>
        </p:txBody>
      </p:sp>
      <p:sp>
        <p:nvSpPr>
          <p:cNvPr id="8" name="Shape 6"/>
          <p:cNvSpPr/>
          <p:nvPr/>
        </p:nvSpPr>
        <p:spPr>
          <a:xfrm>
            <a:off x="1078992" y="2395728"/>
            <a:ext cx="310896" cy="310896"/>
          </a:xfrm>
          <a:prstGeom prst="ellipse">
            <a:avLst/>
          </a:prstGeom>
          <a:solidFill>
            <a:srgbClr val="202CFC"/>
          </a:solidFill>
          <a:ln/>
        </p:spPr>
      </p:sp>
      <p:sp>
        <p:nvSpPr>
          <p:cNvPr id="9" name="Text 7"/>
          <p:cNvSpPr/>
          <p:nvPr/>
        </p:nvSpPr>
        <p:spPr>
          <a:xfrm>
            <a:off x="1078992" y="23957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0" name="Text 8"/>
          <p:cNvSpPr/>
          <p:nvPr/>
        </p:nvSpPr>
        <p:spPr>
          <a:xfrm>
            <a:off x="1618488" y="2377440"/>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pregunta el bastidor y se identifica el vehículo</a:t>
            </a:r>
            <a:endParaRPr lang="en-US" sz="1500" dirty="0"/>
          </a:p>
        </p:txBody>
      </p:sp>
      <p:sp>
        <p:nvSpPr>
          <p:cNvPr id="11" name="Shape 9"/>
          <p:cNvSpPr/>
          <p:nvPr/>
        </p:nvSpPr>
        <p:spPr>
          <a:xfrm>
            <a:off x="1078992" y="2871216"/>
            <a:ext cx="310896" cy="310896"/>
          </a:xfrm>
          <a:prstGeom prst="ellipse">
            <a:avLst/>
          </a:prstGeom>
          <a:solidFill>
            <a:srgbClr val="202CFC"/>
          </a:solidFill>
          <a:ln/>
        </p:spPr>
      </p:sp>
      <p:sp>
        <p:nvSpPr>
          <p:cNvPr id="12" name="Text 10"/>
          <p:cNvSpPr/>
          <p:nvPr/>
        </p:nvSpPr>
        <p:spPr>
          <a:xfrm>
            <a:off x="1078992" y="28712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3" name="Text 11"/>
          <p:cNvSpPr/>
          <p:nvPr/>
        </p:nvSpPr>
        <p:spPr>
          <a:xfrm>
            <a:off x="1618488" y="2852928"/>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barre el bus para ver qué centralitas responden</a:t>
            </a:r>
            <a:endParaRPr lang="en-US" sz="1500" dirty="0"/>
          </a:p>
        </p:txBody>
      </p:sp>
      <p:sp>
        <p:nvSpPr>
          <p:cNvPr id="14" name="Shape 12"/>
          <p:cNvSpPr/>
          <p:nvPr/>
        </p:nvSpPr>
        <p:spPr>
          <a:xfrm>
            <a:off x="1078992" y="3346704"/>
            <a:ext cx="310896" cy="310896"/>
          </a:xfrm>
          <a:prstGeom prst="ellipse">
            <a:avLst/>
          </a:prstGeom>
          <a:solidFill>
            <a:srgbClr val="202CFC"/>
          </a:solidFill>
          <a:ln/>
        </p:spPr>
      </p:sp>
      <p:sp>
        <p:nvSpPr>
          <p:cNvPr id="15" name="Text 13"/>
          <p:cNvSpPr/>
          <p:nvPr/>
        </p:nvSpPr>
        <p:spPr>
          <a:xfrm>
            <a:off x="1078992" y="33467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16" name="Text 14"/>
          <p:cNvSpPr/>
          <p:nvPr/>
        </p:nvSpPr>
        <p:spPr>
          <a:xfrm>
            <a:off x="1618488" y="3328416"/>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leen los datos en vivo, los códigos de avería y el freeze frame</a:t>
            </a:r>
            <a:endParaRPr lang="en-US" sz="1500" dirty="0"/>
          </a:p>
        </p:txBody>
      </p:sp>
      <p:sp>
        <p:nvSpPr>
          <p:cNvPr id="17" name="Shape 15"/>
          <p:cNvSpPr/>
          <p:nvPr/>
        </p:nvSpPr>
        <p:spPr>
          <a:xfrm>
            <a:off x="1078992" y="3822192"/>
            <a:ext cx="310896" cy="310896"/>
          </a:xfrm>
          <a:prstGeom prst="ellipse">
            <a:avLst/>
          </a:prstGeom>
          <a:solidFill>
            <a:srgbClr val="202CFC"/>
          </a:solidFill>
          <a:ln/>
        </p:spPr>
      </p:sp>
      <p:sp>
        <p:nvSpPr>
          <p:cNvPr id="18" name="Text 16"/>
          <p:cNvSpPr/>
          <p:nvPr/>
        </p:nvSpPr>
        <p:spPr>
          <a:xfrm>
            <a:off x="1078992" y="38221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9" name="Text 17"/>
          <p:cNvSpPr/>
          <p:nvPr/>
        </p:nvSpPr>
        <p:spPr>
          <a:xfrm>
            <a:off x="1618488" y="3803904"/>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Se calcula la severidad y todo sale en pantalla</a:t>
            </a:r>
            <a:endParaRPr lang="en-US" sz="1500" dirty="0"/>
          </a:p>
        </p:txBody>
      </p:sp>
      <p:sp>
        <p:nvSpPr>
          <p:cNvPr id="20" name="Shape 18"/>
          <p:cNvSpPr/>
          <p:nvPr/>
        </p:nvSpPr>
        <p:spPr>
          <a:xfrm>
            <a:off x="1078992" y="4297680"/>
            <a:ext cx="310896" cy="310896"/>
          </a:xfrm>
          <a:prstGeom prst="ellipse">
            <a:avLst/>
          </a:prstGeom>
          <a:solidFill>
            <a:srgbClr val="202CFC"/>
          </a:solidFill>
          <a:ln/>
        </p:spPr>
      </p:sp>
      <p:sp>
        <p:nvSpPr>
          <p:cNvPr id="21" name="Text 19"/>
          <p:cNvSpPr/>
          <p:nvPr/>
        </p:nvSpPr>
        <p:spPr>
          <a:xfrm>
            <a:off x="1078992" y="42976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22" name="Text 20"/>
          <p:cNvSpPr/>
          <p:nvPr/>
        </p:nvSpPr>
        <p:spPr>
          <a:xfrm>
            <a:off x="1618488" y="4279392"/>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Si el mecánico pregunta al agente, se buscan antes casos parecidos</a:t>
            </a:r>
            <a:endParaRPr lang="en-US" sz="1500" dirty="0"/>
          </a:p>
        </p:txBody>
      </p:sp>
      <p:sp>
        <p:nvSpPr>
          <p:cNvPr id="23" name="Shape 21"/>
          <p:cNvSpPr/>
          <p:nvPr/>
        </p:nvSpPr>
        <p:spPr>
          <a:xfrm>
            <a:off x="1078992" y="4773168"/>
            <a:ext cx="310896" cy="310896"/>
          </a:xfrm>
          <a:prstGeom prst="ellipse">
            <a:avLst/>
          </a:prstGeom>
          <a:solidFill>
            <a:srgbClr val="202CFC"/>
          </a:solidFill>
          <a:ln/>
        </p:spPr>
      </p:sp>
      <p:sp>
        <p:nvSpPr>
          <p:cNvPr id="24" name="Text 22"/>
          <p:cNvSpPr/>
          <p:nvPr/>
        </p:nvSpPr>
        <p:spPr>
          <a:xfrm>
            <a:off x="1078992" y="4773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25" name="Text 23"/>
          <p:cNvSpPr/>
          <p:nvPr/>
        </p:nvSpPr>
        <p:spPr>
          <a:xfrm>
            <a:off x="1618488" y="4754880"/>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El agente pide lo que le falta: el catálogo, más lecturas del coche o la web</a:t>
            </a:r>
            <a:endParaRPr lang="en-US" sz="1500" dirty="0"/>
          </a:p>
        </p:txBody>
      </p:sp>
      <p:sp>
        <p:nvSpPr>
          <p:cNvPr id="26" name="Shape 24"/>
          <p:cNvSpPr/>
          <p:nvPr/>
        </p:nvSpPr>
        <p:spPr>
          <a:xfrm>
            <a:off x="1078992" y="5248656"/>
            <a:ext cx="310896" cy="310896"/>
          </a:xfrm>
          <a:prstGeom prst="ellipse">
            <a:avLst/>
          </a:prstGeom>
          <a:solidFill>
            <a:srgbClr val="202CFC"/>
          </a:solidFill>
          <a:ln/>
        </p:spPr>
      </p:sp>
      <p:sp>
        <p:nvSpPr>
          <p:cNvPr id="27" name="Text 25"/>
          <p:cNvSpPr/>
          <p:nvPr/>
        </p:nvSpPr>
        <p:spPr>
          <a:xfrm>
            <a:off x="1078992" y="5248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28" name="Text 26"/>
          <p:cNvSpPr/>
          <p:nvPr/>
        </p:nvSpPr>
        <p:spPr>
          <a:xfrm>
            <a:off x="1618488" y="5230368"/>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Responde con la explicación, la severidad y qué conviene revisar</a:t>
            </a:r>
            <a:endParaRPr lang="en-US" sz="1500" dirty="0"/>
          </a:p>
        </p:txBody>
      </p:sp>
      <p:sp>
        <p:nvSpPr>
          <p:cNvPr id="29" name="Shape 27"/>
          <p:cNvSpPr/>
          <p:nvPr/>
        </p:nvSpPr>
        <p:spPr>
          <a:xfrm>
            <a:off x="1078992" y="5724144"/>
            <a:ext cx="310896" cy="310896"/>
          </a:xfrm>
          <a:prstGeom prst="ellipse">
            <a:avLst/>
          </a:prstGeom>
          <a:solidFill>
            <a:srgbClr val="202CFC"/>
          </a:solidFill>
          <a:ln/>
        </p:spPr>
      </p:sp>
      <p:sp>
        <p:nvSpPr>
          <p:cNvPr id="30" name="Text 28"/>
          <p:cNvSpPr/>
          <p:nvPr/>
        </p:nvSpPr>
        <p:spPr>
          <a:xfrm>
            <a:off x="1078992" y="57241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31" name="Text 29"/>
          <p:cNvSpPr/>
          <p:nvPr/>
        </p:nvSpPr>
        <p:spPr>
          <a:xfrm>
            <a:off x="1618488" y="5705856"/>
            <a:ext cx="9601200" cy="365760"/>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El caso se guarda, y queda disponible para el siguiente coche</a:t>
            </a:r>
            <a:endParaRPr lang="en-US" sz="1500" dirty="0"/>
          </a:p>
        </p:txBody>
      </p:sp>
      <p:sp>
        <p:nvSpPr>
          <p:cNvPr id="32" name="Shape 30"/>
          <p:cNvSpPr/>
          <p:nvPr/>
        </p:nvSpPr>
        <p:spPr>
          <a:xfrm>
            <a:off x="777240" y="4233672"/>
            <a:ext cx="10607040" cy="0"/>
          </a:xfrm>
          <a:prstGeom prst="line">
            <a:avLst/>
          </a:prstGeom>
          <a:noFill/>
          <a:ln w="12700">
            <a:solidFill>
              <a:srgbClr val="D8DAE4"/>
            </a:solidFill>
            <a:prstDash val="dash"/>
          </a:ln>
        </p:spPr>
      </p:sp>
      <p:sp>
        <p:nvSpPr>
          <p:cNvPr id="33" name="Text 31"/>
          <p:cNvSpPr/>
          <p:nvPr/>
        </p:nvSpPr>
        <p:spPr>
          <a:xfrm>
            <a:off x="8778240" y="4059936"/>
            <a:ext cx="2606040" cy="274320"/>
          </a:xfrm>
          <a:prstGeom prst="rect">
            <a:avLst/>
          </a:prstGeom>
          <a:noFill/>
          <a:ln/>
        </p:spPr>
        <p:txBody>
          <a:bodyPr wrap="square" lIns="0" tIns="0" rIns="0" bIns="0" rtlCol="0" anchor="ctr"/>
          <a:lstStyle/>
          <a:p>
            <a:pPr algn="r" indent="0" marL="0">
              <a:buNone/>
            </a:pPr>
            <a:r>
              <a:rPr lang="en-US" sz="1100" i="1" dirty="0">
                <a:solidFill>
                  <a:srgbClr val="5A5F73"/>
                </a:solidFill>
                <a:latin typeface="Calibri" pitchFamily="34" charset="0"/>
                <a:ea typeface="Calibri" pitchFamily="34" charset="-122"/>
                <a:cs typeface="Calibri" pitchFamily="34" charset="-120"/>
              </a:rPr>
              <a:t>hasta aquí, sin IA</a:t>
            </a:r>
            <a:endParaRPr lang="en-US" sz="11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2026-08-25T21:37:07Z</dcterms:created>
  <dcterms:modified xsi:type="dcterms:W3CDTF">2026-08-25T21:37:07Z</dcterms:modified>
</cp:coreProperties>
</file>