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Las diez categorías, con la medida que se aplicó en el código.</a:t>
            </a:r>
            <a:endParaRPr lang="en-US" sz="1700" dirty="0"/>
          </a:p>
        </p:txBody>
      </p:sp>
      <p:sp>
        <p:nvSpPr>
          <p:cNvPr id="4" name="Text 2"/>
          <p:cNvSpPr/>
          <p:nvPr/>
        </p:nvSpPr>
        <p:spPr>
          <a:xfrm>
            <a:off x="777240" y="2084832"/>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API1</a:t>
            </a:r>
            <a:endParaRPr lang="en-US" sz="1200" dirty="0"/>
          </a:p>
        </p:txBody>
      </p:sp>
      <p:sp>
        <p:nvSpPr>
          <p:cNvPr id="5" name="Text 3"/>
          <p:cNvSpPr/>
          <p:nvPr/>
        </p:nvSpPr>
        <p:spPr>
          <a:xfrm>
            <a:off x="1481328" y="2084832"/>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Autorización de objeto</a:t>
            </a:r>
            <a:endParaRPr lang="en-US" sz="1200" dirty="0"/>
          </a:p>
        </p:txBody>
      </p:sp>
      <p:sp>
        <p:nvSpPr>
          <p:cNvPr id="6" name="Text 4"/>
          <p:cNvSpPr/>
          <p:nvPr/>
        </p:nvSpPr>
        <p:spPr>
          <a:xfrm>
            <a:off x="4389120" y="2084832"/>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Las consultas filtran por propietario: la sesión de otro usuario devuelve 404, no 403</a:t>
            </a:r>
            <a:endParaRPr lang="en-US" sz="1300" dirty="0"/>
          </a:p>
        </p:txBody>
      </p:sp>
      <p:sp>
        <p:nvSpPr>
          <p:cNvPr id="7" name="Text 5"/>
          <p:cNvSpPr/>
          <p:nvPr/>
        </p:nvSpPr>
        <p:spPr>
          <a:xfrm>
            <a:off x="777240" y="2487168"/>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API2</a:t>
            </a:r>
            <a:endParaRPr lang="en-US" sz="1200" dirty="0"/>
          </a:p>
        </p:txBody>
      </p:sp>
      <p:sp>
        <p:nvSpPr>
          <p:cNvPr id="8" name="Text 6"/>
          <p:cNvSpPr/>
          <p:nvPr/>
        </p:nvSpPr>
        <p:spPr>
          <a:xfrm>
            <a:off x="1481328" y="2487168"/>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Autenticación</a:t>
            </a:r>
            <a:endParaRPr lang="en-US" sz="1200" dirty="0"/>
          </a:p>
        </p:txBody>
      </p:sp>
      <p:sp>
        <p:nvSpPr>
          <p:cNvPr id="9" name="Text 7"/>
          <p:cNvSpPr/>
          <p:nvPr/>
        </p:nvSpPr>
        <p:spPr>
          <a:xfrm>
            <a:off x="4389120" y="2487168"/>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bcrypt de 12 rondas, rotación de refresh tokens y bloqueo de cuenta a los 5 fallos</a:t>
            </a:r>
            <a:endParaRPr lang="en-US" sz="1300" dirty="0"/>
          </a:p>
        </p:txBody>
      </p:sp>
      <p:sp>
        <p:nvSpPr>
          <p:cNvPr id="10" name="Text 8"/>
          <p:cNvSpPr/>
          <p:nvPr/>
        </p:nvSpPr>
        <p:spPr>
          <a:xfrm>
            <a:off x="777240" y="2889504"/>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API3</a:t>
            </a:r>
            <a:endParaRPr lang="en-US" sz="1200" dirty="0"/>
          </a:p>
        </p:txBody>
      </p:sp>
      <p:sp>
        <p:nvSpPr>
          <p:cNvPr id="11" name="Text 9"/>
          <p:cNvSpPr/>
          <p:nvPr/>
        </p:nvSpPr>
        <p:spPr>
          <a:xfrm>
            <a:off x="1481328" y="2889504"/>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Propiedades del objeto</a:t>
            </a:r>
            <a:endParaRPr lang="en-US" sz="1200" dirty="0"/>
          </a:p>
        </p:txBody>
      </p:sp>
      <p:sp>
        <p:nvSpPr>
          <p:cNvPr id="12" name="Text 10"/>
          <p:cNvSpPr/>
          <p:nvPr/>
        </p:nvSpPr>
        <p:spPr>
          <a:xfrm>
            <a:off x="4389120" y="2889504"/>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Los esquemas Zod son la allowlist de campos: lo no declarado no entra</a:t>
            </a:r>
            <a:endParaRPr lang="en-US" sz="1300" dirty="0"/>
          </a:p>
        </p:txBody>
      </p:sp>
      <p:sp>
        <p:nvSpPr>
          <p:cNvPr id="13" name="Text 11"/>
          <p:cNvSpPr/>
          <p:nvPr/>
        </p:nvSpPr>
        <p:spPr>
          <a:xfrm>
            <a:off x="777240" y="3291840"/>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API4</a:t>
            </a:r>
            <a:endParaRPr lang="en-US" sz="1200" dirty="0"/>
          </a:p>
        </p:txBody>
      </p:sp>
      <p:sp>
        <p:nvSpPr>
          <p:cNvPr id="14" name="Text 12"/>
          <p:cNvSpPr/>
          <p:nvPr/>
        </p:nvSpPr>
        <p:spPr>
          <a:xfrm>
            <a:off x="1481328" y="3291840"/>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Consumo de recursos</a:t>
            </a:r>
            <a:endParaRPr lang="en-US" sz="1200" dirty="0"/>
          </a:p>
        </p:txBody>
      </p:sp>
      <p:sp>
        <p:nvSpPr>
          <p:cNvPr id="15" name="Text 13"/>
          <p:cNvSpPr/>
          <p:nvPr/>
        </p:nvSpPr>
        <p:spPr>
          <a:xfrm>
            <a:off x="4389120" y="3291840"/>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Límites por familia: login 5/min, diagnóstico 20/min, cognitivo 5/min; body de 10 KB</a:t>
            </a:r>
            <a:endParaRPr lang="en-US" sz="1300" dirty="0"/>
          </a:p>
        </p:txBody>
      </p:sp>
      <p:sp>
        <p:nvSpPr>
          <p:cNvPr id="16" name="Text 14"/>
          <p:cNvSpPr/>
          <p:nvPr/>
        </p:nvSpPr>
        <p:spPr>
          <a:xfrm>
            <a:off x="777240" y="3694176"/>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API5</a:t>
            </a:r>
            <a:endParaRPr lang="en-US" sz="1200" dirty="0"/>
          </a:p>
        </p:txBody>
      </p:sp>
      <p:sp>
        <p:nvSpPr>
          <p:cNvPr id="17" name="Text 15"/>
          <p:cNvSpPr/>
          <p:nvPr/>
        </p:nvSpPr>
        <p:spPr>
          <a:xfrm>
            <a:off x="1481328" y="3694176"/>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Autorización de función</a:t>
            </a:r>
            <a:endParaRPr lang="en-US" sz="1200" dirty="0"/>
          </a:p>
        </p:txBody>
      </p:sp>
      <p:sp>
        <p:nvSpPr>
          <p:cNvPr id="18" name="Text 16"/>
          <p:cNvSpPr/>
          <p:nvPr/>
        </p:nvSpPr>
        <p:spPr>
          <a:xfrm>
            <a:off x="4389120" y="3694176"/>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Todo /api tras el middleware de sesión; administración tras requireAdmin</a:t>
            </a:r>
            <a:endParaRPr lang="en-US" sz="1300" dirty="0"/>
          </a:p>
        </p:txBody>
      </p:sp>
      <p:sp>
        <p:nvSpPr>
          <p:cNvPr id="19" name="Text 17"/>
          <p:cNvSpPr/>
          <p:nvPr/>
        </p:nvSpPr>
        <p:spPr>
          <a:xfrm>
            <a:off x="777240" y="4096512"/>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API6</a:t>
            </a:r>
            <a:endParaRPr lang="en-US" sz="1200" dirty="0"/>
          </a:p>
        </p:txBody>
      </p:sp>
      <p:sp>
        <p:nvSpPr>
          <p:cNvPr id="20" name="Text 18"/>
          <p:cNvSpPr/>
          <p:nvPr/>
        </p:nvSpPr>
        <p:spPr>
          <a:xfrm>
            <a:off x="1481328" y="4096512"/>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Flujos de negocio sensibles</a:t>
            </a:r>
            <a:endParaRPr lang="en-US" sz="1200" dirty="0"/>
          </a:p>
        </p:txBody>
      </p:sp>
      <p:sp>
        <p:nvSpPr>
          <p:cNvPr id="21" name="Text 19"/>
          <p:cNvSpPr/>
          <p:nvPr/>
        </p:nvSpPr>
        <p:spPr>
          <a:xfrm>
            <a:off x="4389120" y="4096512"/>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El borrado de códigos de avería lleva límite propio y se apaga con OBD_READ_ONLY</a:t>
            </a:r>
            <a:endParaRPr lang="en-US" sz="1300" dirty="0"/>
          </a:p>
        </p:txBody>
      </p:sp>
      <p:sp>
        <p:nvSpPr>
          <p:cNvPr id="22" name="Text 20"/>
          <p:cNvSpPr/>
          <p:nvPr/>
        </p:nvSpPr>
        <p:spPr>
          <a:xfrm>
            <a:off x="777240" y="4498848"/>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API7</a:t>
            </a:r>
            <a:endParaRPr lang="en-US" sz="1200" dirty="0"/>
          </a:p>
        </p:txBody>
      </p:sp>
      <p:sp>
        <p:nvSpPr>
          <p:cNvPr id="23" name="Text 21"/>
          <p:cNvSpPr/>
          <p:nvPr/>
        </p:nvSpPr>
        <p:spPr>
          <a:xfrm>
            <a:off x="1481328" y="4498848"/>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SSRF</a:t>
            </a:r>
            <a:endParaRPr lang="en-US" sz="1200" dirty="0"/>
          </a:p>
        </p:txBody>
      </p:sp>
      <p:sp>
        <p:nvSpPr>
          <p:cNvPr id="24" name="Text 22"/>
          <p:cNvSpPr/>
          <p:nvPr/>
        </p:nvSpPr>
        <p:spPr>
          <a:xfrm>
            <a:off x="4389120" y="4498848"/>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El usuario no controla ninguna URL de salida: proveedor fijo y timeout de 30 s</a:t>
            </a:r>
            <a:endParaRPr lang="en-US" sz="1300" dirty="0"/>
          </a:p>
        </p:txBody>
      </p:sp>
      <p:sp>
        <p:nvSpPr>
          <p:cNvPr id="25" name="Text 23"/>
          <p:cNvSpPr/>
          <p:nvPr/>
        </p:nvSpPr>
        <p:spPr>
          <a:xfrm>
            <a:off x="777240" y="4901184"/>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API8</a:t>
            </a:r>
            <a:endParaRPr lang="en-US" sz="1200" dirty="0"/>
          </a:p>
        </p:txBody>
      </p:sp>
      <p:sp>
        <p:nvSpPr>
          <p:cNvPr id="26" name="Text 24"/>
          <p:cNvSpPr/>
          <p:nvPr/>
        </p:nvSpPr>
        <p:spPr>
          <a:xfrm>
            <a:off x="1481328" y="4901184"/>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Configuración</a:t>
            </a:r>
            <a:endParaRPr lang="en-US" sz="1200" dirty="0"/>
          </a:p>
        </p:txBody>
      </p:sp>
      <p:sp>
        <p:nvSpPr>
          <p:cNvPr id="27" name="Text 25"/>
          <p:cNvSpPr/>
          <p:nvPr/>
        </p:nvSpPr>
        <p:spPr>
          <a:xfrm>
            <a:off x="4389120" y="4901184"/>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Helmet 8 con CSP default-src none, HSTS de un año y allowlist de CORS</a:t>
            </a:r>
            <a:endParaRPr lang="en-US" sz="1300" dirty="0"/>
          </a:p>
        </p:txBody>
      </p:sp>
      <p:sp>
        <p:nvSpPr>
          <p:cNvPr id="28" name="Text 26"/>
          <p:cNvSpPr/>
          <p:nvPr/>
        </p:nvSpPr>
        <p:spPr>
          <a:xfrm>
            <a:off x="777240" y="5303520"/>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API9</a:t>
            </a:r>
            <a:endParaRPr lang="en-US" sz="1200" dirty="0"/>
          </a:p>
        </p:txBody>
      </p:sp>
      <p:sp>
        <p:nvSpPr>
          <p:cNvPr id="29" name="Text 27"/>
          <p:cNvSpPr/>
          <p:nvPr/>
        </p:nvSpPr>
        <p:spPr>
          <a:xfrm>
            <a:off x="1481328" y="5303520"/>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Inventario de la API</a:t>
            </a:r>
            <a:endParaRPr lang="en-US" sz="1200" dirty="0"/>
          </a:p>
        </p:txBody>
      </p:sp>
      <p:sp>
        <p:nvSpPr>
          <p:cNvPr id="30" name="Text 28"/>
          <p:cNvSpPr/>
          <p:nvPr/>
        </p:nvSpPr>
        <p:spPr>
          <a:xfrm>
            <a:off x="4389120" y="5303520"/>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Especificación OpenAPI versionada y servida por la propia API</a:t>
            </a:r>
            <a:endParaRPr lang="en-US" sz="1300" dirty="0"/>
          </a:p>
        </p:txBody>
      </p:sp>
      <p:sp>
        <p:nvSpPr>
          <p:cNvPr id="31" name="Text 29"/>
          <p:cNvSpPr/>
          <p:nvPr/>
        </p:nvSpPr>
        <p:spPr>
          <a:xfrm>
            <a:off x="777240" y="5705856"/>
            <a:ext cx="68580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API10</a:t>
            </a:r>
            <a:endParaRPr lang="en-US" sz="1200" dirty="0"/>
          </a:p>
        </p:txBody>
      </p:sp>
      <p:sp>
        <p:nvSpPr>
          <p:cNvPr id="32" name="Text 30"/>
          <p:cNvSpPr/>
          <p:nvPr/>
        </p:nvSpPr>
        <p:spPr>
          <a:xfrm>
            <a:off x="1481328" y="5705856"/>
            <a:ext cx="2834640" cy="365760"/>
          </a:xfrm>
          <a:prstGeom prst="rect">
            <a:avLst/>
          </a:prstGeom>
          <a:noFill/>
          <a:ln/>
        </p:spPr>
        <p:txBody>
          <a:bodyPr wrap="square" lIns="0" tIns="0" rIns="0" bIns="0" rtlCol="0" anchor="ctr"/>
          <a:lstStyle/>
          <a:p>
            <a:pPr indent="0" marL="0">
              <a:buNone/>
            </a:pPr>
            <a:r>
              <a:rPr lang="en-US" sz="1200" b="1" dirty="0">
                <a:solidFill>
                  <a:srgbClr val="1A1C2E"/>
                </a:solidFill>
                <a:latin typeface="Arial" pitchFamily="34" charset="0"/>
                <a:ea typeface="Arial" pitchFamily="34" charset="-122"/>
                <a:cs typeface="Arial" pitchFamily="34" charset="-120"/>
              </a:rPr>
              <a:t>Consumo de APIs externas</a:t>
            </a:r>
            <a:endParaRPr lang="en-US" sz="1200" dirty="0"/>
          </a:p>
        </p:txBody>
      </p:sp>
      <p:sp>
        <p:nvSpPr>
          <p:cNvPr id="33" name="Text 31"/>
          <p:cNvSpPr/>
          <p:nvPr/>
        </p:nvSpPr>
        <p:spPr>
          <a:xfrm>
            <a:off x="4389120" y="5705856"/>
            <a:ext cx="699516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Lo recuperado llega al modelo marcado como no fiable, nunca como instrucción</a:t>
            </a:r>
            <a:endParaRPr lang="en-US" sz="13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2026-08-26T10:27:23Z</dcterms:created>
  <dcterms:modified xsi:type="dcterms:W3CDTF">2026-08-26T10:27:23Z</dcterms:modified>
</cp:coreProperties>
</file>