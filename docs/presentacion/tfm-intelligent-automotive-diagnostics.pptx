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Con Clean Architecture eso vive en el dominio, aislado, y lo que sí cambia —la base de datos, el LLM, el transporte OBD, el framework web— vive fuera, en adaptadores.
¿Y por qué no una arquitectura orientada a eventos? Porque aquí no hay varios servicios que desacoplar: es un solo proceso. Y el flujo es síncrono: el mecánico pregunta y se queda esperando la respuesta. Meter un broker y colas me traería consistencia eventual y mucha más superficie de depuración, sin ganar nada a cambio.
Y hay una razón práctica: soy un solo programador. Cuantas más piezas móviles, más sitio donde romper.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capas, y las dependencias van siempre hacia dentro.
En el dominio están los value objects y los catálogos: el VIN, el código DTC, el código de PID, las fórmulas, y las tablas de referencia. Es lo que dicen las normas. Esta capa no importa absolutamente nada de las otras dos.
En aplicación están los casos de uso —identificar el vehículo, leer telemetría, barrer las ECUs, ejecutar el diagnóstico determinista y el cognitivo— y los puertos, que son interfaces. Aquí se dice QUÉ hace falta, no CÓMO se consigue. Esta capa solo conoce el dominio.
Y en infraestructura está el cómo: Express, Drizzle sobre SQLite, LanceDB para los vectores, el servidor MCP, los clientes de Anthropic y OpenAI, y el transporte del ELM327 con su simulador. Todo eso implementa los puertos de la capa de aplicación.
La consecuencia práctica es la de la slide anterior: el dominio no sabe que existe SQLite, ni Express, ni ningún modelo de lenguaje.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Por qué Clean + Hexagonal</a:t>
            </a:r>
            <a:endParaRPr lang="en-US" sz="2000" dirty="0"/>
          </a:p>
        </p:txBody>
      </p:sp>
      <p:sp>
        <p:nvSpPr>
          <p:cNvPr id="5" name="Text 3"/>
          <p:cNvSpPr/>
          <p:nvPr/>
        </p:nvSpPr>
        <p:spPr>
          <a:xfrm>
            <a:off x="777240" y="2926080"/>
            <a:ext cx="4846320" cy="26517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SAE J1979, ISO 15031, ISO 15765-4, ISO 3779</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Las fórmulas de conversión de cada PID</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La decodificación del VIN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Todo eso vive en el dominio, sin mezclarse con la base de datos ni con el LLM</a:t>
            </a:r>
            <a:endParaRPr lang="en-US" sz="1600" dirty="0"/>
          </a:p>
        </p:txBody>
      </p:sp>
      <p:sp>
        <p:nvSpPr>
          <p:cNvPr id="6" name="Text 4"/>
          <p:cNvSpPr/>
          <p:nvPr/>
        </p:nvSpPr>
        <p:spPr>
          <a:xfrm>
            <a:off x="6537960" y="2331720"/>
            <a:ext cx="4846320" cy="365760"/>
          </a:xfrm>
          <a:prstGeom prst="rect">
            <a:avLst/>
          </a:prstGeom>
          <a:noFill/>
          <a:ln/>
        </p:spPr>
        <p:txBody>
          <a:bodyPr wrap="square" lIns="0" tIns="0" rIns="0" bIns="0" rtlCol="0" anchor="t"/>
          <a:lstStyle/>
          <a:p>
            <a:pPr indent="0" marL="0">
              <a:buNone/>
            </a:pPr>
            <a:r>
              <a:rPr lang="en-US" sz="2000" b="1" dirty="0">
                <a:solidFill>
                  <a:srgbClr val="5A5F73"/>
                </a:solidFill>
                <a:latin typeface="Arial" pitchFamily="34" charset="0"/>
                <a:ea typeface="Arial" pitchFamily="34" charset="-122"/>
                <a:cs typeface="Arial" pitchFamily="34" charset="-120"/>
              </a:rPr>
              <a:t>Por qué no orientada a eventos</a:t>
            </a:r>
            <a:endParaRPr lang="en-US" sz="2000" dirty="0"/>
          </a:p>
        </p:txBody>
      </p:sp>
      <p:sp>
        <p:nvSpPr>
          <p:cNvPr id="7" name="Text 5"/>
          <p:cNvSpPr/>
          <p:nvPr/>
        </p:nvSpPr>
        <p:spPr>
          <a:xfrm>
            <a:off x="6537960" y="2926080"/>
            <a:ext cx="4846320" cy="26517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No hay varios servicios que desacoplar: es un proceso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mecánico pregunta y espera respuesta: el flujo es síncrono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Añadiría broker, colas y consistencia eventual sin ganar nada</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Las tres capas</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Las flechas van hacia dentro: dominio  ←  aplicación  ←  infraestructura.</a:t>
            </a:r>
            <a:endParaRPr lang="en-US" sz="1700" dirty="0"/>
          </a:p>
        </p:txBody>
      </p:sp>
      <p:sp>
        <p:nvSpPr>
          <p:cNvPr id="4" name="Text 2"/>
          <p:cNvSpPr/>
          <p:nvPr/>
        </p:nvSpPr>
        <p:spPr>
          <a:xfrm>
            <a:off x="777240" y="2377440"/>
            <a:ext cx="329184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Dominio</a:t>
            </a:r>
            <a:endParaRPr lang="en-US" sz="2000" dirty="0"/>
          </a:p>
        </p:txBody>
      </p:sp>
      <p:sp>
        <p:nvSpPr>
          <p:cNvPr id="5" name="Text 3"/>
          <p:cNvSpPr/>
          <p:nvPr/>
        </p:nvSpPr>
        <p:spPr>
          <a:xfrm>
            <a:off x="777240" y="2788920"/>
            <a:ext cx="3291840" cy="292608"/>
          </a:xfrm>
          <a:prstGeom prst="rect">
            <a:avLst/>
          </a:prstGeom>
          <a:noFill/>
          <a:ln/>
        </p:spPr>
        <p:txBody>
          <a:bodyPr wrap="square" lIns="0" tIns="0" rIns="0" bIns="0" rtlCol="0" anchor="t"/>
          <a:lstStyle/>
          <a:p>
            <a:pPr indent="0" marL="0">
              <a:buNone/>
            </a:pPr>
            <a:r>
              <a:rPr lang="en-US" sz="1300" i="1" dirty="0">
                <a:solidFill>
                  <a:srgbClr val="5A5F73"/>
                </a:solidFill>
                <a:latin typeface="Calibri" pitchFamily="34" charset="0"/>
                <a:ea typeface="Calibri" pitchFamily="34" charset="-122"/>
                <a:cs typeface="Calibri" pitchFamily="34" charset="-120"/>
              </a:rPr>
              <a:t>No importa nada de fuera</a:t>
            </a:r>
            <a:endParaRPr lang="en-US" sz="1300" dirty="0"/>
          </a:p>
        </p:txBody>
      </p:sp>
      <p:sp>
        <p:nvSpPr>
          <p:cNvPr id="6" name="Text 4"/>
          <p:cNvSpPr/>
          <p:nvPr/>
        </p:nvSpPr>
        <p:spPr>
          <a:xfrm>
            <a:off x="777240" y="3246120"/>
            <a:ext cx="3291840" cy="2286000"/>
          </a:xfrm>
          <a:prstGeom prst="rect">
            <a:avLst/>
          </a:prstGeom>
          <a:noFill/>
          <a:ln/>
        </p:spPr>
        <p:txBody>
          <a:bodyPr wrap="square" lIns="0" tIns="0" rIns="0" bIns="0" rtlCol="0" anchor="t"/>
          <a:lstStyle/>
          <a:p>
            <a:pPr marL="342900" indent="-342900">
              <a:lnSpc>
                <a:spcPts val="2000"/>
              </a:lnSpc>
              <a:spcAft>
                <a:spcPts val="1200"/>
              </a:spcAft>
              <a:buSzPct val="100000"/>
              <a:buChar char="•"/>
            </a:pPr>
            <a:r>
              <a:rPr lang="en-US" sz="1400" dirty="0">
                <a:solidFill>
                  <a:srgbClr val="1A1C2E"/>
                </a:solidFill>
                <a:latin typeface="Calibri" pitchFamily="34" charset="0"/>
                <a:ea typeface="Calibri" pitchFamily="34" charset="-122"/>
                <a:cs typeface="Calibri" pitchFamily="34" charset="-120"/>
              </a:rPr>
              <a:t>Vin, DtcCode, PidCode, Formula</a:t>
            </a:r>
            <a:endParaRPr lang="en-US" sz="1400" dirty="0"/>
          </a:p>
          <a:p>
            <a:pPr marL="342900" indent="-342900">
              <a:lnSpc>
                <a:spcPts val="2000"/>
              </a:lnSpc>
              <a:spcAft>
                <a:spcPts val="1200"/>
              </a:spcAft>
              <a:buSzPct val="100000"/>
              <a:buChar char="•"/>
            </a:pPr>
            <a:r>
              <a:rPr lang="en-US" sz="1400" dirty="0">
                <a:solidFill>
                  <a:srgbClr val="1A1C2E"/>
                </a:solidFill>
                <a:latin typeface="Calibri" pitchFamily="34" charset="0"/>
                <a:ea typeface="Calibri" pitchFamily="34" charset="-122"/>
                <a:cs typeface="Calibri" pitchFamily="34" charset="-120"/>
              </a:rPr>
              <a:t>Catálogos de PID, DTC y direcciones de ECU</a:t>
            </a:r>
            <a:endParaRPr lang="en-US" sz="1400" dirty="0"/>
          </a:p>
          <a:p>
            <a:pPr marL="342900" indent="-342900">
              <a:lnSpc>
                <a:spcPts val="2000"/>
              </a:lnSpc>
              <a:spcAft>
                <a:spcPts val="1200"/>
              </a:spcAft>
              <a:buSzPct val="100000"/>
              <a:buChar char="•"/>
            </a:pPr>
            <a:r>
              <a:rPr lang="en-US" sz="1400" dirty="0">
                <a:solidFill>
                  <a:srgbClr val="1A1C2E"/>
                </a:solidFill>
                <a:latin typeface="Calibri" pitchFamily="34" charset="0"/>
                <a:ea typeface="Calibri" pitchFamily="34" charset="-122"/>
                <a:cs typeface="Calibri" pitchFamily="34" charset="-120"/>
              </a:rPr>
              <a:t>Las normas SAE J1979 e ISO</a:t>
            </a:r>
            <a:endParaRPr lang="en-US" sz="1400" dirty="0"/>
          </a:p>
        </p:txBody>
      </p:sp>
      <p:sp>
        <p:nvSpPr>
          <p:cNvPr id="7" name="Text 5"/>
          <p:cNvSpPr/>
          <p:nvPr/>
        </p:nvSpPr>
        <p:spPr>
          <a:xfrm>
            <a:off x="4434840" y="2377440"/>
            <a:ext cx="329184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Aplicación</a:t>
            </a:r>
            <a:endParaRPr lang="en-US" sz="2000" dirty="0"/>
          </a:p>
        </p:txBody>
      </p:sp>
      <p:sp>
        <p:nvSpPr>
          <p:cNvPr id="8" name="Text 6"/>
          <p:cNvSpPr/>
          <p:nvPr/>
        </p:nvSpPr>
        <p:spPr>
          <a:xfrm>
            <a:off x="4434840" y="2788920"/>
            <a:ext cx="3291840" cy="292608"/>
          </a:xfrm>
          <a:prstGeom prst="rect">
            <a:avLst/>
          </a:prstGeom>
          <a:noFill/>
          <a:ln/>
        </p:spPr>
        <p:txBody>
          <a:bodyPr wrap="square" lIns="0" tIns="0" rIns="0" bIns="0" rtlCol="0" anchor="t"/>
          <a:lstStyle/>
          <a:p>
            <a:pPr indent="0" marL="0">
              <a:buNone/>
            </a:pPr>
            <a:r>
              <a:rPr lang="en-US" sz="1300" i="1" dirty="0">
                <a:solidFill>
                  <a:srgbClr val="5A5F73"/>
                </a:solidFill>
                <a:latin typeface="Calibri" pitchFamily="34" charset="0"/>
                <a:ea typeface="Calibri" pitchFamily="34" charset="-122"/>
                <a:cs typeface="Calibri" pitchFamily="34" charset="-120"/>
              </a:rPr>
              <a:t>Solo conoce el dominio</a:t>
            </a:r>
            <a:endParaRPr lang="en-US" sz="1300" dirty="0"/>
          </a:p>
        </p:txBody>
      </p:sp>
      <p:sp>
        <p:nvSpPr>
          <p:cNvPr id="9" name="Text 7"/>
          <p:cNvSpPr/>
          <p:nvPr/>
        </p:nvSpPr>
        <p:spPr>
          <a:xfrm>
            <a:off x="4434840" y="3246120"/>
            <a:ext cx="3291840" cy="2286000"/>
          </a:xfrm>
          <a:prstGeom prst="rect">
            <a:avLst/>
          </a:prstGeom>
          <a:noFill/>
          <a:ln/>
        </p:spPr>
        <p:txBody>
          <a:bodyPr wrap="square" lIns="0" tIns="0" rIns="0" bIns="0" rtlCol="0" anchor="t"/>
          <a:lstStyle/>
          <a:p>
            <a:pPr marL="342900" indent="-342900">
              <a:lnSpc>
                <a:spcPts val="2000"/>
              </a:lnSpc>
              <a:spcAft>
                <a:spcPts val="1200"/>
              </a:spcAft>
              <a:buSzPct val="100000"/>
              <a:buChar char="•"/>
            </a:pPr>
            <a:r>
              <a:rPr lang="en-US" sz="1400" dirty="0">
                <a:solidFill>
                  <a:srgbClr val="1A1C2E"/>
                </a:solidFill>
                <a:latin typeface="Calibri" pitchFamily="34" charset="0"/>
                <a:ea typeface="Calibri" pitchFamily="34" charset="-122"/>
                <a:cs typeface="Calibri" pitchFamily="34" charset="-120"/>
              </a:rPr>
              <a:t>IdentifyVehicle, GetLiveData, GetEcuInfo</a:t>
            </a:r>
            <a:endParaRPr lang="en-US" sz="1400" dirty="0"/>
          </a:p>
          <a:p>
            <a:pPr marL="342900" indent="-342900">
              <a:lnSpc>
                <a:spcPts val="2000"/>
              </a:lnSpc>
              <a:spcAft>
                <a:spcPts val="1200"/>
              </a:spcAft>
              <a:buSzPct val="100000"/>
              <a:buChar char="•"/>
            </a:pPr>
            <a:r>
              <a:rPr lang="en-US" sz="1400" dirty="0">
                <a:solidFill>
                  <a:srgbClr val="1A1C2E"/>
                </a:solidFill>
                <a:latin typeface="Calibri" pitchFamily="34" charset="0"/>
                <a:ea typeface="Calibri" pitchFamily="34" charset="-122"/>
                <a:cs typeface="Calibri" pitchFamily="34" charset="-120"/>
              </a:rPr>
              <a:t>ProcessVehicleDiagnosis, ExecuteCognitiveDiagnosis</a:t>
            </a:r>
            <a:endParaRPr lang="en-US" sz="1400" dirty="0"/>
          </a:p>
          <a:p>
            <a:pPr marL="342900" indent="-342900">
              <a:lnSpc>
                <a:spcPts val="2000"/>
              </a:lnSpc>
              <a:spcAft>
                <a:spcPts val="1200"/>
              </a:spcAft>
              <a:buSzPct val="100000"/>
              <a:buChar char="•"/>
            </a:pPr>
            <a:r>
              <a:rPr lang="en-US" sz="1400" dirty="0">
                <a:solidFill>
                  <a:srgbClr val="1A1C2E"/>
                </a:solidFill>
                <a:latin typeface="Calibri" pitchFamily="34" charset="0"/>
                <a:ea typeface="Calibri" pitchFamily="34" charset="-122"/>
                <a:cs typeface="Calibri" pitchFamily="34" charset="-120"/>
              </a:rPr>
              <a:t>Los puertos: ObdRepository, LlmClientPort…</a:t>
            </a:r>
            <a:endParaRPr lang="en-US" sz="1400" dirty="0"/>
          </a:p>
        </p:txBody>
      </p:sp>
      <p:sp>
        <p:nvSpPr>
          <p:cNvPr id="10" name="Text 8"/>
          <p:cNvSpPr/>
          <p:nvPr/>
        </p:nvSpPr>
        <p:spPr>
          <a:xfrm>
            <a:off x="8092440" y="2377440"/>
            <a:ext cx="329184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Infraestructura</a:t>
            </a:r>
            <a:endParaRPr lang="en-US" sz="2000" dirty="0"/>
          </a:p>
        </p:txBody>
      </p:sp>
      <p:sp>
        <p:nvSpPr>
          <p:cNvPr id="11" name="Text 9"/>
          <p:cNvSpPr/>
          <p:nvPr/>
        </p:nvSpPr>
        <p:spPr>
          <a:xfrm>
            <a:off x="8092440" y="2788920"/>
            <a:ext cx="3291840" cy="292608"/>
          </a:xfrm>
          <a:prstGeom prst="rect">
            <a:avLst/>
          </a:prstGeom>
          <a:noFill/>
          <a:ln/>
        </p:spPr>
        <p:txBody>
          <a:bodyPr wrap="square" lIns="0" tIns="0" rIns="0" bIns="0" rtlCol="0" anchor="t"/>
          <a:lstStyle/>
          <a:p>
            <a:pPr indent="0" marL="0">
              <a:buNone/>
            </a:pPr>
            <a:r>
              <a:rPr lang="en-US" sz="1300" i="1" dirty="0">
                <a:solidFill>
                  <a:srgbClr val="5A5F73"/>
                </a:solidFill>
                <a:latin typeface="Calibri" pitchFamily="34" charset="0"/>
                <a:ea typeface="Calibri" pitchFamily="34" charset="-122"/>
                <a:cs typeface="Calibri" pitchFamily="34" charset="-120"/>
              </a:rPr>
              <a:t>Implementa los puertos</a:t>
            </a:r>
            <a:endParaRPr lang="en-US" sz="1300" dirty="0"/>
          </a:p>
        </p:txBody>
      </p:sp>
      <p:sp>
        <p:nvSpPr>
          <p:cNvPr id="12" name="Text 10"/>
          <p:cNvSpPr/>
          <p:nvPr/>
        </p:nvSpPr>
        <p:spPr>
          <a:xfrm>
            <a:off x="8092440" y="3246120"/>
            <a:ext cx="3291840" cy="2286000"/>
          </a:xfrm>
          <a:prstGeom prst="rect">
            <a:avLst/>
          </a:prstGeom>
          <a:noFill/>
          <a:ln/>
        </p:spPr>
        <p:txBody>
          <a:bodyPr wrap="square" lIns="0" tIns="0" rIns="0" bIns="0" rtlCol="0" anchor="t"/>
          <a:lstStyle/>
          <a:p>
            <a:pPr marL="342900" indent="-342900">
              <a:lnSpc>
                <a:spcPts val="2000"/>
              </a:lnSpc>
              <a:spcAft>
                <a:spcPts val="1200"/>
              </a:spcAft>
              <a:buSzPct val="100000"/>
              <a:buChar char="•"/>
            </a:pPr>
            <a:r>
              <a:rPr lang="en-US" sz="1400" dirty="0">
                <a:solidFill>
                  <a:srgbClr val="1A1C2E"/>
                </a:solidFill>
                <a:latin typeface="Calibri" pitchFamily="34" charset="0"/>
                <a:ea typeface="Calibri" pitchFamily="34" charset="-122"/>
                <a:cs typeface="Calibri" pitchFamily="34" charset="-120"/>
              </a:rPr>
              <a:t>Express, Drizzle + SQLite, LanceDB</a:t>
            </a:r>
            <a:endParaRPr lang="en-US" sz="1400" dirty="0"/>
          </a:p>
          <a:p>
            <a:pPr marL="342900" indent="-342900">
              <a:lnSpc>
                <a:spcPts val="2000"/>
              </a:lnSpc>
              <a:spcAft>
                <a:spcPts val="1200"/>
              </a:spcAft>
              <a:buSzPct val="100000"/>
              <a:buChar char="•"/>
            </a:pPr>
            <a:r>
              <a:rPr lang="en-US" sz="1400" dirty="0">
                <a:solidFill>
                  <a:srgbClr val="1A1C2E"/>
                </a:solidFill>
                <a:latin typeface="Calibri" pitchFamily="34" charset="0"/>
                <a:ea typeface="Calibri" pitchFamily="34" charset="-122"/>
                <a:cs typeface="Calibri" pitchFamily="34" charset="-120"/>
              </a:rPr>
              <a:t>Servidor MCP, clientes de Anthropic y OpenAI</a:t>
            </a:r>
            <a:endParaRPr lang="en-US" sz="1400" dirty="0"/>
          </a:p>
          <a:p>
            <a:pPr marL="342900" indent="-342900">
              <a:lnSpc>
                <a:spcPts val="2000"/>
              </a:lnSpc>
              <a:spcAft>
                <a:spcPts val="1200"/>
              </a:spcAft>
              <a:buSzPct val="100000"/>
              <a:buChar char="•"/>
            </a:pPr>
            <a:r>
              <a:rPr lang="en-US" sz="1400" dirty="0">
                <a:solidFill>
                  <a:srgbClr val="1A1C2E"/>
                </a:solidFill>
                <a:latin typeface="Calibri" pitchFamily="34" charset="0"/>
                <a:ea typeface="Calibri" pitchFamily="34" charset="-122"/>
                <a:cs typeface="Calibri" pitchFamily="34" charset="-120"/>
              </a:rPr>
              <a:t>Transporte ELM327 y simulador</a:t>
            </a:r>
            <a:endParaRPr lang="en-US" sz="1400" dirty="0"/>
          </a:p>
        </p:txBody>
      </p:sp>
      <p:sp>
        <p:nvSpPr>
          <p:cNvPr id="13" name="Text 11"/>
          <p:cNvSpPr/>
          <p:nvPr/>
        </p:nvSpPr>
        <p:spPr>
          <a:xfrm>
            <a:off x="777240" y="5669280"/>
            <a:ext cx="10607040" cy="365760"/>
          </a:xfrm>
          <a:prstGeom prst="rect">
            <a:avLst/>
          </a:prstGeom>
          <a:noFill/>
          <a:ln/>
        </p:spPr>
        <p:txBody>
          <a:bodyPr wrap="square" lIns="0" tIns="0" rIns="0" bIns="0" rtlCol="0" anchor="ctr"/>
          <a:lstStyle/>
          <a:p>
            <a:pPr indent="0" marL="0">
              <a:buNone/>
            </a:pPr>
            <a:r>
              <a:rPr lang="en-US" sz="1500" dirty="0">
                <a:solidFill>
                  <a:srgbClr val="5A5F73"/>
                </a:solidFill>
                <a:latin typeface="Calibri" pitchFamily="34" charset="0"/>
                <a:ea typeface="Calibri" pitchFamily="34" charset="-122"/>
                <a:cs typeface="Calibri" pitchFamily="34" charset="-120"/>
              </a:rPr>
              <a:t>El dominio no sabe que existe SQLite, ni Express, ni ningún LLM.</a:t>
            </a:r>
            <a:endParaRPr lang="en-US" sz="15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2026-08-25T10:31:12Z</dcterms:created>
  <dcterms:modified xsi:type="dcterms:W3CDTF">2026-08-25T10:31:12Z</dcterms:modified>
</cp:coreProperties>
</file>