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Jesús Ángel Novillo y presento mi Trabajo Fin de Máster del Máster en Desarrollo con IA de BIG school.
El proyecto se llama Intelligent Automotive Diagnostics: una herramienta que se conecta al coche por el puerto OBD-II, lee sus datos reales y razona sobre ellos con un modelo de lenguaje.
Lo de la derecha no es una maqueta: es la aplicación funcionando, mostrando tres averías que acaba de leer de la centralita.
[~15 s · acumulado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llegas con una máquina de diagnosis, la conectas, y te da diez códigos de error. Cada uno te dice una cosa: válvula EGR obstruida, filtro de partículas lleno.
Vale. Pero esa válvula se ha obstruido por alguna circunstancia, y ese filtro se ha llenado por alguna circunstancia. Y eso la máquina no te lo dice.
Te deja la lista delante, y el trabajo de averiguar el porqué sigue entero por hacer.
[~45 s · acumulado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¿Cuál es la gracia que tiene esta aplicación con la IA? Que con esos dos códigos y esos datos, el agente dice: vale, tengo el P0401, que es la válvula EGR obstruida, y el P2002, que es el filtro de partículas lleno. Voy a mirar a ver por qué puede ser esto.
Y hace una diagnosis: esto se produce, puede ser por esto o puede ser por lo otro. Le da al mecánico una serie de opciones.
Y además le dice qué pasos puede seguir para llegar a determinar de dónde viene el problema. Eso es lo que hace la aplicación.
[~55 s · acumulado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flujo de trabajo completo.
Arranca arriba a la izquierda, donde arranca de verdad: se enchufa el adaptador al conector del coche y se pulsa iniciar. A partir de ahí va solo. Se lee el bastidor y se identifica el vehículo, se barre el bus para ver qué centralitas responden, se leen los datos en vivo, las averías y el freeze frame, y se calcula la severidad. Todo eso sale en pantalla.
Y llega la decisión: ¿el mecánico pregunta al agente o no?
Si no pregunta, se acaba ahí y la sesión queda guardada. Eso es importante: sin IA de por medio, el mecánico ya tiene un diagnóstico. Si no hay modelo configurado o el taller no tiene internet, la herramienta sigue sirviendo.
Si pregunta, se pasa a la columna de la derecha. Antes de llamar al modelo se buscan casos parecidos de diagnósticos anteriores. El agente va pidiendo lo que le falta: el catálogo, más lecturas del coche o una búsqueda web. Responde con la explicación, la severidad y qué conviene revisar. Y el caso se indexa.
Ese último paso es el que hace que el sistema mejore: queda disponible para el siguiente coche que entre con síntomas parecidos.
[~75 s · acumulado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Clean Architecture y no otra cosa? Porque en este proyecto el dominio no es algo que me haya inventado yo: son normas. SAE J1979, ISO 15031, ISO 15765-4 para el bus CAN, ISO 3779 para el VIN. Las fórmulas que convierten cada PID en una magnitud física, y la decodificación del bastidor. Eso no lo cambia nadie, y no puede estar mezclado con el acceso a datos ni con el modelo de lenguaje.
¿Y por qué no orientada a eventos? Porque aquí no hay varios servicios que desacoplar: es un solo proceso. El flujo es síncrono, el mecánico pregunta y se queda esperando. Un broker y colas me traerían consistencia eventual y mucha más superficie de depuración sin ganar nada. Y soy un solo programador: cuantas más piezas móviles, más sitio donde romper.
Abajo está el ejemplo concreto de este proyecto. En el dominio, los value objects y los catálogos. En aplicación, los casos de uso y los puertos, que dicen qué hace falta pero no cómo. Y en infraestructura el cómo: Express, Drizzle sobre SQLite, LanceDB, el servidor MCP y el transporte del ELM327.
El dominio no sabe que existe SQLite, ni Express, ni ningún modelo de lenguaje.
[~80 s · acumulado 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todo lo que hay que entender del OBD-II para seguir el resto de la charla.
La aplicación quiere saber a cuántas revoluciones está el motor. Manda dos bytes: 01 0C. El 01 es el modo, que en la norma significa "dame un dato en vivo", y el 0C es el PID concreto, las revoluciones.
Eso sale por el adaptador ELM327, que es el cachivache que se enchufa al conector del coche, entra en el bus CAN, y llega a la centralita del motor.
La centralita contesta 41 0C 0B B8. El 41 es el 01 más cuarenta, que es como la norma marca que es una respuesta. El 0C confirma qué PID contesta. Y los dos últimos bytes son el dato en crudo.
Ese dato no son revoluciones todavía. Hay que aplicarle la fórmula del PID: A por 256 más B, dividido entre 4. Con 0B y B8, eso da 750 revoluciones.
Esa fórmula la fija la SAE J1979, y por eso está en el dominio y no en el código que habla con el cable.
[~70 s · acumulado 5:25]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tiene dos bases de datos, y cada una guarda una cosa distinta.
En SQLite va todo lo que se pide por una clave: los usuarios, que pueden ser particulares o talleres, los vehículos, las ECUs que se les han descubierto, las sesiones de diagnóstico, y los catálogos que vienen de la norma. Todo eso se consulta por una clave: dame el vehículo con este VIN, dame las sesiones de este usuario.
En la vectorial va ese mismo conocimiento pero indexado por significado, más los diagnósticos ya resueltos, que solo están ahí. La diferencia no es qué se guarda, es cómo se busca: en SQLite pregunto por una clave, y en la vectorial pido "enséñame algo parecido a esto".
Y no vale con una sola. SQLite tiene buscador de texto, pero busca palabras: si el mecánico escribe "presión de aceite", no encuentra una ficha que ponga "oil pressure". La búsqueda vectorial sí, porque compara significado.
Las dos son embebidas: un fichero y un directorio en disco. Cero servidores.
[~55 s · acumulado 6:20]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SQLite hay trece tablas, y ahí está todo lo que se puede pedir por una clave exacta.
Los usuarios, que pueden ser particulares o talleres, con su rol. Los vehículos, identificados por su VIN, y las ECUs que se le han descubierto a cada uno en el bus. Las sesiones de diagnóstico, y de cada una el informe congelado, tal como salió ese día. Las lecturas de PID, guardando tanto el hexadecimal crudo que devolvió la centralita como el valor ya convertido. Y los logs y la auditoría de cada petición HTTP, que es requisito de OWASP.
Al arrancar, la base se siembra: veinte PIDs de la norma SAE J1979, veintitrés códigos DTC estándar y veintisiete fabricantes por su código WMI, que es lo que permite sacar la marca de un VIN. Pero el catálogo no se queda ahí: cuando el agente lee un PID que no conoce, se inserta solo en esta base con confianza 0,3 y una fórmula asumida, marcado como auto-descubierto. Vale como pista, no como dato confirmado, hasta que se valida contra el coche.
Es un fichero en disco, sin servidor. PostgreSQL se descartó porque a esta escala solo añadía un servicio, una red y un backup que mantener, sin resolver ningún problema que yo tuviera.
[~60 s · acumulado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base vectorial no van los datos del taller: esos están en SQLite. Aquí va solo lo que el sistema aprende. Hay PIDs propietarios, que cada fabricante se inventa fuera de la norma y es imposible traer precargados; DTCs específicos de una marca; y casos resueltos.
A la izquierda tenéis un caso resuelto tal cual se guarda. El campo embeddedText es el texto que se convierte en vector, y es lo que luego permite encontrarlo por parecido. Los síntomas y los PIDs implicados van aparte, y el fabricante y el modelo también, para poder filtrar: si estoy con un Audi no quiero que me salgan casos de una Kawasaki.
Y luego está el índice de confianza, que se lo ponemos nosotros al guardar según de dónde venga el dato. Si lo encontró el agente en internet entra con 0,3. Si viene de un diagnóstico anterior, 0,5. Si lo aportó el mecánico a mano, 0,8, porque una persona delante del coche sabe más que una web cualquiera. Y si se ha leído del propio coche por OBD es un hecho: 1,0. Comprobar un dato contra el coche sube la web a 0,7 y al mecánico a 0,9.
Ese índice no es decorativo: es lo que pondera las búsquedas. Cuando al agente le llegan dos respuestas que se contradicen, gana la que más confianza tiene.
[Si preguntan por el escalado] Hay dos mecanismos distintos y conviene no mezclarlos. Que el mecánico aporte o confirme un dato sube su confianza a 0,8, y validarlo contra el coche lo lleva a 0,9: eso está implementado y funciona. Lo que dejé fuera a propósito es subir la confianza de un caso cada vez que se reutiliza con acierto. La función existe y está testeada, pero no la llamo desde ningún flujo, porque para eso haría falta saber que el diagnóstico acertó de verdad, y nadie le dice al sistema si el coche se arregló. Inventármelo habría degradado el catálogo.
[~70 s · acumulado 8:30]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no toca el coche directamente. Lo que hace es pedir herramientas, y el sistema decide si las ejecuta y con qué argumentos. Ese contrato es el MCP, el Model Context Protocol.
A la izquierda están las dieciséis que he construido, con su nombre. Siete son de diagnóstico: leer el bastidor, leer un PID, preguntar qué PIDs soporta el coche, los códigos de avería, el freeze frame, la información del vehículo y la de las centralitas. Ocho son de conocimiento, y van por parejas: cuatro para buscar parecidos y cuatro para indexar lo aprendido, de PIDs, DTCs, diagnósticos y ECUs. Y una de búsqueda web, con un presupuesto limitado por diagnóstico para que el agente no se vaya a internet sin control.
¿Y por qué MCP? Primero, porque es el estándar que existe hoy para que un modelo pida herramientas. No es un protocolo de propósito general: sirve exactamente para esto.
Y segundo, que para mí es lo importante: el modelo solo puede actuar a través de esas dieciséis. No hay otra puerta. No ejecuta código, no consulta la base de datos por su cuenta, no llama a ningún otro endpoint. Si quiere saber a cuántas revoluciones está el motor, tiene que pedir la herramienta de leer un PID, y ahí decido yo si se ejecuta y con qué argumentos. Eso acota lo que el agente puede hacer, y en un sistema que se conecta a un coche de verdad no es un detalle menor.
Además, cada herramienta declara su esquema, así que los argumentos se validan antes de ejecutar nada. Y el servidor MCP vive en infraestructura: es un adaptador más, el modelo nunca ve el dominio. Como es un protocolo, ese mismo servidor serviría a cualquier otro cliente que lo hable.
[~75 s · acumulado 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completo, desde que el mecánico le da al botón.
Lo primero que pasa no lo hace la IA: el flujo determinista lee los PIDs generales del modo 01, los códigos de avería y el freeze frame. Eso está ahí sí o sí.
Cuando el mecánico entra al chat, antes de llamar al modelo el sistema hace una búsqueda en la base vectorial de casos parecidos a este, y los mete en el prompt. Van etiquetados como "muy similar", "similar" o "relacionado", nunca con el número de distancia, porque cuando le pasaba el número el modelo lo repetía en la respuesta y eso es ruido para el mecánico. Y van envueltos en una marca de contenido no fiable, porque ese catálogo lo alimentan otros usuarios.
A partir de ahí empieza el ciclo. El modelo pide herramientas, el sistema las ejecuta y le devuelve el resultado, y el modelo decide qué pedir después. Ese bucle tiene dos topes: diez vueltas como máximo y sesenta segundos.
Cuando termina, devuelve dos cosas: la explicación en lenguaje normal para el mecánico, y un bloque JSON con la severidad, la confianza y las recomendaciones, que es lo que la aplicación pinta en pantalla. Si no hay explicación, se lanza un error a propósito y no se guarda nada: un caso vacío en el catálogo volvería luego como "caso similar" y contaminaría los diagnósticos siguientes.
Y por último el caso se indexa con confianza 0,5, que es la de diagnóstico anterior.
El system prompt tiene once bloques. No es solo decirle "eres un mecánico": hay bloques de exploración, de consultar el catálogo antes de inventar, de aprendizaje para PIDs, DTCs y ECUs, de ámbito, de no revelar sus propias tripas, de contenido no fiable y del formato de salida.
[~80 s · acumulado 11:05]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hay dos modelos, y no hacen lo mismo.
El de lenguaje es el que razona, y es intercambiable: una variable de entorno decide si va contra Anthropic o contra OpenAI. Los dos clientes implementan el mismo puerto, así que la capa de aplicación no se entera de cuál hay detrás. Y el adaptador de OpenAI no vale solo para OpenAI: sirve para cualquier proveedor compatible con su API —DeepSeek, Groq, Mistral, xAI— cambiando la URL base. Si no hay ninguno configurado, el diagnóstico determinista sigue funcionando.
El de embeddings es distinto: no se cambia, va dentro. Es un modelo pequeño que corre en la propia máquina con transformers.js. Coge un texto —la descripción de un PID, la narrativa de un diagnóstico— y lo convierte en 384 números, normalizados, que es lo que se guarda en la base vectorial. Buscar por parecido es comparar esos vectores.
Que corra en local significa tres cosas: no hace falta clave, no hay latencia de red y no se paga por consulta. Y como es multilingüe, español e inglés caen cerca en ese espacio: por eso "presión de aceite" encuentra una ficha que pone "oil pressure", que es justo lo que un buscador de texto no hace.
[~65 s · acumulado 12:10]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hace dos diagnósticos distintos, y conviven.
El determinista es el de toda la vida. Lee cuatro PIDs fijos —revoluciones, temperatura de refrigerante, velocidad y temperatura de admisión—, los códigos de avería y el freeze frame. Y la criticidad no me la invento: sale de una regla en el dominio, computeSeverity. Si no hay códigos es baja; si hay freeze frame es crítica, porque significa que la centralita congeló el momento del fallo; y si hay códigos sin freeze frame es alta. Solo necesita el coche conectado, responde al momento, y no aprende nada.
El cognitivo es el otro. Ahí no hay una lista fija de PIDs: el agente decide qué le hace falta leer y va llamando a las herramientas según lo que encuentra. A cambio necesita tres cosas: el coche, la API del modelo y los índices vectoriales. Tarda más, con un límite de sesenta segundos. Y es el único que aprende: indexa los PIDs y DTCs nuevos y guarda el caso resuelto.
Por eso conviven. Si no hay modelo configurado, o si no hay internet en el taller, el determinista sigue funcionando.
[~65 s · acumulado 13:15]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la aplicación corriendo contra un Audi A3 2.0 TDI. Y quiero subrayar una cosa: nada de lo que se ve está escrito a mano. Todo sale del bus del coche.
Arriba a la izquierda, la identificación. El sistema no sabe qué coche es: lo pregunta con el modo 09, saca el bastidor, decodifica el WMI y resuelve Audi, fabricado en Alemania. De ahí salen marca, modelo, año y motor.
Al lado, la telemetría en vivo, y debajo los PIDs que este vehículo declara soportar, que no son una lista fija: se leen del bitmask del PID 00.
Abajo a la izquierda, las averías. Tres códigos confirmados, y las tres pestañas son los servicios 03, 07 y 0A del estándar: almacenadas, pendientes y permanentes.
Y a la derecha el informe, que se congela con la sesión: si dentro de seis meses alguien abre ese diagnóstico, ve exactamente lo que se vio ese día.
[~2 min contando la demo. Si hay vídeo del coche real, va aquí. · acumulado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qué está hecho, por piezas.
Todo es TypeScript en modo estricto, sobre Node 22, tanto el backend como el frontend.
La API es Express 5, con Zod para validar todo lo que entra, Helmet para las cabeceras de seguridad, JWT para la autenticación y pino para el log estructurado. La persistencia relacional es SQLite con Drizzle, que es un ORM cuyos esquemas son TypeScript, no un fichero aparte. La búsqueda vectorial es LanceDB, con el modelo de embeddings corriendo en local vía transformers.js.
El agente usa el SDK oficial de MCP, y por debajo el de Anthropic o el de OpenAI según lo que esté configurado. El acceso al coche es un ELM327, por puerto serie o por TCP, y para la demo un emulador escrito en Python.
La interfaz es React 19 con Vite y TanStack, y las pruebas son Vitest para unidad, supertest para los endpoints y Playwright para el extremo a extremo. Y la entrega va con GitHub Actions, Docker y Caddy delante.
Lo importante no es la lista: es que todo lo que aparece de la tercera fila para abajo está detrás de un puerto, así que se puede sustituir sin tocar la lógica.
[~55 s · acumulado 16:10]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proyecto lo he hecho yo solo, así que lo que avisa de las roturas no es un compañero: es el CI.
El código se escribe con TDD, primero el test que falla y luego el código mínimo que lo pasa. Ahora mismo hay 2.171 pruebas en verde repartidas en 209 ficheros, entre el backend y el frontend.
Y la cobertura no se mide de media, que es la trampa habitual: está configurada por fichero. Un fichero sin tests no puede esconderse detrás de otro que esté muy cubierto.
Cada cambio va documentado con OpenSpec antes de escribirse: hay 45 cambios especificados y archivados, con su diseño, sus specs y sus tareas.
En cada push, el CI corre lint, formato, los tests, el build y el typecheck, para las dos aplicaciones en paralelo sobre Node 22. Y pasa una auditoría de dependencias que tumba la build si aparece una vulnerabilidad crítica.
En seguridad, el documento cubre las diez categorías del OWASP API Top 10 de 2023, una a una, con lo que hace el código en cada caso. Incluidos los riesgos residuales, que están escritos y asumidos, no escondidos.
[~60 s · acumulado 17:10]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lo que me llevo de haber hecho esto.
Lo primero, que con IA se pueden construir cosas complejas mucho más rápido. Un proyecto como este, con su arquitectura, su capa de OBD, su base vectorial y su agente, antes habría sido cuestión de meses o de años. Y no solo va más rápido: se aprenden más cosas por el camino, porque te metes en herramientas y frameworks que de otra forma ni habrías tocado.
Pero hay una segunda parte, y la quiero decir igual de claro. La IA también se equivoca, y hay que estar encima de lo que se sube. No vale con fiarse.
Y no lo digo en abstracto: preparando esta misma presentación encontré que el umbral de cobertura del núcleo apuntaba a un fichero que se había renombrado, así que llevaba semanas sin exigir nada. Estaba verde, y no comprobaba lo que decía comprobar. Lo he documentado en la deuda conocida del proyecto.
Así que sí, acelera mucho. Pero no es todo tan bonito como parece: hay que dedicarle tiempo a revisar.
[~45 s · acumulado 17:55]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hasta aquí. Muchas gracias por la atención.
[Quedarse callado y esperar las preguntas. El backup está detrás.]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720840" y="-91440"/>
            <a:ext cx="5760720" cy="7040880"/>
          </a:xfrm>
          <a:prstGeom prst="rect">
            <a:avLst/>
          </a:prstGeom>
          <a:solidFill>
            <a:srgbClr val="1A1C2E"/>
          </a:solidFill>
          <a:ln/>
        </p:spPr>
      </p:sp>
      <p:sp>
        <p:nvSpPr>
          <p:cNvPr id="3" name="Shape 1"/>
          <p:cNvSpPr/>
          <p:nvPr/>
        </p:nvSpPr>
        <p:spPr>
          <a:xfrm>
            <a:off x="777240" y="685800"/>
            <a:ext cx="475488" cy="475488"/>
          </a:xfrm>
          <a:prstGeom prst="rect">
            <a:avLst/>
          </a:prstGeom>
          <a:solidFill>
            <a:srgbClr val="202CFC"/>
          </a:solidFill>
          <a:ln/>
        </p:spPr>
      </p:sp>
      <p:sp>
        <p:nvSpPr>
          <p:cNvPr id="4" name="Text 2"/>
          <p:cNvSpPr/>
          <p:nvPr/>
        </p:nvSpPr>
        <p:spPr>
          <a:xfrm>
            <a:off x="777240" y="685800"/>
            <a:ext cx="475488" cy="475488"/>
          </a:xfrm>
          <a:prstGeom prst="rect">
            <a:avLst/>
          </a:prstGeom>
          <a:noFill/>
          <a:ln/>
        </p:spPr>
        <p:txBody>
          <a:bodyPr wrap="square" lIns="0" tIns="0" rIns="0" bIns="0" rtlCol="0" anchor="ctr"/>
          <a:lstStyle/>
          <a:p>
            <a:pPr algn="ctr" indent="0" marL="0">
              <a:buNone/>
            </a:pPr>
            <a:r>
              <a:rPr lang="en-US" sz="1768" b="1" dirty="0">
                <a:solidFill>
                  <a:srgbClr val="FFFFFF"/>
                </a:solidFill>
                <a:latin typeface="Arial" pitchFamily="34" charset="0"/>
                <a:ea typeface="Arial" pitchFamily="34" charset="-122"/>
                <a:cs typeface="Arial" pitchFamily="34" charset="-120"/>
              </a:rPr>
              <a:t>BIG</a:t>
            </a:r>
            <a:endParaRPr lang="en-US" sz="1768" dirty="0"/>
          </a:p>
        </p:txBody>
      </p:sp>
      <p:sp>
        <p:nvSpPr>
          <p:cNvPr id="5" name="Text 3"/>
          <p:cNvSpPr/>
          <p:nvPr/>
        </p:nvSpPr>
        <p:spPr>
          <a:xfrm>
            <a:off x="1335024" y="685800"/>
            <a:ext cx="1426464" cy="475488"/>
          </a:xfrm>
          <a:prstGeom prst="rect">
            <a:avLst/>
          </a:prstGeom>
          <a:noFill/>
          <a:ln/>
        </p:spPr>
        <p:txBody>
          <a:bodyPr wrap="square" lIns="0" tIns="0" rIns="0" bIns="0" rtlCol="0" anchor="ctr"/>
          <a:lstStyle/>
          <a:p>
            <a:pPr algn="l" indent="0" marL="0">
              <a:buNone/>
            </a:pPr>
            <a:r>
              <a:rPr lang="en-US" sz="1768" dirty="0">
                <a:solidFill>
                  <a:srgbClr val="1A1C2E"/>
                </a:solidFill>
                <a:latin typeface="Arial" pitchFamily="34" charset="0"/>
                <a:ea typeface="Arial" pitchFamily="34" charset="-122"/>
                <a:cs typeface="Arial" pitchFamily="34" charset="-120"/>
              </a:rPr>
              <a:t>school</a:t>
            </a:r>
            <a:endParaRPr lang="en-US" sz="1768" dirty="0"/>
          </a:p>
        </p:txBody>
      </p:sp>
      <p:sp>
        <p:nvSpPr>
          <p:cNvPr id="6" name="Text 4"/>
          <p:cNvSpPr/>
          <p:nvPr/>
        </p:nvSpPr>
        <p:spPr>
          <a:xfrm>
            <a:off x="777240" y="2148840"/>
            <a:ext cx="5577840" cy="1737360"/>
          </a:xfrm>
          <a:prstGeom prst="rect">
            <a:avLst/>
          </a:prstGeom>
          <a:noFill/>
          <a:ln/>
        </p:spPr>
        <p:txBody>
          <a:bodyPr wrap="square" lIns="0" tIns="0" rIns="0" bIns="0" rtlCol="0" anchor="ctr"/>
          <a:lstStyle/>
          <a:p>
            <a:pPr indent="0" marL="0">
              <a:lnSpc>
                <a:spcPts val="4600"/>
              </a:lnSpc>
              <a:buNone/>
            </a:pPr>
            <a:r>
              <a:rPr lang="en-US" sz="4000" b="1" dirty="0">
                <a:solidFill>
                  <a:srgbClr val="1A1C2E"/>
                </a:solidFill>
                <a:latin typeface="Arial" pitchFamily="34" charset="0"/>
                <a:ea typeface="Arial" pitchFamily="34" charset="-122"/>
                <a:cs typeface="Arial" pitchFamily="34" charset="-120"/>
              </a:rPr>
              <a:t>Intelligent Automotive
</a:t>
            </a:r>
            <a:pPr indent="0" marL="0">
              <a:lnSpc>
                <a:spcPts val="4600"/>
              </a:lnSpc>
              <a:buNone/>
            </a:pPr>
            <a:r>
              <a:rPr lang="en-US" sz="4000" b="1" dirty="0">
                <a:solidFill>
                  <a:srgbClr val="202CFC"/>
                </a:solidFill>
                <a:latin typeface="Arial" pitchFamily="34" charset="0"/>
                <a:ea typeface="Arial" pitchFamily="34" charset="-122"/>
                <a:cs typeface="Arial" pitchFamily="34" charset="-120"/>
              </a:rPr>
              <a:t>Diagnostics</a:t>
            </a:r>
            <a:endParaRPr lang="en-US" sz="4000" dirty="0"/>
          </a:p>
        </p:txBody>
      </p:sp>
      <p:sp>
        <p:nvSpPr>
          <p:cNvPr id="7" name="Text 5"/>
          <p:cNvSpPr/>
          <p:nvPr/>
        </p:nvSpPr>
        <p:spPr>
          <a:xfrm>
            <a:off x="777240" y="3977640"/>
            <a:ext cx="5394960" cy="731520"/>
          </a:xfrm>
          <a:prstGeom prst="rect">
            <a:avLst/>
          </a:prstGeom>
          <a:noFill/>
          <a:ln/>
        </p:spPr>
        <p:txBody>
          <a:bodyPr wrap="square" lIns="0" tIns="0" rIns="0" bIns="0" rtlCol="0" anchor="ctr"/>
          <a:lstStyle/>
          <a:p>
            <a:pPr indent="0" marL="0">
              <a:lnSpc>
                <a:spcPts val="2200"/>
              </a:lnSpc>
              <a:buNone/>
            </a:pPr>
            <a:r>
              <a:rPr lang="en-US" sz="1600" dirty="0">
                <a:solidFill>
                  <a:srgbClr val="5A5F73"/>
                </a:solidFill>
                <a:latin typeface="Calibri" pitchFamily="34" charset="0"/>
                <a:ea typeface="Calibri" pitchFamily="34" charset="-122"/>
                <a:cs typeface="Calibri" pitchFamily="34" charset="-120"/>
              </a:rPr>
              <a:t>Diagnóstico OBD-II asistido por IA agéntica sobre el protocolo MCP</a:t>
            </a:r>
            <a:endParaRPr lang="en-US" sz="1600" dirty="0"/>
          </a:p>
        </p:txBody>
      </p:sp>
      <p:sp>
        <p:nvSpPr>
          <p:cNvPr id="8" name="Text 6"/>
          <p:cNvSpPr/>
          <p:nvPr/>
        </p:nvSpPr>
        <p:spPr>
          <a:xfrm>
            <a:off x="777240" y="5349240"/>
            <a:ext cx="5486400" cy="320040"/>
          </a:xfrm>
          <a:prstGeom prst="rect">
            <a:avLst/>
          </a:prstGeom>
          <a:noFill/>
          <a:ln/>
        </p:spPr>
        <p:txBody>
          <a:bodyPr wrap="square" lIns="0" tIns="0" rIns="0" bIns="0" rtlCol="0" anchor="ctr"/>
          <a:lstStyle/>
          <a:p>
            <a:pPr indent="0" marL="0">
              <a:buNone/>
            </a:pPr>
            <a:r>
              <a:rPr lang="en-US" sz="1500" b="1" dirty="0">
                <a:solidFill>
                  <a:srgbClr val="1A1C2E"/>
                </a:solidFill>
                <a:latin typeface="Arial" pitchFamily="34" charset="0"/>
                <a:ea typeface="Arial" pitchFamily="34" charset="-122"/>
                <a:cs typeface="Arial" pitchFamily="34" charset="-120"/>
              </a:rPr>
              <a:t>Jesús Ángel Novillo Lucas-Vaquero</a:t>
            </a:r>
            <a:endParaRPr lang="en-US" sz="1500" dirty="0"/>
          </a:p>
        </p:txBody>
      </p:sp>
      <p:sp>
        <p:nvSpPr>
          <p:cNvPr id="9" name="Text 7"/>
          <p:cNvSpPr/>
          <p:nvPr/>
        </p:nvSpPr>
        <p:spPr>
          <a:xfrm>
            <a:off x="777240" y="5687568"/>
            <a:ext cx="5486400" cy="32004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Trabajo Fin de Máster  ·  Máster en Desarrollo con IA  ·  BIG school</a:t>
            </a:r>
            <a:endParaRPr lang="en-US" sz="1200" dirty="0"/>
          </a:p>
        </p:txBody>
      </p:sp>
      <p:sp>
        <p:nvSpPr>
          <p:cNvPr id="10" name="Text 8"/>
          <p:cNvSpPr/>
          <p:nvPr/>
        </p:nvSpPr>
        <p:spPr>
          <a:xfrm>
            <a:off x="7114032" y="2148840"/>
            <a:ext cx="466344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LA HERRAMIENTA, EN FUNCIONAMIENTO</a:t>
            </a:r>
            <a:endParaRPr lang="en-US" sz="1000" dirty="0"/>
          </a:p>
        </p:txBody>
      </p:sp>
      <p:pic>
        <p:nvPicPr>
          <p:cNvPr id="11" name="Image 0" descr="/home/user/intelligent-automotive-diagnostics/docs/presentacion/capturas/recortes/03-codigos-dtc.png">    </p:cNvPr>
          <p:cNvPicPr>
            <a:picLocks noChangeAspect="1"/>
          </p:cNvPicPr>
          <p:nvPr/>
        </p:nvPicPr>
        <p:blipFill>
          <a:blip r:embed="rId1"/>
          <a:stretch>
            <a:fillRect/>
          </a:stretch>
        </p:blipFill>
        <p:spPr>
          <a:xfrm>
            <a:off x="7114032" y="2697480"/>
            <a:ext cx="4654296" cy="1453896"/>
          </a:xfrm>
          <a:prstGeom prst="rect">
            <a:avLst/>
          </a:prstGeom>
          <a:effectLst>
            <a:outerShdw sx="100000" sy="100000" kx="0" ky="0" algn="bl" rotWithShape="0" blurRad="254000" dist="63500" dir="810000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85800"/>
            <a:ext cx="10607040" cy="82296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Lo que te da la máquina</a:t>
            </a:r>
            <a:endParaRPr lang="en-US" sz="3400" dirty="0"/>
          </a:p>
        </p:txBody>
      </p:sp>
      <p:sp>
        <p:nvSpPr>
          <p:cNvPr id="3" name="Text 1"/>
          <p:cNvSpPr/>
          <p:nvPr/>
        </p:nvSpPr>
        <p:spPr>
          <a:xfrm>
            <a:off x="777240" y="201168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Te da</a:t>
            </a:r>
            <a:endParaRPr lang="en-US" sz="2000" dirty="0"/>
          </a:p>
        </p:txBody>
      </p:sp>
      <p:sp>
        <p:nvSpPr>
          <p:cNvPr id="4" name="Text 2"/>
          <p:cNvSpPr/>
          <p:nvPr/>
        </p:nvSpPr>
        <p:spPr>
          <a:xfrm>
            <a:off x="777240" y="2606040"/>
            <a:ext cx="4846320" cy="237744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P0301   Fallo de encendido en el cilindro 1</a:t>
            </a:r>
            <a:endParaRPr lang="en-US" sz="1600" dirty="0"/>
          </a:p>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P0401   Válvula EGR obstruida</a:t>
            </a:r>
            <a:endParaRPr lang="en-US" sz="1600" dirty="0"/>
          </a:p>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P2002   Filtro de partículas lleno</a:t>
            </a:r>
            <a:endParaRPr lang="en-US" sz="1600" dirty="0"/>
          </a:p>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Y así hasta diez</a:t>
            </a:r>
            <a:endParaRPr lang="en-US" sz="1600" dirty="0"/>
          </a:p>
        </p:txBody>
      </p:sp>
      <p:sp>
        <p:nvSpPr>
          <p:cNvPr id="5" name="Text 3"/>
          <p:cNvSpPr/>
          <p:nvPr/>
        </p:nvSpPr>
        <p:spPr>
          <a:xfrm>
            <a:off x="6537960" y="201168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No te da</a:t>
            </a:r>
            <a:endParaRPr lang="en-US" sz="2000" dirty="0"/>
          </a:p>
        </p:txBody>
      </p:sp>
      <p:sp>
        <p:nvSpPr>
          <p:cNvPr id="6" name="Text 4"/>
          <p:cNvSpPr/>
          <p:nvPr/>
        </p:nvSpPr>
        <p:spPr>
          <a:xfrm>
            <a:off x="6537960" y="2606040"/>
            <a:ext cx="4846320" cy="237744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Por qué se ha obstruido la válvula</a:t>
            </a:r>
            <a:endParaRPr lang="en-US" sz="1600" dirty="0"/>
          </a:p>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Por qué se ha llenado el filtro</a:t>
            </a:r>
            <a:endParaRPr lang="en-US" sz="1600" dirty="0"/>
          </a:p>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Qué tiene que ver un código con otro</a:t>
            </a:r>
            <a:endParaRPr lang="en-US" sz="1600" dirty="0"/>
          </a:p>
          <a:p>
            <a:pPr marL="342900" indent="-342900">
              <a:lnSpc>
                <a:spcPts val="2200"/>
              </a:lnSpc>
              <a:spcAft>
                <a:spcPts val="1000"/>
              </a:spcAft>
              <a:buSzPct val="100000"/>
              <a:buChar char="•"/>
            </a:pPr>
            <a:r>
              <a:rPr lang="en-US" sz="1600" dirty="0">
                <a:solidFill>
                  <a:srgbClr val="1A1C2E"/>
                </a:solidFill>
                <a:latin typeface="Calibri" pitchFamily="34" charset="0"/>
                <a:ea typeface="Calibri" pitchFamily="34" charset="-122"/>
                <a:cs typeface="Calibri" pitchFamily="34" charset="-120"/>
              </a:rPr>
              <a:t>Por dónde empezar a mirar</a:t>
            </a:r>
            <a:endParaRPr lang="en-US" sz="1600" dirty="0"/>
          </a:p>
        </p:txBody>
      </p:sp>
      <p:sp>
        <p:nvSpPr>
          <p:cNvPr id="7" name="Shape 5"/>
          <p:cNvSpPr/>
          <p:nvPr/>
        </p:nvSpPr>
        <p:spPr>
          <a:xfrm>
            <a:off x="777240" y="6263640"/>
            <a:ext cx="219456" cy="219456"/>
          </a:xfrm>
          <a:prstGeom prst="rect">
            <a:avLst/>
          </a:prstGeom>
          <a:solidFill>
            <a:srgbClr val="202CFC"/>
          </a:solidFill>
          <a:ln/>
        </p:spPr>
      </p:sp>
      <p:sp>
        <p:nvSpPr>
          <p:cNvPr id="8" name="Text 6"/>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9" name="Text 7"/>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0" name="Text 8"/>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85800"/>
            <a:ext cx="10607040" cy="82296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Lo que hace la aplicación</a:t>
            </a:r>
            <a:endParaRPr lang="en-US" sz="3400" dirty="0"/>
          </a:p>
        </p:txBody>
      </p:sp>
      <p:sp>
        <p:nvSpPr>
          <p:cNvPr id="3" name="Text 1"/>
          <p:cNvSpPr/>
          <p:nvPr/>
        </p:nvSpPr>
        <p:spPr>
          <a:xfrm>
            <a:off x="777240" y="160020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Con esos mismos códigos y los datos del coche.</a:t>
            </a:r>
            <a:endParaRPr lang="en-US" sz="1700" dirty="0"/>
          </a:p>
        </p:txBody>
      </p:sp>
      <p:sp>
        <p:nvSpPr>
          <p:cNvPr id="4" name="Text 2"/>
          <p:cNvSpPr/>
          <p:nvPr/>
        </p:nvSpPr>
        <p:spPr>
          <a:xfrm>
            <a:off x="777240" y="2606040"/>
            <a:ext cx="10058400" cy="2377440"/>
          </a:xfrm>
          <a:prstGeom prst="rect">
            <a:avLst/>
          </a:prstGeom>
          <a:noFill/>
          <a:ln/>
        </p:spPr>
        <p:txBody>
          <a:bodyPr wrap="square" lIns="0" tIns="0" rIns="0" bIns="0" rtlCol="0" anchor="t"/>
          <a:lstStyle/>
          <a:p>
            <a:pPr marL="342900" indent="-342900">
              <a:lnSpc>
                <a:spcPts val="2800"/>
              </a:lnSpc>
              <a:spcAft>
                <a:spcPts val="2200"/>
              </a:spcAft>
              <a:buSzPct val="100000"/>
              <a:buChar char="•"/>
            </a:pPr>
            <a:r>
              <a:rPr lang="en-US" sz="2000" dirty="0">
                <a:solidFill>
                  <a:srgbClr val="1A1C2E"/>
                </a:solidFill>
                <a:latin typeface="Calibri" pitchFamily="34" charset="0"/>
                <a:ea typeface="Calibri" pitchFamily="34" charset="-122"/>
                <a:cs typeface="Calibri" pitchFamily="34" charset="-120"/>
              </a:rPr>
              <a:t>Investiga por qué puede estar pasando eso</a:t>
            </a:r>
            <a:endParaRPr lang="en-US" sz="2000" dirty="0"/>
          </a:p>
          <a:p>
            <a:pPr marL="342900" indent="-342900">
              <a:lnSpc>
                <a:spcPts val="2800"/>
              </a:lnSpc>
              <a:spcAft>
                <a:spcPts val="2200"/>
              </a:spcAft>
              <a:buSzPct val="100000"/>
              <a:buChar char="•"/>
            </a:pPr>
            <a:r>
              <a:rPr lang="en-US" sz="2000" dirty="0">
                <a:solidFill>
                  <a:srgbClr val="1A1C2E"/>
                </a:solidFill>
                <a:latin typeface="Calibri" pitchFamily="34" charset="0"/>
                <a:ea typeface="Calibri" pitchFamily="34" charset="-122"/>
                <a:cs typeface="Calibri" pitchFamily="34" charset="-120"/>
              </a:rPr>
              <a:t>Le da al mecánico una serie de opciones, no una sola causa</a:t>
            </a:r>
            <a:endParaRPr lang="en-US" sz="2000" dirty="0"/>
          </a:p>
          <a:p>
            <a:pPr marL="342900" indent="-342900">
              <a:lnSpc>
                <a:spcPts val="2800"/>
              </a:lnSpc>
              <a:spcAft>
                <a:spcPts val="2200"/>
              </a:spcAft>
              <a:buSzPct val="100000"/>
              <a:buChar char="•"/>
            </a:pPr>
            <a:r>
              <a:rPr lang="en-US" sz="2000" dirty="0">
                <a:solidFill>
                  <a:srgbClr val="1A1C2E"/>
                </a:solidFill>
                <a:latin typeface="Calibri" pitchFamily="34" charset="0"/>
                <a:ea typeface="Calibri" pitchFamily="34" charset="-122"/>
                <a:cs typeface="Calibri" pitchFamily="34" charset="-120"/>
              </a:rPr>
              <a:t>Y los pasos a seguir para determinar de dónde viene el problema</a:t>
            </a:r>
            <a:endParaRPr lang="en-US" sz="2000" dirty="0"/>
          </a:p>
        </p:txBody>
      </p:sp>
      <p:sp>
        <p:nvSpPr>
          <p:cNvPr id="5" name="Shape 3"/>
          <p:cNvSpPr/>
          <p:nvPr/>
        </p:nvSpPr>
        <p:spPr>
          <a:xfrm>
            <a:off x="777240" y="6263640"/>
            <a:ext cx="219456" cy="219456"/>
          </a:xfrm>
          <a:prstGeom prst="rect">
            <a:avLst/>
          </a:prstGeom>
          <a:solidFill>
            <a:srgbClr val="202CFC"/>
          </a:solidFill>
          <a:ln/>
        </p:spPr>
      </p:sp>
      <p:sp>
        <p:nvSpPr>
          <p:cNvPr id="6" name="Text 4"/>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7" name="Text 5"/>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8" name="Text 6"/>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10607040" cy="594360"/>
          </a:xfrm>
          <a:prstGeom prst="rect">
            <a:avLst/>
          </a:prstGeom>
          <a:noFill/>
          <a:ln/>
        </p:spPr>
        <p:txBody>
          <a:bodyPr wrap="square" lIns="0" tIns="0" rIns="0" bIns="0" rtlCol="0" anchor="t"/>
          <a:lstStyle/>
          <a:p>
            <a:pPr indent="0" marL="0">
              <a:buNone/>
            </a:pPr>
            <a:r>
              <a:rPr lang="en-US" sz="3000" b="1" dirty="0">
                <a:solidFill>
                  <a:srgbClr val="1A1C2E"/>
                </a:solidFill>
                <a:latin typeface="Arial" pitchFamily="34" charset="0"/>
                <a:ea typeface="Arial" pitchFamily="34" charset="-122"/>
                <a:cs typeface="Arial" pitchFamily="34" charset="-120"/>
              </a:rPr>
              <a:t>El flujo de trabajo</a:t>
            </a:r>
            <a:endParaRPr lang="en-US" sz="3000" dirty="0"/>
          </a:p>
        </p:txBody>
      </p:sp>
      <p:sp>
        <p:nvSpPr>
          <p:cNvPr id="3" name="Text 1"/>
          <p:cNvSpPr/>
          <p:nvPr/>
        </p:nvSpPr>
        <p:spPr>
          <a:xfrm>
            <a:off x="777240" y="1078992"/>
            <a:ext cx="10607040" cy="274320"/>
          </a:xfrm>
          <a:prstGeom prst="rect">
            <a:avLst/>
          </a:prstGeom>
          <a:noFill/>
          <a:ln/>
        </p:spPr>
        <p:txBody>
          <a:bodyPr wrap="square" lIns="0" tIns="0" rIns="0" bIns="0" rtlCol="0" anchor="t"/>
          <a:lstStyle/>
          <a:p>
            <a:pPr indent="0" marL="0">
              <a:buNone/>
            </a:pPr>
            <a:r>
              <a:rPr lang="en-US" sz="1400" dirty="0">
                <a:solidFill>
                  <a:srgbClr val="5A5F73"/>
                </a:solidFill>
                <a:latin typeface="Calibri" pitchFamily="34" charset="0"/>
                <a:ea typeface="Calibri" pitchFamily="34" charset="-122"/>
                <a:cs typeface="Calibri" pitchFamily="34" charset="-120"/>
              </a:rPr>
              <a:t>Desde que enchufas el adaptador hasta que el caso queda guardado.</a:t>
            </a:r>
            <a:endParaRPr lang="en-US" sz="1400" dirty="0"/>
          </a:p>
        </p:txBody>
      </p:sp>
      <p:sp>
        <p:nvSpPr>
          <p:cNvPr id="4" name="Shape 2"/>
          <p:cNvSpPr/>
          <p:nvPr/>
        </p:nvSpPr>
        <p:spPr>
          <a:xfrm>
            <a:off x="868680" y="1572768"/>
            <a:ext cx="4206240" cy="457200"/>
          </a:xfrm>
          <a:prstGeom prst="roundRect">
            <a:avLst>
              <a:gd name="adj" fmla="val 50000"/>
            </a:avLst>
          </a:prstGeom>
          <a:solidFill>
            <a:srgbClr val="1A1C2E"/>
          </a:solidFill>
          <a:ln w="12700">
            <a:solidFill>
              <a:srgbClr val="1A1C2E"/>
            </a:solidFill>
            <a:prstDash val="solid"/>
          </a:ln>
        </p:spPr>
      </p:sp>
      <p:sp>
        <p:nvSpPr>
          <p:cNvPr id="5" name="Text 3"/>
          <p:cNvSpPr/>
          <p:nvPr/>
        </p:nvSpPr>
        <p:spPr>
          <a:xfrm>
            <a:off x="978408" y="1572768"/>
            <a:ext cx="3986784" cy="457200"/>
          </a:xfrm>
          <a:prstGeom prst="rect">
            <a:avLst/>
          </a:prstGeom>
          <a:noFill/>
          <a:ln/>
        </p:spPr>
        <p:txBody>
          <a:bodyPr wrap="square" lIns="0" tIns="0" rIns="0" bIns="0"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Se enchufa el adaptador</a:t>
            </a:r>
            <a:endParaRPr lang="en-US" sz="1200" dirty="0"/>
          </a:p>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y se pulsa «Iniciar diagnóstico»</a:t>
            </a:r>
            <a:endParaRPr lang="en-US" sz="1200" dirty="0"/>
          </a:p>
        </p:txBody>
      </p:sp>
      <p:sp>
        <p:nvSpPr>
          <p:cNvPr id="6" name="Shape 4"/>
          <p:cNvSpPr/>
          <p:nvPr/>
        </p:nvSpPr>
        <p:spPr>
          <a:xfrm>
            <a:off x="868680" y="2176272"/>
            <a:ext cx="4206240" cy="457200"/>
          </a:xfrm>
          <a:prstGeom prst="rect">
            <a:avLst>
              <a:gd name="adj" fmla="val 50000"/>
            </a:avLst>
          </a:prstGeom>
          <a:solidFill>
            <a:srgbClr val="FFFFFF"/>
          </a:solidFill>
          <a:ln w="12700">
            <a:solidFill>
              <a:srgbClr val="C9CCD8"/>
            </a:solidFill>
            <a:prstDash val="solid"/>
          </a:ln>
        </p:spPr>
      </p:sp>
      <p:sp>
        <p:nvSpPr>
          <p:cNvPr id="7" name="Text 5"/>
          <p:cNvSpPr/>
          <p:nvPr/>
        </p:nvSpPr>
        <p:spPr>
          <a:xfrm>
            <a:off x="978408" y="2176272"/>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Se lee el bastidor y se identifica el vehículo</a:t>
            </a:r>
            <a:endParaRPr lang="en-US" sz="1200" dirty="0"/>
          </a:p>
        </p:txBody>
      </p:sp>
      <p:sp>
        <p:nvSpPr>
          <p:cNvPr id="8" name="Shape 6"/>
          <p:cNvSpPr/>
          <p:nvPr/>
        </p:nvSpPr>
        <p:spPr>
          <a:xfrm>
            <a:off x="2971800" y="2029968"/>
            <a:ext cx="0" cy="146304"/>
          </a:xfrm>
          <a:prstGeom prst="line">
            <a:avLst/>
          </a:prstGeom>
          <a:noFill/>
          <a:ln w="15875">
            <a:solidFill>
              <a:srgbClr val="202CFC"/>
            </a:solidFill>
            <a:prstDash val="solid"/>
            <a:tailEnd type="triangle"/>
          </a:ln>
        </p:spPr>
      </p:sp>
      <p:sp>
        <p:nvSpPr>
          <p:cNvPr id="9" name="Shape 7"/>
          <p:cNvSpPr/>
          <p:nvPr/>
        </p:nvSpPr>
        <p:spPr>
          <a:xfrm>
            <a:off x="868680" y="2779776"/>
            <a:ext cx="4206240" cy="457200"/>
          </a:xfrm>
          <a:prstGeom prst="rect">
            <a:avLst>
              <a:gd name="adj" fmla="val 50000"/>
            </a:avLst>
          </a:prstGeom>
          <a:solidFill>
            <a:srgbClr val="FFFFFF"/>
          </a:solidFill>
          <a:ln w="12700">
            <a:solidFill>
              <a:srgbClr val="C9CCD8"/>
            </a:solidFill>
            <a:prstDash val="solid"/>
          </a:ln>
        </p:spPr>
      </p:sp>
      <p:sp>
        <p:nvSpPr>
          <p:cNvPr id="10" name="Text 8"/>
          <p:cNvSpPr/>
          <p:nvPr/>
        </p:nvSpPr>
        <p:spPr>
          <a:xfrm>
            <a:off x="978408" y="2779776"/>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Se barre el bus: qué centralitas responden</a:t>
            </a:r>
            <a:endParaRPr lang="en-US" sz="1200" dirty="0"/>
          </a:p>
        </p:txBody>
      </p:sp>
      <p:sp>
        <p:nvSpPr>
          <p:cNvPr id="11" name="Shape 9"/>
          <p:cNvSpPr/>
          <p:nvPr/>
        </p:nvSpPr>
        <p:spPr>
          <a:xfrm>
            <a:off x="2971800" y="2633472"/>
            <a:ext cx="0" cy="146304"/>
          </a:xfrm>
          <a:prstGeom prst="line">
            <a:avLst/>
          </a:prstGeom>
          <a:noFill/>
          <a:ln w="15875">
            <a:solidFill>
              <a:srgbClr val="202CFC"/>
            </a:solidFill>
            <a:prstDash val="solid"/>
            <a:tailEnd type="triangle"/>
          </a:ln>
        </p:spPr>
      </p:sp>
      <p:sp>
        <p:nvSpPr>
          <p:cNvPr id="12" name="Shape 10"/>
          <p:cNvSpPr/>
          <p:nvPr/>
        </p:nvSpPr>
        <p:spPr>
          <a:xfrm>
            <a:off x="868680" y="3383280"/>
            <a:ext cx="4206240" cy="457200"/>
          </a:xfrm>
          <a:prstGeom prst="rect">
            <a:avLst>
              <a:gd name="adj" fmla="val 50000"/>
            </a:avLst>
          </a:prstGeom>
          <a:solidFill>
            <a:srgbClr val="FFFFFF"/>
          </a:solidFill>
          <a:ln w="12700">
            <a:solidFill>
              <a:srgbClr val="C9CCD8"/>
            </a:solidFill>
            <a:prstDash val="solid"/>
          </a:ln>
        </p:spPr>
      </p:sp>
      <p:sp>
        <p:nvSpPr>
          <p:cNvPr id="13" name="Text 11"/>
          <p:cNvSpPr/>
          <p:nvPr/>
        </p:nvSpPr>
        <p:spPr>
          <a:xfrm>
            <a:off x="978408" y="3383280"/>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Se leen datos en vivo, averías y freeze frame</a:t>
            </a:r>
            <a:endParaRPr lang="en-US" sz="1200" dirty="0"/>
          </a:p>
        </p:txBody>
      </p:sp>
      <p:sp>
        <p:nvSpPr>
          <p:cNvPr id="14" name="Shape 12"/>
          <p:cNvSpPr/>
          <p:nvPr/>
        </p:nvSpPr>
        <p:spPr>
          <a:xfrm>
            <a:off x="2971800" y="3236976"/>
            <a:ext cx="0" cy="146304"/>
          </a:xfrm>
          <a:prstGeom prst="line">
            <a:avLst/>
          </a:prstGeom>
          <a:noFill/>
          <a:ln w="15875">
            <a:solidFill>
              <a:srgbClr val="202CFC"/>
            </a:solidFill>
            <a:prstDash val="solid"/>
            <a:tailEnd type="triangle"/>
          </a:ln>
        </p:spPr>
      </p:sp>
      <p:sp>
        <p:nvSpPr>
          <p:cNvPr id="15" name="Shape 13"/>
          <p:cNvSpPr/>
          <p:nvPr/>
        </p:nvSpPr>
        <p:spPr>
          <a:xfrm>
            <a:off x="868680" y="3986784"/>
            <a:ext cx="4206240" cy="457200"/>
          </a:xfrm>
          <a:prstGeom prst="rect">
            <a:avLst>
              <a:gd name="adj" fmla="val 50000"/>
            </a:avLst>
          </a:prstGeom>
          <a:solidFill>
            <a:srgbClr val="FFFFFF"/>
          </a:solidFill>
          <a:ln w="12700">
            <a:solidFill>
              <a:srgbClr val="C9CCD8"/>
            </a:solidFill>
            <a:prstDash val="solid"/>
          </a:ln>
        </p:spPr>
      </p:sp>
      <p:sp>
        <p:nvSpPr>
          <p:cNvPr id="16" name="Text 14"/>
          <p:cNvSpPr/>
          <p:nvPr/>
        </p:nvSpPr>
        <p:spPr>
          <a:xfrm>
            <a:off x="978408" y="3986784"/>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Se calcula la severidad y sale en pantalla</a:t>
            </a:r>
            <a:endParaRPr lang="en-US" sz="1200" dirty="0"/>
          </a:p>
        </p:txBody>
      </p:sp>
      <p:sp>
        <p:nvSpPr>
          <p:cNvPr id="17" name="Shape 15"/>
          <p:cNvSpPr/>
          <p:nvPr/>
        </p:nvSpPr>
        <p:spPr>
          <a:xfrm>
            <a:off x="2971800" y="3840480"/>
            <a:ext cx="0" cy="146304"/>
          </a:xfrm>
          <a:prstGeom prst="line">
            <a:avLst/>
          </a:prstGeom>
          <a:noFill/>
          <a:ln w="15875">
            <a:solidFill>
              <a:srgbClr val="202CFC"/>
            </a:solidFill>
            <a:prstDash val="solid"/>
            <a:tailEnd type="triangle"/>
          </a:ln>
        </p:spPr>
      </p:sp>
      <p:sp>
        <p:nvSpPr>
          <p:cNvPr id="18" name="Shape 16"/>
          <p:cNvSpPr/>
          <p:nvPr/>
        </p:nvSpPr>
        <p:spPr>
          <a:xfrm>
            <a:off x="2971800" y="4443984"/>
            <a:ext cx="0" cy="146304"/>
          </a:xfrm>
          <a:prstGeom prst="line">
            <a:avLst/>
          </a:prstGeom>
          <a:noFill/>
          <a:ln w="15875">
            <a:solidFill>
              <a:srgbClr val="202CFC"/>
            </a:solidFill>
            <a:prstDash val="solid"/>
            <a:tailEnd type="triangle"/>
          </a:ln>
        </p:spPr>
      </p:sp>
      <p:sp>
        <p:nvSpPr>
          <p:cNvPr id="19" name="Shape 17"/>
          <p:cNvSpPr/>
          <p:nvPr/>
        </p:nvSpPr>
        <p:spPr>
          <a:xfrm>
            <a:off x="1371600" y="4590288"/>
            <a:ext cx="3200400" cy="713232"/>
          </a:xfrm>
          <a:prstGeom prst="diamond">
            <a:avLst>
              <a:gd name="adj" fmla="val 32051"/>
            </a:avLst>
          </a:prstGeom>
          <a:solidFill>
            <a:srgbClr val="FFFFFF"/>
          </a:solidFill>
          <a:ln w="12700">
            <a:solidFill>
              <a:srgbClr val="202CFC"/>
            </a:solidFill>
            <a:prstDash val="solid"/>
          </a:ln>
        </p:spPr>
      </p:sp>
      <p:sp>
        <p:nvSpPr>
          <p:cNvPr id="20" name="Text 18"/>
          <p:cNvSpPr/>
          <p:nvPr/>
        </p:nvSpPr>
        <p:spPr>
          <a:xfrm>
            <a:off x="1481328" y="4590288"/>
            <a:ext cx="2980944" cy="713232"/>
          </a:xfrm>
          <a:prstGeom prst="rect">
            <a:avLst/>
          </a:prstGeom>
          <a:noFill/>
          <a:ln/>
        </p:spPr>
        <p:txBody>
          <a:bodyPr wrap="square" lIns="0" tIns="0" rIns="0" bIns="0" rtlCol="0" anchor="ctr"/>
          <a:lstStyle/>
          <a:p>
            <a:pPr algn="ctr" indent="0" marL="0">
              <a:lnSpc>
                <a:spcPts val="1400"/>
              </a:lnSpc>
              <a:buNone/>
            </a:pPr>
            <a:r>
              <a:rPr lang="en-US" sz="1100" dirty="0">
                <a:solidFill>
                  <a:srgbClr val="1A1C2E"/>
                </a:solidFill>
                <a:latin typeface="Calibri" pitchFamily="34" charset="0"/>
                <a:ea typeface="Calibri" pitchFamily="34" charset="-122"/>
                <a:cs typeface="Calibri" pitchFamily="34" charset="-120"/>
              </a:rPr>
              <a:t>¿El mecánico pregunta</a:t>
            </a:r>
            <a:endParaRPr lang="en-US" sz="1100" dirty="0"/>
          </a:p>
          <a:p>
            <a:pPr algn="ctr" indent="0" marL="0">
              <a:lnSpc>
                <a:spcPts val="1400"/>
              </a:lnSpc>
              <a:buNone/>
            </a:pPr>
            <a:r>
              <a:rPr lang="en-US" sz="1100" dirty="0">
                <a:solidFill>
                  <a:srgbClr val="1A1C2E"/>
                </a:solidFill>
                <a:latin typeface="Calibri" pitchFamily="34" charset="0"/>
                <a:ea typeface="Calibri" pitchFamily="34" charset="-122"/>
                <a:cs typeface="Calibri" pitchFamily="34" charset="-120"/>
              </a:rPr>
              <a:t>al agente?</a:t>
            </a:r>
            <a:endParaRPr lang="en-US" sz="1100" dirty="0"/>
          </a:p>
        </p:txBody>
      </p:sp>
      <p:sp>
        <p:nvSpPr>
          <p:cNvPr id="21" name="Shape 19"/>
          <p:cNvSpPr/>
          <p:nvPr/>
        </p:nvSpPr>
        <p:spPr>
          <a:xfrm>
            <a:off x="2971800" y="5303520"/>
            <a:ext cx="0" cy="256032"/>
          </a:xfrm>
          <a:prstGeom prst="line">
            <a:avLst/>
          </a:prstGeom>
          <a:noFill/>
          <a:ln w="15875">
            <a:solidFill>
              <a:srgbClr val="202CFC"/>
            </a:solidFill>
            <a:prstDash val="solid"/>
            <a:tailEnd type="triangle"/>
          </a:ln>
        </p:spPr>
      </p:sp>
      <p:sp>
        <p:nvSpPr>
          <p:cNvPr id="22" name="Shape 20"/>
          <p:cNvSpPr/>
          <p:nvPr/>
        </p:nvSpPr>
        <p:spPr>
          <a:xfrm>
            <a:off x="868680" y="5559552"/>
            <a:ext cx="4206240" cy="457200"/>
          </a:xfrm>
          <a:prstGeom prst="roundRect">
            <a:avLst>
              <a:gd name="adj" fmla="val 50000"/>
            </a:avLst>
          </a:prstGeom>
          <a:solidFill>
            <a:srgbClr val="1A1C2E"/>
          </a:solidFill>
          <a:ln w="12700">
            <a:solidFill>
              <a:srgbClr val="1A1C2E"/>
            </a:solidFill>
            <a:prstDash val="solid"/>
          </a:ln>
        </p:spPr>
      </p:sp>
      <p:sp>
        <p:nvSpPr>
          <p:cNvPr id="23" name="Text 21"/>
          <p:cNvSpPr/>
          <p:nvPr/>
        </p:nvSpPr>
        <p:spPr>
          <a:xfrm>
            <a:off x="978408" y="5559552"/>
            <a:ext cx="3986784" cy="457200"/>
          </a:xfrm>
          <a:prstGeom prst="rect">
            <a:avLst/>
          </a:prstGeom>
          <a:noFill/>
          <a:ln/>
        </p:spPr>
        <p:txBody>
          <a:bodyPr wrap="square" lIns="0" tIns="0" rIns="0" bIns="0"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La sesión queda guardada</a:t>
            </a:r>
            <a:endParaRPr lang="en-US" sz="1200" dirty="0"/>
          </a:p>
        </p:txBody>
      </p:sp>
      <p:sp>
        <p:nvSpPr>
          <p:cNvPr id="24" name="Text 22"/>
          <p:cNvSpPr/>
          <p:nvPr/>
        </p:nvSpPr>
        <p:spPr>
          <a:xfrm>
            <a:off x="3063240" y="5312664"/>
            <a:ext cx="457200" cy="228600"/>
          </a:xfrm>
          <a:prstGeom prst="rect">
            <a:avLst/>
          </a:prstGeom>
          <a:noFill/>
          <a:ln/>
        </p:spPr>
        <p:txBody>
          <a:bodyPr wrap="square" lIns="0" tIns="0" rIns="0" bIns="0" rtlCol="0" anchor="ctr"/>
          <a:lstStyle/>
          <a:p>
            <a:pPr indent="0" marL="0">
              <a:buNone/>
            </a:pPr>
            <a:r>
              <a:rPr lang="en-US" sz="1100" i="1" dirty="0">
                <a:solidFill>
                  <a:srgbClr val="5A5F73"/>
                </a:solidFill>
                <a:latin typeface="Calibri" pitchFamily="34" charset="0"/>
                <a:ea typeface="Calibri" pitchFamily="34" charset="-122"/>
                <a:cs typeface="Calibri" pitchFamily="34" charset="-120"/>
              </a:rPr>
              <a:t>no</a:t>
            </a:r>
            <a:endParaRPr lang="en-US" sz="1100" dirty="0"/>
          </a:p>
        </p:txBody>
      </p:sp>
      <p:sp>
        <p:nvSpPr>
          <p:cNvPr id="25" name="Shape 23"/>
          <p:cNvSpPr/>
          <p:nvPr/>
        </p:nvSpPr>
        <p:spPr>
          <a:xfrm>
            <a:off x="4572000" y="4946904"/>
            <a:ext cx="1554480" cy="0"/>
          </a:xfrm>
          <a:prstGeom prst="line">
            <a:avLst/>
          </a:prstGeom>
          <a:noFill/>
          <a:ln w="15875">
            <a:solidFill>
              <a:srgbClr val="202CFC"/>
            </a:solidFill>
            <a:prstDash val="solid"/>
          </a:ln>
        </p:spPr>
      </p:sp>
      <p:sp>
        <p:nvSpPr>
          <p:cNvPr id="26" name="Shape 24"/>
          <p:cNvSpPr/>
          <p:nvPr/>
        </p:nvSpPr>
        <p:spPr>
          <a:xfrm>
            <a:off x="6126480" y="1801368"/>
            <a:ext cx="0" cy="3145536"/>
          </a:xfrm>
          <a:prstGeom prst="line">
            <a:avLst/>
          </a:prstGeom>
          <a:noFill/>
          <a:ln w="15875">
            <a:solidFill>
              <a:srgbClr val="202CFC"/>
            </a:solidFill>
            <a:prstDash val="solid"/>
          </a:ln>
        </p:spPr>
      </p:sp>
      <p:sp>
        <p:nvSpPr>
          <p:cNvPr id="27" name="Shape 25"/>
          <p:cNvSpPr/>
          <p:nvPr/>
        </p:nvSpPr>
        <p:spPr>
          <a:xfrm>
            <a:off x="6126480" y="1801368"/>
            <a:ext cx="960120" cy="0"/>
          </a:xfrm>
          <a:prstGeom prst="line">
            <a:avLst/>
          </a:prstGeom>
          <a:noFill/>
          <a:ln w="15875">
            <a:solidFill>
              <a:srgbClr val="202CFC"/>
            </a:solidFill>
            <a:prstDash val="solid"/>
            <a:tailEnd type="triangle"/>
          </a:ln>
        </p:spPr>
      </p:sp>
      <p:sp>
        <p:nvSpPr>
          <p:cNvPr id="28" name="Text 26"/>
          <p:cNvSpPr/>
          <p:nvPr/>
        </p:nvSpPr>
        <p:spPr>
          <a:xfrm>
            <a:off x="4709160" y="4690872"/>
            <a:ext cx="457200" cy="228600"/>
          </a:xfrm>
          <a:prstGeom prst="rect">
            <a:avLst/>
          </a:prstGeom>
          <a:noFill/>
          <a:ln/>
        </p:spPr>
        <p:txBody>
          <a:bodyPr wrap="square" lIns="0" tIns="0" rIns="0" bIns="0" rtlCol="0" anchor="ctr"/>
          <a:lstStyle/>
          <a:p>
            <a:pPr indent="0" marL="0">
              <a:buNone/>
            </a:pPr>
            <a:r>
              <a:rPr lang="en-US" sz="1100" i="1" dirty="0">
                <a:solidFill>
                  <a:srgbClr val="5A5F73"/>
                </a:solidFill>
                <a:latin typeface="Calibri" pitchFamily="34" charset="0"/>
                <a:ea typeface="Calibri" pitchFamily="34" charset="-122"/>
                <a:cs typeface="Calibri" pitchFamily="34" charset="-120"/>
              </a:rPr>
              <a:t>sí</a:t>
            </a:r>
            <a:endParaRPr lang="en-US" sz="1100" dirty="0"/>
          </a:p>
        </p:txBody>
      </p:sp>
      <p:sp>
        <p:nvSpPr>
          <p:cNvPr id="29" name="Shape 27"/>
          <p:cNvSpPr/>
          <p:nvPr/>
        </p:nvSpPr>
        <p:spPr>
          <a:xfrm>
            <a:off x="7086600" y="1572768"/>
            <a:ext cx="4206240" cy="457200"/>
          </a:xfrm>
          <a:prstGeom prst="rect">
            <a:avLst>
              <a:gd name="adj" fmla="val 50000"/>
            </a:avLst>
          </a:prstGeom>
          <a:solidFill>
            <a:srgbClr val="FFFFFF"/>
          </a:solidFill>
          <a:ln w="12700">
            <a:solidFill>
              <a:srgbClr val="C9CCD8"/>
            </a:solidFill>
            <a:prstDash val="solid"/>
          </a:ln>
        </p:spPr>
      </p:sp>
      <p:sp>
        <p:nvSpPr>
          <p:cNvPr id="30" name="Text 28"/>
          <p:cNvSpPr/>
          <p:nvPr/>
        </p:nvSpPr>
        <p:spPr>
          <a:xfrm>
            <a:off x="7196328" y="1572768"/>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Se buscan casos parecidos de otros diagnósticos</a:t>
            </a:r>
            <a:endParaRPr lang="en-US" sz="1200" dirty="0"/>
          </a:p>
        </p:txBody>
      </p:sp>
      <p:sp>
        <p:nvSpPr>
          <p:cNvPr id="31" name="Shape 29"/>
          <p:cNvSpPr/>
          <p:nvPr/>
        </p:nvSpPr>
        <p:spPr>
          <a:xfrm>
            <a:off x="7086600" y="2176272"/>
            <a:ext cx="4206240" cy="457200"/>
          </a:xfrm>
          <a:prstGeom prst="rect">
            <a:avLst>
              <a:gd name="adj" fmla="val 50000"/>
            </a:avLst>
          </a:prstGeom>
          <a:solidFill>
            <a:srgbClr val="FFFFFF"/>
          </a:solidFill>
          <a:ln w="12700">
            <a:solidFill>
              <a:srgbClr val="C9CCD8"/>
            </a:solidFill>
            <a:prstDash val="solid"/>
          </a:ln>
        </p:spPr>
      </p:sp>
      <p:sp>
        <p:nvSpPr>
          <p:cNvPr id="32" name="Text 30"/>
          <p:cNvSpPr/>
          <p:nvPr/>
        </p:nvSpPr>
        <p:spPr>
          <a:xfrm>
            <a:off x="7196328" y="2176272"/>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El agente pide lo que le falta</a:t>
            </a:r>
            <a:endParaRPr lang="en-US" sz="1200" dirty="0"/>
          </a:p>
        </p:txBody>
      </p:sp>
      <p:sp>
        <p:nvSpPr>
          <p:cNvPr id="33" name="Shape 31"/>
          <p:cNvSpPr/>
          <p:nvPr/>
        </p:nvSpPr>
        <p:spPr>
          <a:xfrm>
            <a:off x="9189720" y="2029968"/>
            <a:ext cx="0" cy="146304"/>
          </a:xfrm>
          <a:prstGeom prst="line">
            <a:avLst/>
          </a:prstGeom>
          <a:noFill/>
          <a:ln w="15875">
            <a:solidFill>
              <a:srgbClr val="202CFC"/>
            </a:solidFill>
            <a:prstDash val="solid"/>
            <a:tailEnd type="triangle"/>
          </a:ln>
        </p:spPr>
      </p:sp>
      <p:sp>
        <p:nvSpPr>
          <p:cNvPr id="34" name="Shape 32"/>
          <p:cNvSpPr/>
          <p:nvPr/>
        </p:nvSpPr>
        <p:spPr>
          <a:xfrm>
            <a:off x="7086600" y="2779776"/>
            <a:ext cx="4206240" cy="457200"/>
          </a:xfrm>
          <a:prstGeom prst="rect">
            <a:avLst>
              <a:gd name="adj" fmla="val 50000"/>
            </a:avLst>
          </a:prstGeom>
          <a:solidFill>
            <a:srgbClr val="FFFFFF"/>
          </a:solidFill>
          <a:ln w="12700">
            <a:solidFill>
              <a:srgbClr val="C9CCD8"/>
            </a:solidFill>
            <a:prstDash val="solid"/>
          </a:ln>
        </p:spPr>
      </p:sp>
      <p:sp>
        <p:nvSpPr>
          <p:cNvPr id="35" name="Text 33"/>
          <p:cNvSpPr/>
          <p:nvPr/>
        </p:nvSpPr>
        <p:spPr>
          <a:xfrm>
            <a:off x="7196328" y="2779776"/>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Responde: explicación, severidad y qué revisar</a:t>
            </a:r>
            <a:endParaRPr lang="en-US" sz="1200" dirty="0"/>
          </a:p>
        </p:txBody>
      </p:sp>
      <p:sp>
        <p:nvSpPr>
          <p:cNvPr id="36" name="Shape 34"/>
          <p:cNvSpPr/>
          <p:nvPr/>
        </p:nvSpPr>
        <p:spPr>
          <a:xfrm>
            <a:off x="9189720" y="2633472"/>
            <a:ext cx="0" cy="146304"/>
          </a:xfrm>
          <a:prstGeom prst="line">
            <a:avLst/>
          </a:prstGeom>
          <a:noFill/>
          <a:ln w="15875">
            <a:solidFill>
              <a:srgbClr val="202CFC"/>
            </a:solidFill>
            <a:prstDash val="solid"/>
            <a:tailEnd type="triangle"/>
          </a:ln>
        </p:spPr>
      </p:sp>
      <p:sp>
        <p:nvSpPr>
          <p:cNvPr id="37" name="Shape 35"/>
          <p:cNvSpPr/>
          <p:nvPr/>
        </p:nvSpPr>
        <p:spPr>
          <a:xfrm>
            <a:off x="7086600" y="3383280"/>
            <a:ext cx="4206240" cy="457200"/>
          </a:xfrm>
          <a:prstGeom prst="rect">
            <a:avLst>
              <a:gd name="adj" fmla="val 50000"/>
            </a:avLst>
          </a:prstGeom>
          <a:solidFill>
            <a:srgbClr val="FFFFFF"/>
          </a:solidFill>
          <a:ln w="12700">
            <a:solidFill>
              <a:srgbClr val="C9CCD8"/>
            </a:solidFill>
            <a:prstDash val="solid"/>
          </a:ln>
        </p:spPr>
      </p:sp>
      <p:sp>
        <p:nvSpPr>
          <p:cNvPr id="38" name="Text 36"/>
          <p:cNvSpPr/>
          <p:nvPr/>
        </p:nvSpPr>
        <p:spPr>
          <a:xfrm>
            <a:off x="7196328" y="3383280"/>
            <a:ext cx="3986784" cy="457200"/>
          </a:xfrm>
          <a:prstGeom prst="rect">
            <a:avLst/>
          </a:prstGeom>
          <a:noFill/>
          <a:ln/>
        </p:spPr>
        <p:txBody>
          <a:bodyPr wrap="square" lIns="0" tIns="0" rIns="0" bIns="0" rtlCol="0" anchor="ctr"/>
          <a:lstStyle/>
          <a:p>
            <a:pPr algn="ctr" indent="0" marL="0">
              <a:lnSpc>
                <a:spcPts val="1400"/>
              </a:lnSpc>
              <a:buNone/>
            </a:pPr>
            <a:r>
              <a:rPr lang="en-US" sz="1200" dirty="0">
                <a:solidFill>
                  <a:srgbClr val="1A1C2E"/>
                </a:solidFill>
                <a:latin typeface="Calibri" pitchFamily="34" charset="0"/>
                <a:ea typeface="Calibri" pitchFamily="34" charset="-122"/>
                <a:cs typeface="Calibri" pitchFamily="34" charset="-120"/>
              </a:rPr>
              <a:t>El caso se indexa en el catálogo</a:t>
            </a:r>
            <a:endParaRPr lang="en-US" sz="1200" dirty="0"/>
          </a:p>
        </p:txBody>
      </p:sp>
      <p:sp>
        <p:nvSpPr>
          <p:cNvPr id="39" name="Shape 37"/>
          <p:cNvSpPr/>
          <p:nvPr/>
        </p:nvSpPr>
        <p:spPr>
          <a:xfrm>
            <a:off x="9189720" y="3236976"/>
            <a:ext cx="0" cy="146304"/>
          </a:xfrm>
          <a:prstGeom prst="line">
            <a:avLst/>
          </a:prstGeom>
          <a:noFill/>
          <a:ln w="15875">
            <a:solidFill>
              <a:srgbClr val="202CFC"/>
            </a:solidFill>
            <a:prstDash val="solid"/>
            <a:tailEnd type="triangle"/>
          </a:ln>
        </p:spPr>
      </p:sp>
      <p:sp>
        <p:nvSpPr>
          <p:cNvPr id="40" name="Shape 38"/>
          <p:cNvSpPr/>
          <p:nvPr/>
        </p:nvSpPr>
        <p:spPr>
          <a:xfrm>
            <a:off x="7086600" y="3986784"/>
            <a:ext cx="4206240" cy="457200"/>
          </a:xfrm>
          <a:prstGeom prst="roundRect">
            <a:avLst>
              <a:gd name="adj" fmla="val 50000"/>
            </a:avLst>
          </a:prstGeom>
          <a:solidFill>
            <a:srgbClr val="1A1C2E"/>
          </a:solidFill>
          <a:ln w="12700">
            <a:solidFill>
              <a:srgbClr val="1A1C2E"/>
            </a:solidFill>
            <a:prstDash val="solid"/>
          </a:ln>
        </p:spPr>
      </p:sp>
      <p:sp>
        <p:nvSpPr>
          <p:cNvPr id="41" name="Text 39"/>
          <p:cNvSpPr/>
          <p:nvPr/>
        </p:nvSpPr>
        <p:spPr>
          <a:xfrm>
            <a:off x="7196328" y="3986784"/>
            <a:ext cx="3986784" cy="457200"/>
          </a:xfrm>
          <a:prstGeom prst="rect">
            <a:avLst/>
          </a:prstGeom>
          <a:noFill/>
          <a:ln/>
        </p:spPr>
        <p:txBody>
          <a:bodyPr wrap="square" lIns="0" tIns="0" rIns="0" bIns="0"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Queda disponible para el siguiente coche</a:t>
            </a:r>
            <a:endParaRPr lang="en-US" sz="1200" dirty="0"/>
          </a:p>
        </p:txBody>
      </p:sp>
      <p:sp>
        <p:nvSpPr>
          <p:cNvPr id="42" name="Shape 40"/>
          <p:cNvSpPr/>
          <p:nvPr/>
        </p:nvSpPr>
        <p:spPr>
          <a:xfrm>
            <a:off x="9189720" y="3840480"/>
            <a:ext cx="0" cy="146304"/>
          </a:xfrm>
          <a:prstGeom prst="line">
            <a:avLst/>
          </a:prstGeom>
          <a:noFill/>
          <a:ln w="15875">
            <a:solidFill>
              <a:srgbClr val="202CFC"/>
            </a:solidFill>
            <a:prstDash val="solid"/>
            <a:tailEnd type="triangle"/>
          </a:ln>
        </p:spPr>
      </p:sp>
      <p:sp>
        <p:nvSpPr>
          <p:cNvPr id="43" name="Shape 41"/>
          <p:cNvSpPr/>
          <p:nvPr/>
        </p:nvSpPr>
        <p:spPr>
          <a:xfrm>
            <a:off x="777240" y="6263640"/>
            <a:ext cx="219456" cy="219456"/>
          </a:xfrm>
          <a:prstGeom prst="rect">
            <a:avLst/>
          </a:prstGeom>
          <a:solidFill>
            <a:srgbClr val="202CFC"/>
          </a:solidFill>
          <a:ln/>
        </p:spPr>
      </p:sp>
      <p:sp>
        <p:nvSpPr>
          <p:cNvPr id="44" name="Text 42"/>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45" name="Text 43"/>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46" name="Text 44"/>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Por qué esta arquitectura y no otra</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Aquí el dominio son normas. Y las normas no las cambia nadie.</a:t>
            </a:r>
            <a:endParaRPr lang="en-US" sz="1700" dirty="0"/>
          </a:p>
        </p:txBody>
      </p:sp>
      <p:sp>
        <p:nvSpPr>
          <p:cNvPr id="4" name="Text 2"/>
          <p:cNvSpPr/>
          <p:nvPr/>
        </p:nvSpPr>
        <p:spPr>
          <a:xfrm>
            <a:off x="777240" y="214884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Por qué Clean + Hexagonal</a:t>
            </a:r>
            <a:endParaRPr lang="en-US" sz="1900" dirty="0"/>
          </a:p>
        </p:txBody>
      </p:sp>
      <p:sp>
        <p:nvSpPr>
          <p:cNvPr id="5" name="Text 3"/>
          <p:cNvSpPr/>
          <p:nvPr/>
        </p:nvSpPr>
        <p:spPr>
          <a:xfrm>
            <a:off x="777240" y="2697480"/>
            <a:ext cx="4846320" cy="182880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500" dirty="0">
                <a:solidFill>
                  <a:srgbClr val="1A1C2E"/>
                </a:solidFill>
                <a:latin typeface="Calibri" pitchFamily="34" charset="0"/>
                <a:ea typeface="Calibri" pitchFamily="34" charset="-122"/>
                <a:cs typeface="Calibri" pitchFamily="34" charset="-120"/>
              </a:rPr>
              <a:t>El dominio son normas: SAE J1979, ISO 15031, ISO 3779</a:t>
            </a:r>
            <a:endParaRPr lang="en-US" sz="1500" dirty="0"/>
          </a:p>
          <a:p>
            <a:pPr marL="342900" indent="-342900">
              <a:lnSpc>
                <a:spcPts val="2100"/>
              </a:lnSpc>
              <a:spcAft>
                <a:spcPts val="1000"/>
              </a:spcAft>
              <a:buSzPct val="100000"/>
              <a:buChar char="•"/>
            </a:pPr>
            <a:r>
              <a:rPr lang="en-US" sz="1500" dirty="0">
                <a:solidFill>
                  <a:srgbClr val="1A1C2E"/>
                </a:solidFill>
                <a:latin typeface="Calibri" pitchFamily="34" charset="0"/>
                <a:ea typeface="Calibri" pitchFamily="34" charset="-122"/>
                <a:cs typeface="Calibri" pitchFamily="34" charset="-120"/>
              </a:rPr>
              <a:t>Las fórmulas de cada PID y la decodificación del VIN</a:t>
            </a:r>
            <a:endParaRPr lang="en-US" sz="1500" dirty="0"/>
          </a:p>
          <a:p>
            <a:pPr marL="342900" indent="-342900">
              <a:lnSpc>
                <a:spcPts val="2100"/>
              </a:lnSpc>
              <a:spcAft>
                <a:spcPts val="1000"/>
              </a:spcAft>
              <a:buSzPct val="100000"/>
              <a:buChar char="•"/>
            </a:pPr>
            <a:r>
              <a:rPr lang="en-US" sz="1500" dirty="0">
                <a:solidFill>
                  <a:srgbClr val="1A1C2E"/>
                </a:solidFill>
                <a:latin typeface="Calibri" pitchFamily="34" charset="0"/>
                <a:ea typeface="Calibri" pitchFamily="34" charset="-122"/>
                <a:cs typeface="Calibri" pitchFamily="34" charset="-120"/>
              </a:rPr>
              <a:t>Nada de eso se mezcla con la base de datos ni con el LLM</a:t>
            </a:r>
            <a:endParaRPr lang="en-US" sz="1500" dirty="0"/>
          </a:p>
        </p:txBody>
      </p:sp>
      <p:sp>
        <p:nvSpPr>
          <p:cNvPr id="6" name="Text 4"/>
          <p:cNvSpPr/>
          <p:nvPr/>
        </p:nvSpPr>
        <p:spPr>
          <a:xfrm>
            <a:off x="6537960" y="2148840"/>
            <a:ext cx="4846320" cy="365760"/>
          </a:xfrm>
          <a:prstGeom prst="rect">
            <a:avLst/>
          </a:prstGeom>
          <a:noFill/>
          <a:ln/>
        </p:spPr>
        <p:txBody>
          <a:bodyPr wrap="square" lIns="0" tIns="0" rIns="0" bIns="0" rtlCol="0" anchor="t"/>
          <a:lstStyle/>
          <a:p>
            <a:pPr indent="0" marL="0">
              <a:buNone/>
            </a:pPr>
            <a:r>
              <a:rPr lang="en-US" sz="1900" b="1" dirty="0">
                <a:solidFill>
                  <a:srgbClr val="5A5F73"/>
                </a:solidFill>
                <a:latin typeface="Arial" pitchFamily="34" charset="0"/>
                <a:ea typeface="Arial" pitchFamily="34" charset="-122"/>
                <a:cs typeface="Arial" pitchFamily="34" charset="-120"/>
              </a:rPr>
              <a:t>Por qué no orientada a eventos</a:t>
            </a:r>
            <a:endParaRPr lang="en-US" sz="1900" dirty="0"/>
          </a:p>
        </p:txBody>
      </p:sp>
      <p:sp>
        <p:nvSpPr>
          <p:cNvPr id="7" name="Text 5"/>
          <p:cNvSpPr/>
          <p:nvPr/>
        </p:nvSpPr>
        <p:spPr>
          <a:xfrm>
            <a:off x="6537960" y="2697480"/>
            <a:ext cx="4846320" cy="182880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500" dirty="0">
                <a:solidFill>
                  <a:srgbClr val="1A1C2E"/>
                </a:solidFill>
                <a:latin typeface="Calibri" pitchFamily="34" charset="0"/>
                <a:ea typeface="Calibri" pitchFamily="34" charset="-122"/>
                <a:cs typeface="Calibri" pitchFamily="34" charset="-120"/>
              </a:rPr>
              <a:t>Es un proceso: no hay servicios que desacoplar</a:t>
            </a:r>
            <a:endParaRPr lang="en-US" sz="1500" dirty="0"/>
          </a:p>
          <a:p>
            <a:pPr marL="342900" indent="-342900">
              <a:lnSpc>
                <a:spcPts val="2100"/>
              </a:lnSpc>
              <a:spcAft>
                <a:spcPts val="1000"/>
              </a:spcAft>
              <a:buSzPct val="100000"/>
              <a:buChar char="•"/>
            </a:pPr>
            <a:r>
              <a:rPr lang="en-US" sz="1500" dirty="0">
                <a:solidFill>
                  <a:srgbClr val="1A1C2E"/>
                </a:solidFill>
                <a:latin typeface="Calibri" pitchFamily="34" charset="0"/>
                <a:ea typeface="Calibri" pitchFamily="34" charset="-122"/>
                <a:cs typeface="Calibri" pitchFamily="34" charset="-120"/>
              </a:rPr>
              <a:t>El mecánico pregunta y espera: el flujo es síncrono</a:t>
            </a:r>
            <a:endParaRPr lang="en-US" sz="1500" dirty="0"/>
          </a:p>
          <a:p>
            <a:pPr marL="342900" indent="-342900">
              <a:lnSpc>
                <a:spcPts val="2100"/>
              </a:lnSpc>
              <a:spcAft>
                <a:spcPts val="1000"/>
              </a:spcAft>
              <a:buSzPct val="100000"/>
              <a:buChar char="•"/>
            </a:pPr>
            <a:r>
              <a:rPr lang="en-US" sz="1500" dirty="0">
                <a:solidFill>
                  <a:srgbClr val="1A1C2E"/>
                </a:solidFill>
                <a:latin typeface="Calibri" pitchFamily="34" charset="0"/>
                <a:ea typeface="Calibri" pitchFamily="34" charset="-122"/>
                <a:cs typeface="Calibri" pitchFamily="34" charset="-120"/>
              </a:rPr>
              <a:t>Un solo programador: más piezas es más sitio donde romper</a:t>
            </a:r>
            <a:endParaRPr lang="en-US" sz="1500" dirty="0"/>
          </a:p>
        </p:txBody>
      </p:sp>
      <p:sp>
        <p:nvSpPr>
          <p:cNvPr id="8" name="Text 6"/>
          <p:cNvSpPr/>
          <p:nvPr/>
        </p:nvSpPr>
        <p:spPr>
          <a:xfrm>
            <a:off x="777240" y="4709160"/>
            <a:ext cx="10607040" cy="292608"/>
          </a:xfrm>
          <a:prstGeom prst="rect">
            <a:avLst/>
          </a:prstGeom>
          <a:noFill/>
          <a:ln/>
        </p:spPr>
        <p:txBody>
          <a:bodyPr wrap="square" lIns="0" tIns="0" rIns="0" bIns="0" rtlCol="0" anchor="t"/>
          <a:lstStyle/>
          <a:p>
            <a:pPr indent="0" marL="0">
              <a:buNone/>
            </a:pPr>
            <a:r>
              <a:rPr lang="en-US" sz="1500" b="1" dirty="0">
                <a:solidFill>
                  <a:srgbClr val="1A1C2E"/>
                </a:solidFill>
                <a:latin typeface="Arial" pitchFamily="34" charset="0"/>
                <a:ea typeface="Arial" pitchFamily="34" charset="-122"/>
                <a:cs typeface="Arial" pitchFamily="34" charset="-120"/>
              </a:rPr>
              <a:t>En este proyecto</a:t>
            </a:r>
            <a:endParaRPr lang="en-US" sz="1500" dirty="0"/>
          </a:p>
        </p:txBody>
      </p:sp>
      <p:sp>
        <p:nvSpPr>
          <p:cNvPr id="9" name="Text 7"/>
          <p:cNvSpPr/>
          <p:nvPr/>
        </p:nvSpPr>
        <p:spPr>
          <a:xfrm>
            <a:off x="777240" y="5120640"/>
            <a:ext cx="1737360" cy="310896"/>
          </a:xfrm>
          <a:prstGeom prst="rect">
            <a:avLst/>
          </a:prstGeom>
          <a:noFill/>
          <a:ln/>
        </p:spPr>
        <p:txBody>
          <a:bodyPr wrap="square" lIns="0" tIns="0" rIns="0" bIns="0" rtlCol="0" anchor="ctr"/>
          <a:lstStyle/>
          <a:p>
            <a:pPr indent="0" marL="0">
              <a:buNone/>
            </a:pPr>
            <a:r>
              <a:rPr lang="en-US" sz="1400" b="1" dirty="0">
                <a:solidFill>
                  <a:srgbClr val="202CFC"/>
                </a:solidFill>
                <a:latin typeface="Calibri" pitchFamily="34" charset="0"/>
                <a:ea typeface="Calibri" pitchFamily="34" charset="-122"/>
                <a:cs typeface="Calibri" pitchFamily="34" charset="-120"/>
              </a:rPr>
              <a:t>Dominio</a:t>
            </a:r>
            <a:endParaRPr lang="en-US" sz="1400" dirty="0"/>
          </a:p>
        </p:txBody>
      </p:sp>
      <p:sp>
        <p:nvSpPr>
          <p:cNvPr id="10" name="Text 8"/>
          <p:cNvSpPr/>
          <p:nvPr/>
        </p:nvSpPr>
        <p:spPr>
          <a:xfrm>
            <a:off x="2560320" y="5120640"/>
            <a:ext cx="8778240" cy="310896"/>
          </a:xfrm>
          <a:prstGeom prst="rect">
            <a:avLst/>
          </a:prstGeom>
          <a:noFill/>
          <a:ln/>
        </p:spPr>
        <p:txBody>
          <a:bodyPr wrap="square" lIns="0" tIns="0" rIns="0" bIns="0" rtlCol="0" anchor="ctr"/>
          <a:lstStyle/>
          <a:p>
            <a:pPr indent="0" marL="0">
              <a:buNone/>
            </a:pPr>
            <a:r>
              <a:rPr lang="en-US" sz="1400" dirty="0">
                <a:solidFill>
                  <a:srgbClr val="5A5F73"/>
                </a:solidFill>
                <a:latin typeface="Calibri" pitchFamily="34" charset="0"/>
                <a:ea typeface="Calibri" pitchFamily="34" charset="-122"/>
                <a:cs typeface="Calibri" pitchFamily="34" charset="-120"/>
              </a:rPr>
              <a:t>Vin, DtcCode, PidCode, Formula, catálogos de PID y DTC</a:t>
            </a:r>
            <a:endParaRPr lang="en-US" sz="1400" dirty="0"/>
          </a:p>
        </p:txBody>
      </p:sp>
      <p:sp>
        <p:nvSpPr>
          <p:cNvPr id="11" name="Text 9"/>
          <p:cNvSpPr/>
          <p:nvPr/>
        </p:nvSpPr>
        <p:spPr>
          <a:xfrm>
            <a:off x="777240" y="5486400"/>
            <a:ext cx="1737360" cy="310896"/>
          </a:xfrm>
          <a:prstGeom prst="rect">
            <a:avLst/>
          </a:prstGeom>
          <a:noFill/>
          <a:ln/>
        </p:spPr>
        <p:txBody>
          <a:bodyPr wrap="square" lIns="0" tIns="0" rIns="0" bIns="0" rtlCol="0" anchor="ctr"/>
          <a:lstStyle/>
          <a:p>
            <a:pPr indent="0" marL="0">
              <a:buNone/>
            </a:pPr>
            <a:r>
              <a:rPr lang="en-US" sz="1400" b="1" dirty="0">
                <a:solidFill>
                  <a:srgbClr val="202CFC"/>
                </a:solidFill>
                <a:latin typeface="Calibri" pitchFamily="34" charset="0"/>
                <a:ea typeface="Calibri" pitchFamily="34" charset="-122"/>
                <a:cs typeface="Calibri" pitchFamily="34" charset="-120"/>
              </a:rPr>
              <a:t>Aplicación</a:t>
            </a:r>
            <a:endParaRPr lang="en-US" sz="1400" dirty="0"/>
          </a:p>
        </p:txBody>
      </p:sp>
      <p:sp>
        <p:nvSpPr>
          <p:cNvPr id="12" name="Text 10"/>
          <p:cNvSpPr/>
          <p:nvPr/>
        </p:nvSpPr>
        <p:spPr>
          <a:xfrm>
            <a:off x="2560320" y="5486400"/>
            <a:ext cx="8778240" cy="310896"/>
          </a:xfrm>
          <a:prstGeom prst="rect">
            <a:avLst/>
          </a:prstGeom>
          <a:noFill/>
          <a:ln/>
        </p:spPr>
        <p:txBody>
          <a:bodyPr wrap="square" lIns="0" tIns="0" rIns="0" bIns="0" rtlCol="0" anchor="ctr"/>
          <a:lstStyle/>
          <a:p>
            <a:pPr indent="0" marL="0">
              <a:buNone/>
            </a:pPr>
            <a:r>
              <a:rPr lang="en-US" sz="1400" dirty="0">
                <a:solidFill>
                  <a:srgbClr val="5A5F73"/>
                </a:solidFill>
                <a:latin typeface="Calibri" pitchFamily="34" charset="0"/>
                <a:ea typeface="Calibri" pitchFamily="34" charset="-122"/>
                <a:cs typeface="Calibri" pitchFamily="34" charset="-120"/>
              </a:rPr>
              <a:t>IdentifyVehicle, ExecuteCognitiveDiagnosis, ObdRepository, LlmClientPort</a:t>
            </a:r>
            <a:endParaRPr lang="en-US" sz="1400" dirty="0"/>
          </a:p>
        </p:txBody>
      </p:sp>
      <p:sp>
        <p:nvSpPr>
          <p:cNvPr id="13" name="Text 11"/>
          <p:cNvSpPr/>
          <p:nvPr/>
        </p:nvSpPr>
        <p:spPr>
          <a:xfrm>
            <a:off x="777240" y="5852160"/>
            <a:ext cx="1737360" cy="310896"/>
          </a:xfrm>
          <a:prstGeom prst="rect">
            <a:avLst/>
          </a:prstGeom>
          <a:noFill/>
          <a:ln/>
        </p:spPr>
        <p:txBody>
          <a:bodyPr wrap="square" lIns="0" tIns="0" rIns="0" bIns="0" rtlCol="0" anchor="ctr"/>
          <a:lstStyle/>
          <a:p>
            <a:pPr indent="0" marL="0">
              <a:buNone/>
            </a:pPr>
            <a:r>
              <a:rPr lang="en-US" sz="1400" b="1" dirty="0">
                <a:solidFill>
                  <a:srgbClr val="202CFC"/>
                </a:solidFill>
                <a:latin typeface="Calibri" pitchFamily="34" charset="0"/>
                <a:ea typeface="Calibri" pitchFamily="34" charset="-122"/>
                <a:cs typeface="Calibri" pitchFamily="34" charset="-120"/>
              </a:rPr>
              <a:t>Infraestructura</a:t>
            </a:r>
            <a:endParaRPr lang="en-US" sz="1400" dirty="0"/>
          </a:p>
        </p:txBody>
      </p:sp>
      <p:sp>
        <p:nvSpPr>
          <p:cNvPr id="14" name="Text 12"/>
          <p:cNvSpPr/>
          <p:nvPr/>
        </p:nvSpPr>
        <p:spPr>
          <a:xfrm>
            <a:off x="2560320" y="5852160"/>
            <a:ext cx="8778240" cy="310896"/>
          </a:xfrm>
          <a:prstGeom prst="rect">
            <a:avLst/>
          </a:prstGeom>
          <a:noFill/>
          <a:ln/>
        </p:spPr>
        <p:txBody>
          <a:bodyPr wrap="square" lIns="0" tIns="0" rIns="0" bIns="0" rtlCol="0" anchor="ctr"/>
          <a:lstStyle/>
          <a:p>
            <a:pPr indent="0" marL="0">
              <a:buNone/>
            </a:pPr>
            <a:r>
              <a:rPr lang="en-US" sz="1400" dirty="0">
                <a:solidFill>
                  <a:srgbClr val="5A5F73"/>
                </a:solidFill>
                <a:latin typeface="Calibri" pitchFamily="34" charset="0"/>
                <a:ea typeface="Calibri" pitchFamily="34" charset="-122"/>
                <a:cs typeface="Calibri" pitchFamily="34" charset="-120"/>
              </a:rPr>
              <a:t>Express, Drizzle + SQLite, LanceDB, servidor MCP, transporte ELM327</a:t>
            </a:r>
            <a:endParaRPr lang="en-US" sz="1400" dirty="0"/>
          </a:p>
        </p:txBody>
      </p:sp>
      <p:sp>
        <p:nvSpPr>
          <p:cNvPr id="15" name="Shape 13"/>
          <p:cNvSpPr/>
          <p:nvPr/>
        </p:nvSpPr>
        <p:spPr>
          <a:xfrm>
            <a:off x="777240" y="6263640"/>
            <a:ext cx="219456" cy="219456"/>
          </a:xfrm>
          <a:prstGeom prst="rect">
            <a:avLst/>
          </a:prstGeom>
          <a:solidFill>
            <a:srgbClr val="202CFC"/>
          </a:solidFill>
          <a:ln/>
        </p:spPr>
      </p:sp>
      <p:sp>
        <p:nvSpPr>
          <p:cNvPr id="16" name="Text 14"/>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7" name="Text 15"/>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8" name="Text 16"/>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Cómo se lee el coche</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Un ejemplo: pedirle las revoluciones del motor.</a:t>
            </a:r>
            <a:endParaRPr lang="en-US" sz="1700" dirty="0"/>
          </a:p>
        </p:txBody>
      </p:sp>
      <p:sp>
        <p:nvSpPr>
          <p:cNvPr id="4" name="Shape 2"/>
          <p:cNvSpPr/>
          <p:nvPr/>
        </p:nvSpPr>
        <p:spPr>
          <a:xfrm>
            <a:off x="777240" y="2331720"/>
            <a:ext cx="2194560" cy="1051560"/>
          </a:xfrm>
          <a:prstGeom prst="roundRect">
            <a:avLst>
              <a:gd name="adj" fmla="val 5217"/>
            </a:avLst>
          </a:prstGeom>
          <a:solidFill>
            <a:srgbClr val="FFFFFF"/>
          </a:solidFill>
          <a:ln w="12700">
            <a:solidFill>
              <a:srgbClr val="C9CCD8"/>
            </a:solidFill>
            <a:prstDash val="solid"/>
          </a:ln>
        </p:spPr>
      </p:sp>
      <p:sp>
        <p:nvSpPr>
          <p:cNvPr id="5" name="Text 3"/>
          <p:cNvSpPr/>
          <p:nvPr/>
        </p:nvSpPr>
        <p:spPr>
          <a:xfrm>
            <a:off x="777240" y="2331720"/>
            <a:ext cx="2194560" cy="1051560"/>
          </a:xfrm>
          <a:prstGeom prst="rect">
            <a:avLst/>
          </a:prstGeom>
          <a:noFill/>
          <a:ln/>
        </p:spPr>
        <p:txBody>
          <a:bodyPr wrap="square" lIns="0" tIns="0" rIns="0" bIns="0" rtlCol="0" anchor="ctr"/>
          <a:lstStyle/>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La aplicación</a:t>
            </a:r>
            <a:endParaRPr lang="en-US" sz="1500" dirty="0"/>
          </a:p>
        </p:txBody>
      </p:sp>
      <p:sp>
        <p:nvSpPr>
          <p:cNvPr id="6" name="Shape 4"/>
          <p:cNvSpPr/>
          <p:nvPr/>
        </p:nvSpPr>
        <p:spPr>
          <a:xfrm>
            <a:off x="3081528" y="2857500"/>
            <a:ext cx="374904" cy="0"/>
          </a:xfrm>
          <a:prstGeom prst="line">
            <a:avLst/>
          </a:prstGeom>
          <a:noFill/>
          <a:ln w="19050">
            <a:solidFill>
              <a:srgbClr val="202CFC"/>
            </a:solidFill>
            <a:prstDash val="solid"/>
            <a:tailEnd type="triangle"/>
          </a:ln>
        </p:spPr>
      </p:sp>
      <p:sp>
        <p:nvSpPr>
          <p:cNvPr id="7" name="Shape 5"/>
          <p:cNvSpPr/>
          <p:nvPr/>
        </p:nvSpPr>
        <p:spPr>
          <a:xfrm>
            <a:off x="3566160" y="2331720"/>
            <a:ext cx="2194560" cy="1051560"/>
          </a:xfrm>
          <a:prstGeom prst="roundRect">
            <a:avLst>
              <a:gd name="adj" fmla="val 5217"/>
            </a:avLst>
          </a:prstGeom>
          <a:solidFill>
            <a:srgbClr val="FFFFFF"/>
          </a:solidFill>
          <a:ln w="12700">
            <a:solidFill>
              <a:srgbClr val="C9CCD8"/>
            </a:solidFill>
            <a:prstDash val="solid"/>
          </a:ln>
        </p:spPr>
      </p:sp>
      <p:sp>
        <p:nvSpPr>
          <p:cNvPr id="8" name="Text 6"/>
          <p:cNvSpPr/>
          <p:nvPr/>
        </p:nvSpPr>
        <p:spPr>
          <a:xfrm>
            <a:off x="3566160" y="2331720"/>
            <a:ext cx="2194560" cy="1051560"/>
          </a:xfrm>
          <a:prstGeom prst="rect">
            <a:avLst/>
          </a:prstGeom>
          <a:noFill/>
          <a:ln/>
        </p:spPr>
        <p:txBody>
          <a:bodyPr wrap="square" lIns="0" tIns="0" rIns="0" bIns="0" rtlCol="0" anchor="ctr"/>
          <a:lstStyle/>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Adaptador</a:t>
            </a:r>
            <a:endParaRPr lang="en-US" sz="1500" dirty="0"/>
          </a:p>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ELM327</a:t>
            </a:r>
            <a:endParaRPr lang="en-US" sz="1500" dirty="0"/>
          </a:p>
        </p:txBody>
      </p:sp>
      <p:sp>
        <p:nvSpPr>
          <p:cNvPr id="9" name="Shape 7"/>
          <p:cNvSpPr/>
          <p:nvPr/>
        </p:nvSpPr>
        <p:spPr>
          <a:xfrm>
            <a:off x="5870448" y="2857500"/>
            <a:ext cx="374904" cy="0"/>
          </a:xfrm>
          <a:prstGeom prst="line">
            <a:avLst/>
          </a:prstGeom>
          <a:noFill/>
          <a:ln w="19050">
            <a:solidFill>
              <a:srgbClr val="202CFC"/>
            </a:solidFill>
            <a:prstDash val="solid"/>
            <a:tailEnd type="triangle"/>
          </a:ln>
        </p:spPr>
      </p:sp>
      <p:sp>
        <p:nvSpPr>
          <p:cNvPr id="10" name="Shape 8"/>
          <p:cNvSpPr/>
          <p:nvPr/>
        </p:nvSpPr>
        <p:spPr>
          <a:xfrm>
            <a:off x="6355080" y="2331720"/>
            <a:ext cx="2194560" cy="1051560"/>
          </a:xfrm>
          <a:prstGeom prst="roundRect">
            <a:avLst>
              <a:gd name="adj" fmla="val 5217"/>
            </a:avLst>
          </a:prstGeom>
          <a:solidFill>
            <a:srgbClr val="FFFFFF"/>
          </a:solidFill>
          <a:ln w="12700">
            <a:solidFill>
              <a:srgbClr val="C9CCD8"/>
            </a:solidFill>
            <a:prstDash val="solid"/>
          </a:ln>
        </p:spPr>
      </p:sp>
      <p:sp>
        <p:nvSpPr>
          <p:cNvPr id="11" name="Text 9"/>
          <p:cNvSpPr/>
          <p:nvPr/>
        </p:nvSpPr>
        <p:spPr>
          <a:xfrm>
            <a:off x="6355080" y="2331720"/>
            <a:ext cx="2194560" cy="1051560"/>
          </a:xfrm>
          <a:prstGeom prst="rect">
            <a:avLst/>
          </a:prstGeom>
          <a:noFill/>
          <a:ln/>
        </p:spPr>
        <p:txBody>
          <a:bodyPr wrap="square" lIns="0" tIns="0" rIns="0" bIns="0" rtlCol="0" anchor="ctr"/>
          <a:lstStyle/>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Bus CAN</a:t>
            </a:r>
            <a:endParaRPr lang="en-US" sz="1500" dirty="0"/>
          </a:p>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del coche</a:t>
            </a:r>
            <a:endParaRPr lang="en-US" sz="1500" dirty="0"/>
          </a:p>
        </p:txBody>
      </p:sp>
      <p:sp>
        <p:nvSpPr>
          <p:cNvPr id="12" name="Shape 10"/>
          <p:cNvSpPr/>
          <p:nvPr/>
        </p:nvSpPr>
        <p:spPr>
          <a:xfrm>
            <a:off x="8659368" y="2857500"/>
            <a:ext cx="374904" cy="0"/>
          </a:xfrm>
          <a:prstGeom prst="line">
            <a:avLst/>
          </a:prstGeom>
          <a:noFill/>
          <a:ln w="19050">
            <a:solidFill>
              <a:srgbClr val="202CFC"/>
            </a:solidFill>
            <a:prstDash val="solid"/>
            <a:tailEnd type="triangle"/>
          </a:ln>
        </p:spPr>
      </p:sp>
      <p:sp>
        <p:nvSpPr>
          <p:cNvPr id="13" name="Shape 11"/>
          <p:cNvSpPr/>
          <p:nvPr/>
        </p:nvSpPr>
        <p:spPr>
          <a:xfrm>
            <a:off x="9144000" y="2331720"/>
            <a:ext cx="2194560" cy="1051560"/>
          </a:xfrm>
          <a:prstGeom prst="roundRect">
            <a:avLst>
              <a:gd name="adj" fmla="val 5217"/>
            </a:avLst>
          </a:prstGeom>
          <a:solidFill>
            <a:srgbClr val="FFFFFF"/>
          </a:solidFill>
          <a:ln w="12700">
            <a:solidFill>
              <a:srgbClr val="C9CCD8"/>
            </a:solidFill>
            <a:prstDash val="solid"/>
          </a:ln>
        </p:spPr>
      </p:sp>
      <p:sp>
        <p:nvSpPr>
          <p:cNvPr id="14" name="Text 12"/>
          <p:cNvSpPr/>
          <p:nvPr/>
        </p:nvSpPr>
        <p:spPr>
          <a:xfrm>
            <a:off x="9144000" y="2331720"/>
            <a:ext cx="2194560" cy="1051560"/>
          </a:xfrm>
          <a:prstGeom prst="rect">
            <a:avLst/>
          </a:prstGeom>
          <a:noFill/>
          <a:ln/>
        </p:spPr>
        <p:txBody>
          <a:bodyPr wrap="square" lIns="0" tIns="0" rIns="0" bIns="0" rtlCol="0" anchor="ctr"/>
          <a:lstStyle/>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Centralita</a:t>
            </a:r>
            <a:endParaRPr lang="en-US" sz="1500" dirty="0"/>
          </a:p>
          <a:p>
            <a:pPr algn="ctr" indent="0" marL="0">
              <a:lnSpc>
                <a:spcPts val="2000"/>
              </a:lnSpc>
              <a:buNone/>
            </a:pPr>
            <a:r>
              <a:rPr lang="en-US" sz="1500" dirty="0">
                <a:solidFill>
                  <a:srgbClr val="1A1C2E"/>
                </a:solidFill>
                <a:latin typeface="Calibri" pitchFamily="34" charset="0"/>
                <a:ea typeface="Calibri" pitchFamily="34" charset="-122"/>
                <a:cs typeface="Calibri" pitchFamily="34" charset="-120"/>
              </a:rPr>
              <a:t>del motor</a:t>
            </a:r>
            <a:endParaRPr lang="en-US" sz="1500" dirty="0"/>
          </a:p>
        </p:txBody>
      </p:sp>
      <p:sp>
        <p:nvSpPr>
          <p:cNvPr id="15" name="Text 13"/>
          <p:cNvSpPr/>
          <p:nvPr/>
        </p:nvSpPr>
        <p:spPr>
          <a:xfrm>
            <a:off x="777240" y="3977640"/>
            <a:ext cx="1005840" cy="301752"/>
          </a:xfrm>
          <a:prstGeom prst="rect">
            <a:avLst/>
          </a:prstGeom>
          <a:noFill/>
          <a:ln/>
        </p:spPr>
        <p:txBody>
          <a:bodyPr wrap="square" lIns="0" tIns="0" rIns="0" bIns="0" rtlCol="0" anchor="ctr"/>
          <a:lstStyle/>
          <a:p>
            <a:pPr indent="0" marL="0">
              <a:buNone/>
            </a:pPr>
            <a:r>
              <a:rPr lang="en-US" sz="1400" b="1" dirty="0">
                <a:solidFill>
                  <a:srgbClr val="5A5F73"/>
                </a:solidFill>
                <a:latin typeface="Calibri" pitchFamily="34" charset="0"/>
                <a:ea typeface="Calibri" pitchFamily="34" charset="-122"/>
                <a:cs typeface="Calibri" pitchFamily="34" charset="-120"/>
              </a:rPr>
              <a:t>Va</a:t>
            </a:r>
            <a:endParaRPr lang="en-US" sz="1400" dirty="0"/>
          </a:p>
        </p:txBody>
      </p:sp>
      <p:sp>
        <p:nvSpPr>
          <p:cNvPr id="16" name="Text 14"/>
          <p:cNvSpPr/>
          <p:nvPr/>
        </p:nvSpPr>
        <p:spPr>
          <a:xfrm>
            <a:off x="1828800" y="3977640"/>
            <a:ext cx="2743200" cy="301752"/>
          </a:xfrm>
          <a:prstGeom prst="rect">
            <a:avLst/>
          </a:prstGeom>
          <a:noFill/>
          <a:ln/>
        </p:spPr>
        <p:txBody>
          <a:bodyPr wrap="square" lIns="0" tIns="0" rIns="0" bIns="0" rtlCol="0" anchor="ctr"/>
          <a:lstStyle/>
          <a:p>
            <a:pPr indent="0" marL="0">
              <a:buNone/>
            </a:pPr>
            <a:r>
              <a:rPr lang="en-US" sz="1600" b="1" dirty="0">
                <a:solidFill>
                  <a:srgbClr val="1A1C2E"/>
                </a:solidFill>
                <a:latin typeface="Courier New" pitchFamily="34" charset="0"/>
                <a:ea typeface="Courier New" pitchFamily="34" charset="-122"/>
                <a:cs typeface="Courier New" pitchFamily="34" charset="-120"/>
              </a:rPr>
              <a:t>01 0C</a:t>
            </a:r>
            <a:endParaRPr lang="en-US" sz="1600" dirty="0"/>
          </a:p>
        </p:txBody>
      </p:sp>
      <p:sp>
        <p:nvSpPr>
          <p:cNvPr id="17" name="Text 15"/>
          <p:cNvSpPr/>
          <p:nvPr/>
        </p:nvSpPr>
        <p:spPr>
          <a:xfrm>
            <a:off x="4206240" y="3977640"/>
            <a:ext cx="6858000" cy="301752"/>
          </a:xfrm>
          <a:prstGeom prst="rect">
            <a:avLst/>
          </a:prstGeom>
          <a:noFill/>
          <a:ln/>
        </p:spPr>
        <p:txBody>
          <a:bodyPr wrap="square" lIns="0" tIns="0" rIns="0" bIns="0" rtlCol="0" anchor="ctr"/>
          <a:lstStyle/>
          <a:p>
            <a:pPr indent="0" marL="0">
              <a:buNone/>
            </a:pPr>
            <a:r>
              <a:rPr lang="en-US" sz="1400" dirty="0">
                <a:solidFill>
                  <a:srgbClr val="5A5F73"/>
                </a:solidFill>
                <a:latin typeface="Calibri" pitchFamily="34" charset="0"/>
                <a:ea typeface="Calibri" pitchFamily="34" charset="-122"/>
                <a:cs typeface="Calibri" pitchFamily="34" charset="-120"/>
              </a:rPr>
              <a:t>modo 01, PID 0C — revoluciones</a:t>
            </a:r>
            <a:endParaRPr lang="en-US" sz="1400" dirty="0"/>
          </a:p>
        </p:txBody>
      </p:sp>
      <p:sp>
        <p:nvSpPr>
          <p:cNvPr id="18" name="Text 16"/>
          <p:cNvSpPr/>
          <p:nvPr/>
        </p:nvSpPr>
        <p:spPr>
          <a:xfrm>
            <a:off x="777240" y="4434840"/>
            <a:ext cx="1005840" cy="301752"/>
          </a:xfrm>
          <a:prstGeom prst="rect">
            <a:avLst/>
          </a:prstGeom>
          <a:noFill/>
          <a:ln/>
        </p:spPr>
        <p:txBody>
          <a:bodyPr wrap="square" lIns="0" tIns="0" rIns="0" bIns="0" rtlCol="0" anchor="ctr"/>
          <a:lstStyle/>
          <a:p>
            <a:pPr indent="0" marL="0">
              <a:buNone/>
            </a:pPr>
            <a:r>
              <a:rPr lang="en-US" sz="1400" b="1" dirty="0">
                <a:solidFill>
                  <a:srgbClr val="5A5F73"/>
                </a:solidFill>
                <a:latin typeface="Calibri" pitchFamily="34" charset="0"/>
                <a:ea typeface="Calibri" pitchFamily="34" charset="-122"/>
                <a:cs typeface="Calibri" pitchFamily="34" charset="-120"/>
              </a:rPr>
              <a:t>Vuelve</a:t>
            </a:r>
            <a:endParaRPr lang="en-US" sz="1400" dirty="0"/>
          </a:p>
        </p:txBody>
      </p:sp>
      <p:sp>
        <p:nvSpPr>
          <p:cNvPr id="19" name="Text 17"/>
          <p:cNvSpPr/>
          <p:nvPr/>
        </p:nvSpPr>
        <p:spPr>
          <a:xfrm>
            <a:off x="1828800" y="4434840"/>
            <a:ext cx="2743200" cy="301752"/>
          </a:xfrm>
          <a:prstGeom prst="rect">
            <a:avLst/>
          </a:prstGeom>
          <a:noFill/>
          <a:ln/>
        </p:spPr>
        <p:txBody>
          <a:bodyPr wrap="square" lIns="0" tIns="0" rIns="0" bIns="0" rtlCol="0" anchor="ctr"/>
          <a:lstStyle/>
          <a:p>
            <a:pPr indent="0" marL="0">
              <a:buNone/>
            </a:pPr>
            <a:r>
              <a:rPr lang="en-US" sz="1600" b="1" dirty="0">
                <a:solidFill>
                  <a:srgbClr val="1A1C2E"/>
                </a:solidFill>
                <a:latin typeface="Courier New" pitchFamily="34" charset="0"/>
                <a:ea typeface="Courier New" pitchFamily="34" charset="-122"/>
                <a:cs typeface="Courier New" pitchFamily="34" charset="-120"/>
              </a:rPr>
              <a:t>41 0C 0B B8</a:t>
            </a:r>
            <a:endParaRPr lang="en-US" sz="1600" dirty="0"/>
          </a:p>
        </p:txBody>
      </p:sp>
      <p:sp>
        <p:nvSpPr>
          <p:cNvPr id="20" name="Text 18"/>
          <p:cNvSpPr/>
          <p:nvPr/>
        </p:nvSpPr>
        <p:spPr>
          <a:xfrm>
            <a:off x="4206240" y="4434840"/>
            <a:ext cx="6858000" cy="301752"/>
          </a:xfrm>
          <a:prstGeom prst="rect">
            <a:avLst/>
          </a:prstGeom>
          <a:noFill/>
          <a:ln/>
        </p:spPr>
        <p:txBody>
          <a:bodyPr wrap="square" lIns="0" tIns="0" rIns="0" bIns="0" rtlCol="0" anchor="ctr"/>
          <a:lstStyle/>
          <a:p>
            <a:pPr indent="0" marL="0">
              <a:buNone/>
            </a:pPr>
            <a:r>
              <a:rPr lang="en-US" sz="1400" dirty="0">
                <a:solidFill>
                  <a:srgbClr val="5A5F73"/>
                </a:solidFill>
                <a:latin typeface="Calibri" pitchFamily="34" charset="0"/>
                <a:ea typeface="Calibri" pitchFamily="34" charset="-122"/>
                <a:cs typeface="Calibri" pitchFamily="34" charset="-120"/>
              </a:rPr>
              <a:t>los dos bytes de datos son A = 0B y B = B8</a:t>
            </a:r>
            <a:endParaRPr lang="en-US" sz="1400" dirty="0"/>
          </a:p>
        </p:txBody>
      </p:sp>
      <p:sp>
        <p:nvSpPr>
          <p:cNvPr id="21" name="Text 19"/>
          <p:cNvSpPr/>
          <p:nvPr/>
        </p:nvSpPr>
        <p:spPr>
          <a:xfrm>
            <a:off x="777240" y="5166360"/>
            <a:ext cx="10607040" cy="411480"/>
          </a:xfrm>
          <a:prstGeom prst="rect">
            <a:avLst/>
          </a:prstGeom>
          <a:noFill/>
          <a:ln/>
        </p:spPr>
        <p:txBody>
          <a:bodyPr wrap="square" lIns="0" tIns="0" rIns="0" bIns="0" rtlCol="0" anchor="ctr"/>
          <a:lstStyle/>
          <a:p>
            <a:pPr indent="0" marL="0">
              <a:buNone/>
            </a:pPr>
            <a:r>
              <a:rPr lang="en-US" sz="1900" b="1" dirty="0">
                <a:solidFill>
                  <a:srgbClr val="1A1C2E"/>
                </a:solidFill>
                <a:latin typeface="Arial" pitchFamily="34" charset="0"/>
                <a:ea typeface="Arial" pitchFamily="34" charset="-122"/>
                <a:cs typeface="Arial" pitchFamily="34" charset="-120"/>
              </a:rPr>
              <a:t>(A × 256 + B) / 4   =   (11 × 256 + 184) / 4   =   </a:t>
            </a:r>
            <a:pPr indent="0" marL="0">
              <a:buNone/>
            </a:pPr>
            <a:r>
              <a:rPr lang="en-US" sz="1900" b="1" dirty="0">
                <a:solidFill>
                  <a:srgbClr val="202CFC"/>
                </a:solidFill>
                <a:latin typeface="Arial" pitchFamily="34" charset="0"/>
                <a:ea typeface="Arial" pitchFamily="34" charset="-122"/>
                <a:cs typeface="Arial" pitchFamily="34" charset="-120"/>
              </a:rPr>
              <a:t>750 rpm</a:t>
            </a:r>
            <a:endParaRPr lang="en-US" sz="1900" dirty="0"/>
          </a:p>
        </p:txBody>
      </p:sp>
      <p:sp>
        <p:nvSpPr>
          <p:cNvPr id="22" name="Shape 20"/>
          <p:cNvSpPr/>
          <p:nvPr/>
        </p:nvSpPr>
        <p:spPr>
          <a:xfrm>
            <a:off x="777240" y="6263640"/>
            <a:ext cx="219456" cy="219456"/>
          </a:xfrm>
          <a:prstGeom prst="rect">
            <a:avLst/>
          </a:prstGeom>
          <a:solidFill>
            <a:srgbClr val="202CFC"/>
          </a:solidFill>
          <a:ln/>
        </p:spPr>
      </p:sp>
      <p:sp>
        <p:nvSpPr>
          <p:cNvPr id="23" name="Text 21"/>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24" name="Text 22"/>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25" name="Text 23"/>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Dos bases de datos</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En una se busca por clave. En la otra, por parecido.</a:t>
            </a:r>
            <a:endParaRPr lang="en-US" sz="1700" dirty="0"/>
          </a:p>
        </p:txBody>
      </p:sp>
      <p:sp>
        <p:nvSpPr>
          <p:cNvPr id="4" name="Text 2"/>
          <p:cNvSpPr/>
          <p:nvPr/>
        </p:nvSpPr>
        <p:spPr>
          <a:xfrm>
            <a:off x="777240" y="228600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SQLite</a:t>
            </a:r>
            <a:endParaRPr lang="en-US" sz="2000" dirty="0"/>
          </a:p>
        </p:txBody>
      </p:sp>
      <p:sp>
        <p:nvSpPr>
          <p:cNvPr id="5" name="Text 3"/>
          <p:cNvSpPr/>
          <p:nvPr/>
        </p:nvSpPr>
        <p:spPr>
          <a:xfrm>
            <a:off x="777240" y="2834640"/>
            <a:ext cx="4846320" cy="1737360"/>
          </a:xfrm>
          <a:prstGeom prst="rect">
            <a:avLst/>
          </a:prstGeom>
          <a:noFill/>
          <a:ln/>
        </p:spPr>
        <p:txBody>
          <a:bodyPr wrap="square" lIns="0" tIns="0" rIns="0" bIns="0" rtlCol="0" anchor="t"/>
          <a:lstStyle/>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Usuarios, talleres, vehículos, ECUs y sesiones</a:t>
            </a:r>
            <a:endParaRPr lang="en-US" sz="1600" dirty="0"/>
          </a:p>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Los catálogos de PID, DTC y ECU: los de la norma y los que se descubren</a:t>
            </a:r>
            <a:endParaRPr lang="en-US" sz="1600" dirty="0"/>
          </a:p>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Se consulta por clave: este VIN, este PID</a:t>
            </a:r>
            <a:endParaRPr lang="en-US" sz="1600" dirty="0"/>
          </a:p>
        </p:txBody>
      </p:sp>
      <p:sp>
        <p:nvSpPr>
          <p:cNvPr id="6" name="Text 4"/>
          <p:cNvSpPr/>
          <p:nvPr/>
        </p:nvSpPr>
        <p:spPr>
          <a:xfrm>
            <a:off x="6537960" y="228600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LanceDB, vectorial</a:t>
            </a:r>
            <a:endParaRPr lang="en-US" sz="2000" dirty="0"/>
          </a:p>
        </p:txBody>
      </p:sp>
      <p:sp>
        <p:nvSpPr>
          <p:cNvPr id="7" name="Text 5"/>
          <p:cNvSpPr/>
          <p:nvPr/>
        </p:nvSpPr>
        <p:spPr>
          <a:xfrm>
            <a:off x="6537960" y="2834640"/>
            <a:ext cx="4846320" cy="1737360"/>
          </a:xfrm>
          <a:prstGeom prst="rect">
            <a:avLst/>
          </a:prstGeom>
          <a:noFill/>
          <a:ln/>
        </p:spPr>
        <p:txBody>
          <a:bodyPr wrap="square" lIns="0" tIns="0" rIns="0" bIns="0" rtlCol="0" anchor="t"/>
          <a:lstStyle/>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Ese mismo conocimiento, indexado por significado</a:t>
            </a:r>
            <a:endParaRPr lang="en-US" sz="1600" dirty="0"/>
          </a:p>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Y los diagnósticos ya resueltos, que aquí no están</a:t>
            </a:r>
            <a:endParaRPr lang="en-US" sz="1600" dirty="0"/>
          </a:p>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Se consulta por parecido, no por clave</a:t>
            </a:r>
            <a:endParaRPr lang="en-US" sz="1600" dirty="0"/>
          </a:p>
          <a:p>
            <a:pPr marL="342900" indent="-342900">
              <a:lnSpc>
                <a:spcPts val="2200"/>
              </a:lnSpc>
              <a:spcAft>
                <a:spcPts val="1200"/>
              </a:spcAft>
              <a:buSzPct val="100000"/>
              <a:buChar char="•"/>
            </a:pPr>
            <a:r>
              <a:rPr lang="en-US" sz="1600" dirty="0">
                <a:solidFill>
                  <a:srgbClr val="1A1C2E"/>
                </a:solidFill>
                <a:latin typeface="Calibri" pitchFamily="34" charset="0"/>
                <a:ea typeface="Calibri" pitchFamily="34" charset="-122"/>
                <a:cs typeface="Calibri" pitchFamily="34" charset="-120"/>
              </a:rPr>
              <a:t>El buscador de texto de SQLite no llega: «presión de aceite» no encuentra «oil pressure»</a:t>
            </a:r>
            <a:endParaRPr lang="en-US" sz="1600" dirty="0"/>
          </a:p>
        </p:txBody>
      </p:sp>
      <p:sp>
        <p:nvSpPr>
          <p:cNvPr id="8" name="Shape 6"/>
          <p:cNvSpPr/>
          <p:nvPr/>
        </p:nvSpPr>
        <p:spPr>
          <a:xfrm>
            <a:off x="777240" y="6263640"/>
            <a:ext cx="219456" cy="219456"/>
          </a:xfrm>
          <a:prstGeom prst="rect">
            <a:avLst/>
          </a:prstGeom>
          <a:solidFill>
            <a:srgbClr val="202CFC"/>
          </a:solidFill>
          <a:ln/>
        </p:spPr>
      </p:sp>
      <p:sp>
        <p:nvSpPr>
          <p:cNvPr id="9" name="Text 7"/>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0" name="Text 8"/>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1" name="Text 9"/>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SQLite: el catálogo y los datos del taller</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13 tablas. Todo lo que se puede pedir por una clave exacta.</a:t>
            </a:r>
            <a:endParaRPr lang="en-US" sz="1700" dirty="0"/>
          </a:p>
        </p:txBody>
      </p:sp>
      <p:sp>
        <p:nvSpPr>
          <p:cNvPr id="4" name="Text 2"/>
          <p:cNvSpPr/>
          <p:nvPr/>
        </p:nvSpPr>
        <p:spPr>
          <a:xfrm>
            <a:off x="777240" y="228600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Qué guarda</a:t>
            </a:r>
            <a:endParaRPr lang="en-US" sz="1900" dirty="0"/>
          </a:p>
        </p:txBody>
      </p:sp>
      <p:sp>
        <p:nvSpPr>
          <p:cNvPr id="5" name="Text 3"/>
          <p:cNvSpPr/>
          <p:nvPr/>
        </p:nvSpPr>
        <p:spPr>
          <a:xfrm>
            <a:off x="777240" y="2834640"/>
            <a:ext cx="4846320" cy="274320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Usuarios: particulares o talleres, con su rol</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Vehículos por VIN y las ECUs de cada uno</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Sesiones de diagnóstico, con el informe congelado</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Lecturas de PID: el hexadecimal crudo y el valor ya convertido</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Logs y auditoría de cada petición</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Y crece solo: un PID leído que no esté en el catálogo se inserta con confianza 0,3</a:t>
            </a:r>
            <a:endParaRPr lang="en-US" sz="1500" dirty="0"/>
          </a:p>
        </p:txBody>
      </p:sp>
      <p:sp>
        <p:nvSpPr>
          <p:cNvPr id="6" name="Text 4"/>
          <p:cNvSpPr/>
          <p:nvPr/>
        </p:nvSpPr>
        <p:spPr>
          <a:xfrm>
            <a:off x="6537960" y="228600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Lo que viene sembrado al arrancar</a:t>
            </a:r>
            <a:endParaRPr lang="en-US" sz="1900" dirty="0"/>
          </a:p>
        </p:txBody>
      </p:sp>
      <p:sp>
        <p:nvSpPr>
          <p:cNvPr id="7" name="Text 5"/>
          <p:cNvSpPr/>
          <p:nvPr/>
        </p:nvSpPr>
        <p:spPr>
          <a:xfrm>
            <a:off x="6537960" y="2880360"/>
            <a:ext cx="685800" cy="347472"/>
          </a:xfrm>
          <a:prstGeom prst="rect">
            <a:avLst/>
          </a:prstGeom>
          <a:noFill/>
          <a:ln/>
        </p:spPr>
        <p:txBody>
          <a:bodyPr wrap="square" lIns="0" tIns="0" rIns="0" bIns="0" rtlCol="0" anchor="ctr"/>
          <a:lstStyle/>
          <a:p>
            <a:pPr indent="0" marL="0">
              <a:buNone/>
            </a:pPr>
            <a:r>
              <a:rPr lang="en-US" sz="2000" b="1" dirty="0">
                <a:solidFill>
                  <a:srgbClr val="1A1C2E"/>
                </a:solidFill>
                <a:latin typeface="Arial" pitchFamily="34" charset="0"/>
                <a:ea typeface="Arial" pitchFamily="34" charset="-122"/>
                <a:cs typeface="Arial" pitchFamily="34" charset="-120"/>
              </a:rPr>
              <a:t>20</a:t>
            </a:r>
            <a:endParaRPr lang="en-US" sz="2000" dirty="0"/>
          </a:p>
        </p:txBody>
      </p:sp>
      <p:sp>
        <p:nvSpPr>
          <p:cNvPr id="8" name="Text 6"/>
          <p:cNvSpPr/>
          <p:nvPr/>
        </p:nvSpPr>
        <p:spPr>
          <a:xfrm>
            <a:off x="7315200" y="2880360"/>
            <a:ext cx="4069080" cy="347472"/>
          </a:xfrm>
          <a:prstGeom prst="rect">
            <a:avLst/>
          </a:prstGeom>
          <a:noFill/>
          <a:ln/>
        </p:spPr>
        <p:txBody>
          <a:bodyPr wrap="square" lIns="0" tIns="0" rIns="0" bIns="0" rtlCol="0" anchor="ctr"/>
          <a:lstStyle/>
          <a:p>
            <a:pPr indent="0" marL="0">
              <a:buNone/>
            </a:pPr>
            <a:r>
              <a:rPr lang="en-US" sz="1500" dirty="0">
                <a:solidFill>
                  <a:srgbClr val="1A1C2E"/>
                </a:solidFill>
                <a:latin typeface="Calibri" pitchFamily="34" charset="0"/>
                <a:ea typeface="Calibri" pitchFamily="34" charset="-122"/>
                <a:cs typeface="Calibri" pitchFamily="34" charset="-120"/>
              </a:rPr>
              <a:t>PIDs de la norma SAE J1979</a:t>
            </a:r>
            <a:endParaRPr lang="en-US" sz="1500" dirty="0"/>
          </a:p>
        </p:txBody>
      </p:sp>
      <p:sp>
        <p:nvSpPr>
          <p:cNvPr id="9" name="Text 7"/>
          <p:cNvSpPr/>
          <p:nvPr/>
        </p:nvSpPr>
        <p:spPr>
          <a:xfrm>
            <a:off x="6537960" y="3447288"/>
            <a:ext cx="685800" cy="347472"/>
          </a:xfrm>
          <a:prstGeom prst="rect">
            <a:avLst/>
          </a:prstGeom>
          <a:noFill/>
          <a:ln/>
        </p:spPr>
        <p:txBody>
          <a:bodyPr wrap="square" lIns="0" tIns="0" rIns="0" bIns="0" rtlCol="0" anchor="ctr"/>
          <a:lstStyle/>
          <a:p>
            <a:pPr indent="0" marL="0">
              <a:buNone/>
            </a:pPr>
            <a:r>
              <a:rPr lang="en-US" sz="2000" b="1" dirty="0">
                <a:solidFill>
                  <a:srgbClr val="1A1C2E"/>
                </a:solidFill>
                <a:latin typeface="Arial" pitchFamily="34" charset="0"/>
                <a:ea typeface="Arial" pitchFamily="34" charset="-122"/>
                <a:cs typeface="Arial" pitchFamily="34" charset="-120"/>
              </a:rPr>
              <a:t>23</a:t>
            </a:r>
            <a:endParaRPr lang="en-US" sz="2000" dirty="0"/>
          </a:p>
        </p:txBody>
      </p:sp>
      <p:sp>
        <p:nvSpPr>
          <p:cNvPr id="10" name="Text 8"/>
          <p:cNvSpPr/>
          <p:nvPr/>
        </p:nvSpPr>
        <p:spPr>
          <a:xfrm>
            <a:off x="7315200" y="3447288"/>
            <a:ext cx="4069080" cy="347472"/>
          </a:xfrm>
          <a:prstGeom prst="rect">
            <a:avLst/>
          </a:prstGeom>
          <a:noFill/>
          <a:ln/>
        </p:spPr>
        <p:txBody>
          <a:bodyPr wrap="square" lIns="0" tIns="0" rIns="0" bIns="0" rtlCol="0" anchor="ctr"/>
          <a:lstStyle/>
          <a:p>
            <a:pPr indent="0" marL="0">
              <a:buNone/>
            </a:pPr>
            <a:r>
              <a:rPr lang="en-US" sz="1500" dirty="0">
                <a:solidFill>
                  <a:srgbClr val="1A1C2E"/>
                </a:solidFill>
                <a:latin typeface="Calibri" pitchFamily="34" charset="0"/>
                <a:ea typeface="Calibri" pitchFamily="34" charset="-122"/>
                <a:cs typeface="Calibri" pitchFamily="34" charset="-120"/>
              </a:rPr>
              <a:t>códigos DTC estándar</a:t>
            </a:r>
            <a:endParaRPr lang="en-US" sz="1500" dirty="0"/>
          </a:p>
        </p:txBody>
      </p:sp>
      <p:sp>
        <p:nvSpPr>
          <p:cNvPr id="11" name="Text 9"/>
          <p:cNvSpPr/>
          <p:nvPr/>
        </p:nvSpPr>
        <p:spPr>
          <a:xfrm>
            <a:off x="6537960" y="4014216"/>
            <a:ext cx="685800" cy="347472"/>
          </a:xfrm>
          <a:prstGeom prst="rect">
            <a:avLst/>
          </a:prstGeom>
          <a:noFill/>
          <a:ln/>
        </p:spPr>
        <p:txBody>
          <a:bodyPr wrap="square" lIns="0" tIns="0" rIns="0" bIns="0" rtlCol="0" anchor="ctr"/>
          <a:lstStyle/>
          <a:p>
            <a:pPr indent="0" marL="0">
              <a:buNone/>
            </a:pPr>
            <a:r>
              <a:rPr lang="en-US" sz="2000" b="1" dirty="0">
                <a:solidFill>
                  <a:srgbClr val="1A1C2E"/>
                </a:solidFill>
                <a:latin typeface="Arial" pitchFamily="34" charset="0"/>
                <a:ea typeface="Arial" pitchFamily="34" charset="-122"/>
                <a:cs typeface="Arial" pitchFamily="34" charset="-120"/>
              </a:rPr>
              <a:t>27</a:t>
            </a:r>
            <a:endParaRPr lang="en-US" sz="2000" dirty="0"/>
          </a:p>
        </p:txBody>
      </p:sp>
      <p:sp>
        <p:nvSpPr>
          <p:cNvPr id="12" name="Text 10"/>
          <p:cNvSpPr/>
          <p:nvPr/>
        </p:nvSpPr>
        <p:spPr>
          <a:xfrm>
            <a:off x="7315200" y="4014216"/>
            <a:ext cx="4069080" cy="347472"/>
          </a:xfrm>
          <a:prstGeom prst="rect">
            <a:avLst/>
          </a:prstGeom>
          <a:noFill/>
          <a:ln/>
        </p:spPr>
        <p:txBody>
          <a:bodyPr wrap="square" lIns="0" tIns="0" rIns="0" bIns="0" rtlCol="0" anchor="ctr"/>
          <a:lstStyle/>
          <a:p>
            <a:pPr indent="0" marL="0">
              <a:buNone/>
            </a:pPr>
            <a:r>
              <a:rPr lang="en-US" sz="1500" dirty="0">
                <a:solidFill>
                  <a:srgbClr val="1A1C2E"/>
                </a:solidFill>
                <a:latin typeface="Calibri" pitchFamily="34" charset="0"/>
                <a:ea typeface="Calibri" pitchFamily="34" charset="-122"/>
                <a:cs typeface="Calibri" pitchFamily="34" charset="-120"/>
              </a:rPr>
              <a:t>fabricantes, por su código WMI</a:t>
            </a:r>
            <a:endParaRPr lang="en-US" sz="1500" dirty="0"/>
          </a:p>
        </p:txBody>
      </p:sp>
      <p:sp>
        <p:nvSpPr>
          <p:cNvPr id="13" name="Shape 11"/>
          <p:cNvSpPr/>
          <p:nvPr/>
        </p:nvSpPr>
        <p:spPr>
          <a:xfrm>
            <a:off x="777240" y="6263640"/>
            <a:ext cx="219456" cy="219456"/>
          </a:xfrm>
          <a:prstGeom prst="rect">
            <a:avLst/>
          </a:prstGeom>
          <a:solidFill>
            <a:srgbClr val="202CFC"/>
          </a:solidFill>
          <a:ln/>
        </p:spPr>
      </p:sp>
      <p:sp>
        <p:nvSpPr>
          <p:cNvPr id="14" name="Text 12"/>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5" name="Text 13"/>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6" name="Text 14"/>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94360"/>
            <a:ext cx="10607040" cy="73152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Qué se guarda en la base vectorial</a:t>
            </a:r>
            <a:endParaRPr lang="en-US" sz="3400" dirty="0"/>
          </a:p>
        </p:txBody>
      </p:sp>
      <p:sp>
        <p:nvSpPr>
          <p:cNvPr id="3" name="Text 1"/>
          <p:cNvSpPr/>
          <p:nvPr/>
        </p:nvSpPr>
        <p:spPr>
          <a:xfrm>
            <a:off x="777240" y="1417320"/>
            <a:ext cx="10607040" cy="365760"/>
          </a:xfrm>
          <a:prstGeom prst="rect">
            <a:avLst/>
          </a:prstGeom>
          <a:noFill/>
          <a:ln/>
        </p:spPr>
        <p:txBody>
          <a:bodyPr wrap="square" lIns="0" tIns="0" rIns="0" bIns="0" rtlCol="0" anchor="t"/>
          <a:lstStyle/>
          <a:p>
            <a:pPr indent="0" marL="0">
              <a:buNone/>
            </a:pPr>
            <a:r>
              <a:rPr lang="en-US" sz="1600" dirty="0">
                <a:solidFill>
                  <a:srgbClr val="5A5F73"/>
                </a:solidFill>
                <a:latin typeface="Calibri" pitchFamily="34" charset="0"/>
                <a:ea typeface="Calibri" pitchFamily="34" charset="-122"/>
                <a:cs typeface="Calibri" pitchFamily="34" charset="-120"/>
              </a:rPr>
              <a:t>Los datos del taller van en SQLite. Aquí solo va lo que el sistema aprende.</a:t>
            </a:r>
            <a:endParaRPr lang="en-US" sz="1600" dirty="0"/>
          </a:p>
        </p:txBody>
      </p:sp>
      <p:sp>
        <p:nvSpPr>
          <p:cNvPr id="4" name="Text 2"/>
          <p:cNvSpPr/>
          <p:nvPr/>
        </p:nvSpPr>
        <p:spPr>
          <a:xfrm>
            <a:off x="777240" y="2057400"/>
            <a:ext cx="6492240" cy="320040"/>
          </a:xfrm>
          <a:prstGeom prst="rect">
            <a:avLst/>
          </a:prstGeom>
          <a:noFill/>
          <a:ln/>
        </p:spPr>
        <p:txBody>
          <a:bodyPr wrap="square" lIns="0" tIns="0" rIns="0" bIns="0" rtlCol="0" anchor="t"/>
          <a:lstStyle/>
          <a:p>
            <a:pPr indent="0" marL="0">
              <a:buNone/>
            </a:pPr>
            <a:r>
              <a:rPr lang="en-US" sz="1800" b="1" dirty="0">
                <a:solidFill>
                  <a:srgbClr val="202CFC"/>
                </a:solidFill>
                <a:latin typeface="Arial" pitchFamily="34" charset="0"/>
                <a:ea typeface="Arial" pitchFamily="34" charset="-122"/>
                <a:cs typeface="Arial" pitchFamily="34" charset="-120"/>
              </a:rPr>
              <a:t>Colecciones</a:t>
            </a:r>
            <a:endParaRPr lang="en-US" sz="1800" dirty="0"/>
          </a:p>
        </p:txBody>
      </p:sp>
      <p:sp>
        <p:nvSpPr>
          <p:cNvPr id="5" name="Text 3"/>
          <p:cNvSpPr/>
          <p:nvPr/>
        </p:nvSpPr>
        <p:spPr>
          <a:xfrm>
            <a:off x="777240" y="2487168"/>
            <a:ext cx="6492240" cy="105156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400" dirty="0">
                <a:solidFill>
                  <a:srgbClr val="1A1C2E"/>
                </a:solidFill>
                <a:latin typeface="Calibri" pitchFamily="34" charset="0"/>
                <a:ea typeface="Calibri" pitchFamily="34" charset="-122"/>
                <a:cs typeface="Calibri" pitchFamily="34" charset="-120"/>
              </a:rPr>
              <a:t>PIDs propietarios que no están en la norma, con su fórmula</a:t>
            </a:r>
            <a:endParaRPr lang="en-US" sz="1400" dirty="0"/>
          </a:p>
          <a:p>
            <a:pPr marL="342900" indent="-342900">
              <a:lnSpc>
                <a:spcPts val="1900"/>
              </a:lnSpc>
              <a:spcAft>
                <a:spcPts val="700"/>
              </a:spcAft>
              <a:buSzPct val="100000"/>
              <a:buChar char="•"/>
            </a:pPr>
            <a:r>
              <a:rPr lang="en-US" sz="1400" dirty="0">
                <a:solidFill>
                  <a:srgbClr val="1A1C2E"/>
                </a:solidFill>
                <a:latin typeface="Calibri" pitchFamily="34" charset="0"/>
                <a:ea typeface="Calibri" pitchFamily="34" charset="-122"/>
                <a:cs typeface="Calibri" pitchFamily="34" charset="-120"/>
              </a:rPr>
              <a:t>DTCs específicos de un fabricante</a:t>
            </a:r>
            <a:endParaRPr lang="en-US" sz="1400" dirty="0"/>
          </a:p>
          <a:p>
            <a:pPr marL="342900" indent="-342900">
              <a:lnSpc>
                <a:spcPts val="1900"/>
              </a:lnSpc>
              <a:spcAft>
                <a:spcPts val="700"/>
              </a:spcAft>
              <a:buSzPct val="100000"/>
              <a:buChar char="•"/>
            </a:pPr>
            <a:r>
              <a:rPr lang="en-US" sz="1400" dirty="0">
                <a:solidFill>
                  <a:srgbClr val="1A1C2E"/>
                </a:solidFill>
                <a:latin typeface="Calibri" pitchFamily="34" charset="0"/>
                <a:ea typeface="Calibri" pitchFamily="34" charset="-122"/>
                <a:cs typeface="Calibri" pitchFamily="34" charset="-120"/>
              </a:rPr>
              <a:t>Casos resueltos: síntomas, PIDs implicados y solución</a:t>
            </a:r>
            <a:endParaRPr lang="en-US" sz="1400" dirty="0"/>
          </a:p>
        </p:txBody>
      </p:sp>
      <p:sp>
        <p:nvSpPr>
          <p:cNvPr id="6" name="Text 4"/>
          <p:cNvSpPr/>
          <p:nvPr/>
        </p:nvSpPr>
        <p:spPr>
          <a:xfrm>
            <a:off x="777240" y="3703320"/>
            <a:ext cx="6492240" cy="320040"/>
          </a:xfrm>
          <a:prstGeom prst="rect">
            <a:avLst/>
          </a:prstGeom>
          <a:noFill/>
          <a:ln/>
        </p:spPr>
        <p:txBody>
          <a:bodyPr wrap="square" lIns="0" tIns="0" rIns="0" bIns="0" rtlCol="0" anchor="t"/>
          <a:lstStyle/>
          <a:p>
            <a:pPr indent="0" marL="0">
              <a:buNone/>
            </a:pPr>
            <a:r>
              <a:rPr lang="en-US" sz="1500" b="1" dirty="0">
                <a:solidFill>
                  <a:srgbClr val="1A1C2E"/>
                </a:solidFill>
                <a:latin typeface="Arial" pitchFamily="34" charset="0"/>
                <a:ea typeface="Arial" pitchFamily="34" charset="-122"/>
                <a:cs typeface="Arial" pitchFamily="34" charset="-120"/>
              </a:rPr>
              <a:t>Un caso resuelto, tal cual se guarda</a:t>
            </a:r>
            <a:endParaRPr lang="en-US" sz="1500" dirty="0"/>
          </a:p>
        </p:txBody>
      </p:sp>
      <p:sp>
        <p:nvSpPr>
          <p:cNvPr id="7" name="Text 5"/>
          <p:cNvSpPr/>
          <p:nvPr/>
        </p:nvSpPr>
        <p:spPr>
          <a:xfrm>
            <a:off x="777240" y="4069080"/>
            <a:ext cx="1600200" cy="274320"/>
          </a:xfrm>
          <a:prstGeom prst="rect">
            <a:avLst/>
          </a:prstGeom>
          <a:noFill/>
          <a:ln/>
        </p:spPr>
        <p:txBody>
          <a:bodyPr wrap="square" lIns="0" tIns="0" rIns="0" bIns="0" rtlCol="0" anchor="ctr"/>
          <a:lstStyle/>
          <a:p>
            <a:pPr indent="0" marL="0">
              <a:buNone/>
            </a:pPr>
            <a:r>
              <a:rPr lang="en-US" sz="1200" b="1" dirty="0">
                <a:solidFill>
                  <a:srgbClr val="202CFC"/>
                </a:solidFill>
                <a:latin typeface="Courier New" pitchFamily="34" charset="0"/>
                <a:ea typeface="Courier New" pitchFamily="34" charset="-122"/>
                <a:cs typeface="Courier New" pitchFamily="34" charset="-120"/>
              </a:rPr>
              <a:t>embeddedText</a:t>
            </a:r>
            <a:endParaRPr lang="en-US" sz="1200" dirty="0"/>
          </a:p>
        </p:txBody>
      </p:sp>
      <p:sp>
        <p:nvSpPr>
          <p:cNvPr id="8" name="Text 6"/>
          <p:cNvSpPr/>
          <p:nvPr/>
        </p:nvSpPr>
        <p:spPr>
          <a:xfrm>
            <a:off x="2468880" y="4069080"/>
            <a:ext cx="4800600" cy="274320"/>
          </a:xfrm>
          <a:prstGeom prst="rect">
            <a:avLst/>
          </a:prstGeom>
          <a:noFill/>
          <a:ln/>
        </p:spPr>
        <p:txBody>
          <a:bodyPr wrap="square" lIns="0" tIns="0" rIns="0" bIns="0" rtlCol="0" anchor="ctr"/>
          <a:lstStyle/>
          <a:p>
            <a:pPr indent="0" marL="0">
              <a:buNone/>
            </a:pPr>
            <a:r>
              <a:rPr lang="en-US" sz="1200" dirty="0">
                <a:solidFill>
                  <a:srgbClr val="1A1C2E"/>
                </a:solidFill>
                <a:latin typeface="Courier New" pitchFamily="34" charset="0"/>
                <a:ea typeface="Courier New" pitchFamily="34" charset="-122"/>
                <a:cs typeface="Courier New" pitchFamily="34" charset="-120"/>
              </a:rPr>
              <a:t>"Audi A3 2.0 TDI con P0401 y P2002: EGR obstruida</a:t>
            </a:r>
            <a:endParaRPr lang="en-US" sz="1200" dirty="0"/>
          </a:p>
        </p:txBody>
      </p:sp>
      <p:sp>
        <p:nvSpPr>
          <p:cNvPr id="9" name="Text 7"/>
          <p:cNvSpPr/>
          <p:nvPr/>
        </p:nvSpPr>
        <p:spPr>
          <a:xfrm>
            <a:off x="2468880" y="4370832"/>
            <a:ext cx="4800600" cy="274320"/>
          </a:xfrm>
          <a:prstGeom prst="rect">
            <a:avLst/>
          </a:prstGeom>
          <a:noFill/>
          <a:ln/>
        </p:spPr>
        <p:txBody>
          <a:bodyPr wrap="square" lIns="0" tIns="0" rIns="0" bIns="0" rtlCol="0" anchor="ctr"/>
          <a:lstStyle/>
          <a:p>
            <a:pPr indent="0" marL="0">
              <a:buNone/>
            </a:pPr>
            <a:r>
              <a:rPr lang="en-US" sz="1200" dirty="0">
                <a:solidFill>
                  <a:srgbClr val="1A1C2E"/>
                </a:solidFill>
                <a:latin typeface="Courier New" pitchFamily="34" charset="0"/>
                <a:ea typeface="Courier New" pitchFamily="34" charset="-122"/>
                <a:cs typeface="Courier New" pitchFamily="34" charset="-120"/>
              </a:rPr>
              <a:t> por carbonilla de un motor que consume aceite"</a:t>
            </a:r>
            <a:endParaRPr lang="en-US" sz="1200" dirty="0"/>
          </a:p>
        </p:txBody>
      </p:sp>
      <p:sp>
        <p:nvSpPr>
          <p:cNvPr id="10" name="Text 8"/>
          <p:cNvSpPr/>
          <p:nvPr/>
        </p:nvSpPr>
        <p:spPr>
          <a:xfrm>
            <a:off x="777240" y="4672584"/>
            <a:ext cx="1600200" cy="274320"/>
          </a:xfrm>
          <a:prstGeom prst="rect">
            <a:avLst/>
          </a:prstGeom>
          <a:noFill/>
          <a:ln/>
        </p:spPr>
        <p:txBody>
          <a:bodyPr wrap="square" lIns="0" tIns="0" rIns="0" bIns="0" rtlCol="0" anchor="ctr"/>
          <a:lstStyle/>
          <a:p>
            <a:pPr indent="0" marL="0">
              <a:buNone/>
            </a:pPr>
            <a:r>
              <a:rPr lang="en-US" sz="1200" b="1" dirty="0">
                <a:solidFill>
                  <a:srgbClr val="202CFC"/>
                </a:solidFill>
                <a:latin typeface="Courier New" pitchFamily="34" charset="0"/>
                <a:ea typeface="Courier New" pitchFamily="34" charset="-122"/>
                <a:cs typeface="Courier New" pitchFamily="34" charset="-120"/>
              </a:rPr>
              <a:t>symptoms</a:t>
            </a:r>
            <a:endParaRPr lang="en-US" sz="1200" dirty="0"/>
          </a:p>
        </p:txBody>
      </p:sp>
      <p:sp>
        <p:nvSpPr>
          <p:cNvPr id="11" name="Text 9"/>
          <p:cNvSpPr/>
          <p:nvPr/>
        </p:nvSpPr>
        <p:spPr>
          <a:xfrm>
            <a:off x="2468880" y="4672584"/>
            <a:ext cx="4800600" cy="274320"/>
          </a:xfrm>
          <a:prstGeom prst="rect">
            <a:avLst/>
          </a:prstGeom>
          <a:noFill/>
          <a:ln/>
        </p:spPr>
        <p:txBody>
          <a:bodyPr wrap="square" lIns="0" tIns="0" rIns="0" bIns="0" rtlCol="0" anchor="ctr"/>
          <a:lstStyle/>
          <a:p>
            <a:pPr indent="0" marL="0">
              <a:buNone/>
            </a:pPr>
            <a:r>
              <a:rPr lang="en-US" sz="1200" dirty="0">
                <a:solidFill>
                  <a:srgbClr val="1A1C2E"/>
                </a:solidFill>
                <a:latin typeface="Courier New" pitchFamily="34" charset="0"/>
                <a:ea typeface="Courier New" pitchFamily="34" charset="-122"/>
                <a:cs typeface="Courier New" pitchFamily="34" charset="-120"/>
              </a:rPr>
              <a:t>ralentí inestable · pérdida de potencia</a:t>
            </a:r>
            <a:endParaRPr lang="en-US" sz="1200" dirty="0"/>
          </a:p>
        </p:txBody>
      </p:sp>
      <p:sp>
        <p:nvSpPr>
          <p:cNvPr id="12" name="Text 10"/>
          <p:cNvSpPr/>
          <p:nvPr/>
        </p:nvSpPr>
        <p:spPr>
          <a:xfrm>
            <a:off x="777240" y="4974336"/>
            <a:ext cx="1600200" cy="274320"/>
          </a:xfrm>
          <a:prstGeom prst="rect">
            <a:avLst/>
          </a:prstGeom>
          <a:noFill/>
          <a:ln/>
        </p:spPr>
        <p:txBody>
          <a:bodyPr wrap="square" lIns="0" tIns="0" rIns="0" bIns="0" rtlCol="0" anchor="ctr"/>
          <a:lstStyle/>
          <a:p>
            <a:pPr indent="0" marL="0">
              <a:buNone/>
            </a:pPr>
            <a:r>
              <a:rPr lang="en-US" sz="1200" b="1" dirty="0">
                <a:solidFill>
                  <a:srgbClr val="202CFC"/>
                </a:solidFill>
                <a:latin typeface="Courier New" pitchFamily="34" charset="0"/>
                <a:ea typeface="Courier New" pitchFamily="34" charset="-122"/>
                <a:cs typeface="Courier New" pitchFamily="34" charset="-120"/>
              </a:rPr>
              <a:t>pidsInvolved</a:t>
            </a:r>
            <a:endParaRPr lang="en-US" sz="1200" dirty="0"/>
          </a:p>
        </p:txBody>
      </p:sp>
      <p:sp>
        <p:nvSpPr>
          <p:cNvPr id="13" name="Text 11"/>
          <p:cNvSpPr/>
          <p:nvPr/>
        </p:nvSpPr>
        <p:spPr>
          <a:xfrm>
            <a:off x="2468880" y="4974336"/>
            <a:ext cx="4800600" cy="274320"/>
          </a:xfrm>
          <a:prstGeom prst="rect">
            <a:avLst/>
          </a:prstGeom>
          <a:noFill/>
          <a:ln/>
        </p:spPr>
        <p:txBody>
          <a:bodyPr wrap="square" lIns="0" tIns="0" rIns="0" bIns="0" rtlCol="0" anchor="ctr"/>
          <a:lstStyle/>
          <a:p>
            <a:pPr indent="0" marL="0">
              <a:buNone/>
            </a:pPr>
            <a:r>
              <a:rPr lang="en-US" sz="1200" dirty="0">
                <a:solidFill>
                  <a:srgbClr val="1A1C2E"/>
                </a:solidFill>
                <a:latin typeface="Courier New" pitchFamily="34" charset="0"/>
                <a:ea typeface="Courier New" pitchFamily="34" charset="-122"/>
                <a:cs typeface="Courier New" pitchFamily="34" charset="-120"/>
              </a:rPr>
              <a:t>010C · 0105 · 22F40C</a:t>
            </a:r>
            <a:endParaRPr lang="en-US" sz="1200" dirty="0"/>
          </a:p>
        </p:txBody>
      </p:sp>
      <p:sp>
        <p:nvSpPr>
          <p:cNvPr id="14" name="Text 12"/>
          <p:cNvSpPr/>
          <p:nvPr/>
        </p:nvSpPr>
        <p:spPr>
          <a:xfrm>
            <a:off x="777240" y="5276088"/>
            <a:ext cx="1600200" cy="274320"/>
          </a:xfrm>
          <a:prstGeom prst="rect">
            <a:avLst/>
          </a:prstGeom>
          <a:noFill/>
          <a:ln/>
        </p:spPr>
        <p:txBody>
          <a:bodyPr wrap="square" lIns="0" tIns="0" rIns="0" bIns="0" rtlCol="0" anchor="ctr"/>
          <a:lstStyle/>
          <a:p>
            <a:pPr indent="0" marL="0">
              <a:buNone/>
            </a:pPr>
            <a:r>
              <a:rPr lang="en-US" sz="1200" b="1" dirty="0">
                <a:solidFill>
                  <a:srgbClr val="202CFC"/>
                </a:solidFill>
                <a:latin typeface="Courier New" pitchFamily="34" charset="0"/>
                <a:ea typeface="Courier New" pitchFamily="34" charset="-122"/>
                <a:cs typeface="Courier New" pitchFamily="34" charset="-120"/>
              </a:rPr>
              <a:t>confidence</a:t>
            </a:r>
            <a:endParaRPr lang="en-US" sz="1200" dirty="0"/>
          </a:p>
        </p:txBody>
      </p:sp>
      <p:sp>
        <p:nvSpPr>
          <p:cNvPr id="15" name="Text 13"/>
          <p:cNvSpPr/>
          <p:nvPr/>
        </p:nvSpPr>
        <p:spPr>
          <a:xfrm>
            <a:off x="2468880" y="5276088"/>
            <a:ext cx="4800600" cy="274320"/>
          </a:xfrm>
          <a:prstGeom prst="rect">
            <a:avLst/>
          </a:prstGeom>
          <a:noFill/>
          <a:ln/>
        </p:spPr>
        <p:txBody>
          <a:bodyPr wrap="square" lIns="0" tIns="0" rIns="0" bIns="0" rtlCol="0" anchor="ctr"/>
          <a:lstStyle/>
          <a:p>
            <a:pPr indent="0" marL="0">
              <a:buNone/>
            </a:pPr>
            <a:r>
              <a:rPr lang="en-US" sz="1200" dirty="0">
                <a:solidFill>
                  <a:srgbClr val="1A1C2E"/>
                </a:solidFill>
                <a:latin typeface="Courier New" pitchFamily="34" charset="0"/>
                <a:ea typeface="Courier New" pitchFamily="34" charset="-122"/>
                <a:cs typeface="Courier New" pitchFamily="34" charset="-120"/>
              </a:rPr>
              <a:t>0,5   ·   manufacturer Audi · model A3</a:t>
            </a:r>
            <a:endParaRPr lang="en-US" sz="1200" dirty="0"/>
          </a:p>
        </p:txBody>
      </p:sp>
      <p:sp>
        <p:nvSpPr>
          <p:cNvPr id="16" name="Text 14"/>
          <p:cNvSpPr/>
          <p:nvPr/>
        </p:nvSpPr>
        <p:spPr>
          <a:xfrm>
            <a:off x="7635240" y="2057400"/>
            <a:ext cx="3749040" cy="320040"/>
          </a:xfrm>
          <a:prstGeom prst="rect">
            <a:avLst/>
          </a:prstGeom>
          <a:noFill/>
          <a:ln/>
        </p:spPr>
        <p:txBody>
          <a:bodyPr wrap="square" lIns="0" tIns="0" rIns="0" bIns="0" rtlCol="0" anchor="t"/>
          <a:lstStyle/>
          <a:p>
            <a:pPr indent="0" marL="0">
              <a:buNone/>
            </a:pPr>
            <a:r>
              <a:rPr lang="en-US" sz="1800" b="1" dirty="0">
                <a:solidFill>
                  <a:srgbClr val="202CFC"/>
                </a:solidFill>
                <a:latin typeface="Arial" pitchFamily="34" charset="0"/>
                <a:ea typeface="Arial" pitchFamily="34" charset="-122"/>
                <a:cs typeface="Arial" pitchFamily="34" charset="-120"/>
              </a:rPr>
              <a:t>Índice de confianza</a:t>
            </a:r>
            <a:endParaRPr lang="en-US" sz="1800" dirty="0"/>
          </a:p>
        </p:txBody>
      </p:sp>
      <p:sp>
        <p:nvSpPr>
          <p:cNvPr id="17" name="Text 15"/>
          <p:cNvSpPr/>
          <p:nvPr/>
        </p:nvSpPr>
        <p:spPr>
          <a:xfrm>
            <a:off x="7635240" y="2450592"/>
            <a:ext cx="3749040" cy="502920"/>
          </a:xfrm>
          <a:prstGeom prst="rect">
            <a:avLst/>
          </a:prstGeom>
          <a:noFill/>
          <a:ln/>
        </p:spPr>
        <p:txBody>
          <a:bodyPr wrap="square" lIns="0" tIns="0" rIns="0" bIns="0" rtlCol="0" anchor="t"/>
          <a:lstStyle/>
          <a:p>
            <a:pPr indent="0" marL="0">
              <a:lnSpc>
                <a:spcPts val="1800"/>
              </a:lnSpc>
              <a:buNone/>
            </a:pPr>
            <a:r>
              <a:rPr lang="en-US" sz="1300" dirty="0">
                <a:solidFill>
                  <a:srgbClr val="5A5F73"/>
                </a:solidFill>
                <a:latin typeface="Calibri" pitchFamily="34" charset="0"/>
                <a:ea typeface="Calibri" pitchFamily="34" charset="-122"/>
                <a:cs typeface="Calibri" pitchFamily="34" charset="-120"/>
              </a:rPr>
              <a:t>Se lo ponemos nosotros al guardar, según de dónde salga el dato. Es lo que pondera las búsquedas.</a:t>
            </a:r>
            <a:endParaRPr lang="en-US" sz="1300" dirty="0"/>
          </a:p>
        </p:txBody>
      </p:sp>
      <p:sp>
        <p:nvSpPr>
          <p:cNvPr id="18" name="Text 16"/>
          <p:cNvSpPr/>
          <p:nvPr/>
        </p:nvSpPr>
        <p:spPr>
          <a:xfrm>
            <a:off x="7635240" y="3108960"/>
            <a:ext cx="640080" cy="310896"/>
          </a:xfrm>
          <a:prstGeom prst="rect">
            <a:avLst/>
          </a:prstGeom>
          <a:noFill/>
          <a:ln/>
        </p:spPr>
        <p:txBody>
          <a:bodyPr wrap="square" lIns="0" tIns="0" rIns="0" bIns="0" rtlCol="0" anchor="t"/>
          <a:lstStyle/>
          <a:p>
            <a:pPr indent="0" marL="0">
              <a:buNone/>
            </a:pPr>
            <a:r>
              <a:rPr lang="en-US" sz="1700" b="1" dirty="0">
                <a:solidFill>
                  <a:srgbClr val="1A1C2E"/>
                </a:solidFill>
                <a:latin typeface="Arial" pitchFamily="34" charset="0"/>
                <a:ea typeface="Arial" pitchFamily="34" charset="-122"/>
                <a:cs typeface="Arial" pitchFamily="34" charset="-120"/>
              </a:rPr>
              <a:t>0,3</a:t>
            </a:r>
            <a:endParaRPr lang="en-US" sz="1700" dirty="0"/>
          </a:p>
        </p:txBody>
      </p:sp>
      <p:sp>
        <p:nvSpPr>
          <p:cNvPr id="19" name="Text 17"/>
          <p:cNvSpPr/>
          <p:nvPr/>
        </p:nvSpPr>
        <p:spPr>
          <a:xfrm>
            <a:off x="8321040" y="3108960"/>
            <a:ext cx="3063240" cy="502920"/>
          </a:xfrm>
          <a:prstGeom prst="rect">
            <a:avLst/>
          </a:prstGeom>
          <a:noFill/>
          <a:ln/>
        </p:spPr>
        <p:txBody>
          <a:bodyPr wrap="square" lIns="0" tIns="0" rIns="0" bIns="0" rtlCol="0" anchor="t"/>
          <a:lstStyle/>
          <a:p>
            <a:pPr indent="0" marL="0">
              <a:lnSpc>
                <a:spcPts val="1700"/>
              </a:lnSpc>
              <a:buNone/>
            </a:pPr>
            <a:r>
              <a:rPr lang="en-US" sz="1300" dirty="0">
                <a:solidFill>
                  <a:srgbClr val="1A1C2E"/>
                </a:solidFill>
                <a:latin typeface="Calibri" pitchFamily="34" charset="0"/>
                <a:ea typeface="Calibri" pitchFamily="34" charset="-122"/>
                <a:cs typeface="Calibri" pitchFamily="34" charset="-120"/>
              </a:rPr>
              <a:t>lo encontró el agente en internet</a:t>
            </a:r>
            <a:endParaRPr lang="en-US" sz="1300" dirty="0"/>
          </a:p>
        </p:txBody>
      </p:sp>
      <p:sp>
        <p:nvSpPr>
          <p:cNvPr id="20" name="Text 18"/>
          <p:cNvSpPr/>
          <p:nvPr/>
        </p:nvSpPr>
        <p:spPr>
          <a:xfrm>
            <a:off x="7635240" y="3675888"/>
            <a:ext cx="640080" cy="310896"/>
          </a:xfrm>
          <a:prstGeom prst="rect">
            <a:avLst/>
          </a:prstGeom>
          <a:noFill/>
          <a:ln/>
        </p:spPr>
        <p:txBody>
          <a:bodyPr wrap="square" lIns="0" tIns="0" rIns="0" bIns="0" rtlCol="0" anchor="t"/>
          <a:lstStyle/>
          <a:p>
            <a:pPr indent="0" marL="0">
              <a:buNone/>
            </a:pPr>
            <a:r>
              <a:rPr lang="en-US" sz="1700" b="1" dirty="0">
                <a:solidFill>
                  <a:srgbClr val="1A1C2E"/>
                </a:solidFill>
                <a:latin typeface="Arial" pitchFamily="34" charset="0"/>
                <a:ea typeface="Arial" pitchFamily="34" charset="-122"/>
                <a:cs typeface="Arial" pitchFamily="34" charset="-120"/>
              </a:rPr>
              <a:t>0,5</a:t>
            </a:r>
            <a:endParaRPr lang="en-US" sz="1700" dirty="0"/>
          </a:p>
        </p:txBody>
      </p:sp>
      <p:sp>
        <p:nvSpPr>
          <p:cNvPr id="21" name="Text 19"/>
          <p:cNvSpPr/>
          <p:nvPr/>
        </p:nvSpPr>
        <p:spPr>
          <a:xfrm>
            <a:off x="8321040" y="3675888"/>
            <a:ext cx="3063240" cy="502920"/>
          </a:xfrm>
          <a:prstGeom prst="rect">
            <a:avLst/>
          </a:prstGeom>
          <a:noFill/>
          <a:ln/>
        </p:spPr>
        <p:txBody>
          <a:bodyPr wrap="square" lIns="0" tIns="0" rIns="0" bIns="0" rtlCol="0" anchor="t"/>
          <a:lstStyle/>
          <a:p>
            <a:pPr indent="0" marL="0">
              <a:lnSpc>
                <a:spcPts val="1700"/>
              </a:lnSpc>
              <a:buNone/>
            </a:pPr>
            <a:r>
              <a:rPr lang="en-US" sz="1300" dirty="0">
                <a:solidFill>
                  <a:srgbClr val="1A1C2E"/>
                </a:solidFill>
                <a:latin typeface="Calibri" pitchFamily="34" charset="0"/>
                <a:ea typeface="Calibri" pitchFamily="34" charset="-122"/>
                <a:cs typeface="Calibri" pitchFamily="34" charset="-120"/>
              </a:rPr>
              <a:t>viene de un diagnóstico anterior</a:t>
            </a:r>
            <a:endParaRPr lang="en-US" sz="1300" dirty="0"/>
          </a:p>
        </p:txBody>
      </p:sp>
      <p:sp>
        <p:nvSpPr>
          <p:cNvPr id="22" name="Text 20"/>
          <p:cNvSpPr/>
          <p:nvPr/>
        </p:nvSpPr>
        <p:spPr>
          <a:xfrm>
            <a:off x="7635240" y="4242816"/>
            <a:ext cx="640080" cy="310896"/>
          </a:xfrm>
          <a:prstGeom prst="rect">
            <a:avLst/>
          </a:prstGeom>
          <a:noFill/>
          <a:ln/>
        </p:spPr>
        <p:txBody>
          <a:bodyPr wrap="square" lIns="0" tIns="0" rIns="0" bIns="0" rtlCol="0" anchor="t"/>
          <a:lstStyle/>
          <a:p>
            <a:pPr indent="0" marL="0">
              <a:buNone/>
            </a:pPr>
            <a:r>
              <a:rPr lang="en-US" sz="1700" b="1" dirty="0">
                <a:solidFill>
                  <a:srgbClr val="1A1C2E"/>
                </a:solidFill>
                <a:latin typeface="Arial" pitchFamily="34" charset="0"/>
                <a:ea typeface="Arial" pitchFamily="34" charset="-122"/>
                <a:cs typeface="Arial" pitchFamily="34" charset="-120"/>
              </a:rPr>
              <a:t>0,8</a:t>
            </a:r>
            <a:endParaRPr lang="en-US" sz="1700" dirty="0"/>
          </a:p>
        </p:txBody>
      </p:sp>
      <p:sp>
        <p:nvSpPr>
          <p:cNvPr id="23" name="Text 21"/>
          <p:cNvSpPr/>
          <p:nvPr/>
        </p:nvSpPr>
        <p:spPr>
          <a:xfrm>
            <a:off x="8321040" y="4242816"/>
            <a:ext cx="3063240" cy="502920"/>
          </a:xfrm>
          <a:prstGeom prst="rect">
            <a:avLst/>
          </a:prstGeom>
          <a:noFill/>
          <a:ln/>
        </p:spPr>
        <p:txBody>
          <a:bodyPr wrap="square" lIns="0" tIns="0" rIns="0" bIns="0" rtlCol="0" anchor="t"/>
          <a:lstStyle/>
          <a:p>
            <a:pPr indent="0" marL="0">
              <a:lnSpc>
                <a:spcPts val="1700"/>
              </a:lnSpc>
              <a:buNone/>
            </a:pPr>
            <a:r>
              <a:rPr lang="en-US" sz="1300" dirty="0">
                <a:solidFill>
                  <a:srgbClr val="1A1C2E"/>
                </a:solidFill>
                <a:latin typeface="Calibri" pitchFamily="34" charset="0"/>
                <a:ea typeface="Calibri" pitchFamily="34" charset="-122"/>
                <a:cs typeface="Calibri" pitchFamily="34" charset="-120"/>
              </a:rPr>
              <a:t>lo aportó el mecánico a mano</a:t>
            </a:r>
            <a:endParaRPr lang="en-US" sz="1300" dirty="0"/>
          </a:p>
        </p:txBody>
      </p:sp>
      <p:sp>
        <p:nvSpPr>
          <p:cNvPr id="24" name="Text 22"/>
          <p:cNvSpPr/>
          <p:nvPr/>
        </p:nvSpPr>
        <p:spPr>
          <a:xfrm>
            <a:off x="7635240" y="4809744"/>
            <a:ext cx="640080" cy="310896"/>
          </a:xfrm>
          <a:prstGeom prst="rect">
            <a:avLst/>
          </a:prstGeom>
          <a:noFill/>
          <a:ln/>
        </p:spPr>
        <p:txBody>
          <a:bodyPr wrap="square" lIns="0" tIns="0" rIns="0" bIns="0" rtlCol="0" anchor="t"/>
          <a:lstStyle/>
          <a:p>
            <a:pPr indent="0" marL="0">
              <a:buNone/>
            </a:pPr>
            <a:r>
              <a:rPr lang="en-US" sz="1700" b="1" dirty="0">
                <a:solidFill>
                  <a:srgbClr val="1A1C2E"/>
                </a:solidFill>
                <a:latin typeface="Arial" pitchFamily="34" charset="0"/>
                <a:ea typeface="Arial" pitchFamily="34" charset="-122"/>
                <a:cs typeface="Arial" pitchFamily="34" charset="-120"/>
              </a:rPr>
              <a:t>1,0</a:t>
            </a:r>
            <a:endParaRPr lang="en-US" sz="1700" dirty="0"/>
          </a:p>
        </p:txBody>
      </p:sp>
      <p:sp>
        <p:nvSpPr>
          <p:cNvPr id="25" name="Text 23"/>
          <p:cNvSpPr/>
          <p:nvPr/>
        </p:nvSpPr>
        <p:spPr>
          <a:xfrm>
            <a:off x="8321040" y="4809744"/>
            <a:ext cx="3063240" cy="502920"/>
          </a:xfrm>
          <a:prstGeom prst="rect">
            <a:avLst/>
          </a:prstGeom>
          <a:noFill/>
          <a:ln/>
        </p:spPr>
        <p:txBody>
          <a:bodyPr wrap="square" lIns="0" tIns="0" rIns="0" bIns="0" rtlCol="0" anchor="t"/>
          <a:lstStyle/>
          <a:p>
            <a:pPr indent="0" marL="0">
              <a:lnSpc>
                <a:spcPts val="1700"/>
              </a:lnSpc>
              <a:buNone/>
            </a:pPr>
            <a:r>
              <a:rPr lang="en-US" sz="1300" dirty="0">
                <a:solidFill>
                  <a:srgbClr val="1A1C2E"/>
                </a:solidFill>
                <a:latin typeface="Calibri" pitchFamily="34" charset="0"/>
                <a:ea typeface="Calibri" pitchFamily="34" charset="-122"/>
                <a:cs typeface="Calibri" pitchFamily="34" charset="-120"/>
              </a:rPr>
              <a:t>se ha leído del coche por OBD</a:t>
            </a:r>
            <a:endParaRPr lang="en-US" sz="1300" dirty="0"/>
          </a:p>
        </p:txBody>
      </p:sp>
      <p:sp>
        <p:nvSpPr>
          <p:cNvPr id="26" name="Text 24"/>
          <p:cNvSpPr/>
          <p:nvPr/>
        </p:nvSpPr>
        <p:spPr>
          <a:xfrm>
            <a:off x="7635240" y="5440680"/>
            <a:ext cx="3749040" cy="457200"/>
          </a:xfrm>
          <a:prstGeom prst="rect">
            <a:avLst/>
          </a:prstGeom>
          <a:noFill/>
          <a:ln/>
        </p:spPr>
        <p:txBody>
          <a:bodyPr wrap="square" lIns="0" tIns="0" rIns="0" bIns="0" rtlCol="0" anchor="t"/>
          <a:lstStyle/>
          <a:p>
            <a:pPr indent="0" marL="0">
              <a:lnSpc>
                <a:spcPts val="1700"/>
              </a:lnSpc>
              <a:buNone/>
            </a:pPr>
            <a:r>
              <a:rPr lang="en-US" sz="1300" dirty="0">
                <a:solidFill>
                  <a:srgbClr val="5A5F73"/>
                </a:solidFill>
                <a:latin typeface="Calibri" pitchFamily="34" charset="0"/>
                <a:ea typeface="Calibri" pitchFamily="34" charset="-122"/>
                <a:cs typeface="Calibri" pitchFamily="34" charset="-120"/>
              </a:rPr>
              <a:t>Validar contra el coche sube la web a 0,7 y al mecánico a 0,9.</a:t>
            </a:r>
            <a:endParaRPr lang="en-US" sz="1300" dirty="0"/>
          </a:p>
        </p:txBody>
      </p:sp>
      <p:sp>
        <p:nvSpPr>
          <p:cNvPr id="27" name="Shape 25"/>
          <p:cNvSpPr/>
          <p:nvPr/>
        </p:nvSpPr>
        <p:spPr>
          <a:xfrm>
            <a:off x="777240" y="6263640"/>
            <a:ext cx="219456" cy="219456"/>
          </a:xfrm>
          <a:prstGeom prst="rect">
            <a:avLst/>
          </a:prstGeom>
          <a:solidFill>
            <a:srgbClr val="202CFC"/>
          </a:solidFill>
          <a:ln/>
        </p:spPr>
      </p:sp>
      <p:sp>
        <p:nvSpPr>
          <p:cNvPr id="28" name="Text 26"/>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29" name="Text 27"/>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30" name="Text 28"/>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MCP: las herramientas del agente</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El modelo no toca el coche. Pide una herramienta, y el sistema decide si se ejecuta.</a:t>
            </a:r>
            <a:endParaRPr lang="en-US" sz="1700" dirty="0"/>
          </a:p>
        </p:txBody>
      </p:sp>
      <p:sp>
        <p:nvSpPr>
          <p:cNvPr id="4" name="Text 2"/>
          <p:cNvSpPr/>
          <p:nvPr/>
        </p:nvSpPr>
        <p:spPr>
          <a:xfrm>
            <a:off x="777240" y="2194560"/>
            <a:ext cx="594360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Las 16 herramientas</a:t>
            </a:r>
            <a:endParaRPr lang="en-US" sz="1900" dirty="0"/>
          </a:p>
        </p:txBody>
      </p:sp>
      <p:sp>
        <p:nvSpPr>
          <p:cNvPr id="5" name="Text 3"/>
          <p:cNvSpPr/>
          <p:nvPr/>
        </p:nvSpPr>
        <p:spPr>
          <a:xfrm>
            <a:off x="777240" y="2697480"/>
            <a:ext cx="5943600" cy="274320"/>
          </a:xfrm>
          <a:prstGeom prst="rect">
            <a:avLst/>
          </a:prstGeom>
          <a:noFill/>
          <a:ln/>
        </p:spPr>
        <p:txBody>
          <a:bodyPr wrap="square" lIns="0" tIns="0" rIns="0" bIns="0" rtlCol="0" anchor="t"/>
          <a:lstStyle/>
          <a:p>
            <a:pPr indent="0" marL="0">
              <a:buNone/>
            </a:pPr>
            <a:r>
              <a:rPr lang="en-US" sz="1300" b="1" dirty="0">
                <a:solidFill>
                  <a:srgbClr val="1A1C2E"/>
                </a:solidFill>
                <a:latin typeface="Calibri" pitchFamily="34" charset="0"/>
                <a:ea typeface="Calibri" pitchFamily="34" charset="-122"/>
                <a:cs typeface="Calibri" pitchFamily="34" charset="-120"/>
              </a:rPr>
              <a:t>Diagnóstico · 7</a:t>
            </a:r>
            <a:endParaRPr lang="en-US" sz="1300" dirty="0"/>
          </a:p>
        </p:txBody>
      </p:sp>
      <p:sp>
        <p:nvSpPr>
          <p:cNvPr id="6" name="Text 4"/>
          <p:cNvSpPr/>
          <p:nvPr/>
        </p:nvSpPr>
        <p:spPr>
          <a:xfrm>
            <a:off x="914400" y="3008376"/>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read_vin   read_pid   get_available_pids</a:t>
            </a:r>
            <a:endParaRPr lang="en-US" sz="1100" dirty="0"/>
          </a:p>
        </p:txBody>
      </p:sp>
      <p:sp>
        <p:nvSpPr>
          <p:cNvPr id="7" name="Text 5"/>
          <p:cNvSpPr/>
          <p:nvPr/>
        </p:nvSpPr>
        <p:spPr>
          <a:xfrm>
            <a:off x="914400" y="3273552"/>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get_dtc_codes   get_freeze_frame</a:t>
            </a:r>
            <a:endParaRPr lang="en-US" sz="1100" dirty="0"/>
          </a:p>
        </p:txBody>
      </p:sp>
      <p:sp>
        <p:nvSpPr>
          <p:cNvPr id="8" name="Text 6"/>
          <p:cNvSpPr/>
          <p:nvPr/>
        </p:nvSpPr>
        <p:spPr>
          <a:xfrm>
            <a:off x="914400" y="3538728"/>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get_vehicle_info   get_ecu_info</a:t>
            </a:r>
            <a:endParaRPr lang="en-US" sz="1100" dirty="0"/>
          </a:p>
        </p:txBody>
      </p:sp>
      <p:sp>
        <p:nvSpPr>
          <p:cNvPr id="9" name="Text 7"/>
          <p:cNvSpPr/>
          <p:nvPr/>
        </p:nvSpPr>
        <p:spPr>
          <a:xfrm>
            <a:off x="777240" y="3968496"/>
            <a:ext cx="5943600" cy="274320"/>
          </a:xfrm>
          <a:prstGeom prst="rect">
            <a:avLst/>
          </a:prstGeom>
          <a:noFill/>
          <a:ln/>
        </p:spPr>
        <p:txBody>
          <a:bodyPr wrap="square" lIns="0" tIns="0" rIns="0" bIns="0" rtlCol="0" anchor="t"/>
          <a:lstStyle/>
          <a:p>
            <a:pPr indent="0" marL="0">
              <a:buNone/>
            </a:pPr>
            <a:r>
              <a:rPr lang="en-US" sz="1300" b="1" dirty="0">
                <a:solidFill>
                  <a:srgbClr val="1A1C2E"/>
                </a:solidFill>
                <a:latin typeface="Calibri" pitchFamily="34" charset="0"/>
                <a:ea typeface="Calibri" pitchFamily="34" charset="-122"/>
                <a:cs typeface="Calibri" pitchFamily="34" charset="-120"/>
              </a:rPr>
              <a:t>Conocimiento · 8</a:t>
            </a:r>
            <a:endParaRPr lang="en-US" sz="1300" dirty="0"/>
          </a:p>
        </p:txBody>
      </p:sp>
      <p:sp>
        <p:nvSpPr>
          <p:cNvPr id="10" name="Text 8"/>
          <p:cNvSpPr/>
          <p:nvPr/>
        </p:nvSpPr>
        <p:spPr>
          <a:xfrm>
            <a:off x="914400" y="4279392"/>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search_similar_pids   search_similar_dtcs</a:t>
            </a:r>
            <a:endParaRPr lang="en-US" sz="1100" dirty="0"/>
          </a:p>
        </p:txBody>
      </p:sp>
      <p:sp>
        <p:nvSpPr>
          <p:cNvPr id="11" name="Text 9"/>
          <p:cNvSpPr/>
          <p:nvPr/>
        </p:nvSpPr>
        <p:spPr>
          <a:xfrm>
            <a:off x="914400" y="4544568"/>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search_similar_diagnoses   search_similar_ecus</a:t>
            </a:r>
            <a:endParaRPr lang="en-US" sz="1100" dirty="0"/>
          </a:p>
        </p:txBody>
      </p:sp>
      <p:sp>
        <p:nvSpPr>
          <p:cNvPr id="12" name="Text 10"/>
          <p:cNvSpPr/>
          <p:nvPr/>
        </p:nvSpPr>
        <p:spPr>
          <a:xfrm>
            <a:off x="914400" y="4809744"/>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index_pid   index_dtc   index_diagnosis   index_ecu</a:t>
            </a:r>
            <a:endParaRPr lang="en-US" sz="1100" dirty="0"/>
          </a:p>
        </p:txBody>
      </p:sp>
      <p:sp>
        <p:nvSpPr>
          <p:cNvPr id="13" name="Text 11"/>
          <p:cNvSpPr/>
          <p:nvPr/>
        </p:nvSpPr>
        <p:spPr>
          <a:xfrm>
            <a:off x="777240" y="5239512"/>
            <a:ext cx="5943600" cy="274320"/>
          </a:xfrm>
          <a:prstGeom prst="rect">
            <a:avLst/>
          </a:prstGeom>
          <a:noFill/>
          <a:ln/>
        </p:spPr>
        <p:txBody>
          <a:bodyPr wrap="square" lIns="0" tIns="0" rIns="0" bIns="0" rtlCol="0" anchor="t"/>
          <a:lstStyle/>
          <a:p>
            <a:pPr indent="0" marL="0">
              <a:buNone/>
            </a:pPr>
            <a:r>
              <a:rPr lang="en-US" sz="1300" b="1" dirty="0">
                <a:solidFill>
                  <a:srgbClr val="1A1C2E"/>
                </a:solidFill>
                <a:latin typeface="Calibri" pitchFamily="34" charset="0"/>
                <a:ea typeface="Calibri" pitchFamily="34" charset="-122"/>
                <a:cs typeface="Calibri" pitchFamily="34" charset="-120"/>
              </a:rPr>
              <a:t>Web · 1</a:t>
            </a:r>
            <a:endParaRPr lang="en-US" sz="1300" dirty="0"/>
          </a:p>
        </p:txBody>
      </p:sp>
      <p:sp>
        <p:nvSpPr>
          <p:cNvPr id="14" name="Text 12"/>
          <p:cNvSpPr/>
          <p:nvPr/>
        </p:nvSpPr>
        <p:spPr>
          <a:xfrm>
            <a:off x="914400" y="5550408"/>
            <a:ext cx="5806440" cy="256032"/>
          </a:xfrm>
          <a:prstGeom prst="rect">
            <a:avLst/>
          </a:prstGeom>
          <a:noFill/>
          <a:ln/>
        </p:spPr>
        <p:txBody>
          <a:bodyPr wrap="square" lIns="0" tIns="0" rIns="0" bIns="0" rtlCol="0" anchor="t"/>
          <a:lstStyle/>
          <a:p>
            <a:pPr indent="0" marL="0">
              <a:buNone/>
            </a:pPr>
            <a:r>
              <a:rPr lang="en-US" sz="1100" dirty="0">
                <a:solidFill>
                  <a:srgbClr val="5A5F73"/>
                </a:solidFill>
                <a:latin typeface="Courier New" pitchFamily="34" charset="0"/>
                <a:ea typeface="Courier New" pitchFamily="34" charset="-122"/>
                <a:cs typeface="Courier New" pitchFamily="34" charset="-120"/>
              </a:rPr>
              <a:t>web_search</a:t>
            </a:r>
            <a:endParaRPr lang="en-US" sz="1100" dirty="0"/>
          </a:p>
        </p:txBody>
      </p:sp>
      <p:sp>
        <p:nvSpPr>
          <p:cNvPr id="15" name="Text 13"/>
          <p:cNvSpPr/>
          <p:nvPr/>
        </p:nvSpPr>
        <p:spPr>
          <a:xfrm>
            <a:off x="7086600" y="2194560"/>
            <a:ext cx="429768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Por qué MCP</a:t>
            </a:r>
            <a:endParaRPr lang="en-US" sz="1900" dirty="0"/>
          </a:p>
        </p:txBody>
      </p:sp>
      <p:sp>
        <p:nvSpPr>
          <p:cNvPr id="16" name="Text 14"/>
          <p:cNvSpPr/>
          <p:nvPr/>
        </p:nvSpPr>
        <p:spPr>
          <a:xfrm>
            <a:off x="7086600" y="2697480"/>
            <a:ext cx="4297680" cy="320040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Es el estándar con el que un modelo pide herramientas, y solo sirve para eso</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El modelo solo actúa por ahí: no hay otra puerta al sistema</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Cada herramienta declara su esquema, y los argumentos se validan antes de ejecutarla</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El servidor vive en infraestructura: el modelo nunca ve el dominio</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Cambiar de modelo no toca las herramientas</a:t>
            </a:r>
            <a:endParaRPr lang="en-US" sz="1400" dirty="0"/>
          </a:p>
        </p:txBody>
      </p:sp>
      <p:sp>
        <p:nvSpPr>
          <p:cNvPr id="17" name="Shape 15"/>
          <p:cNvSpPr/>
          <p:nvPr/>
        </p:nvSpPr>
        <p:spPr>
          <a:xfrm>
            <a:off x="777240" y="6263640"/>
            <a:ext cx="219456" cy="219456"/>
          </a:xfrm>
          <a:prstGeom prst="rect">
            <a:avLst/>
          </a:prstGeom>
          <a:solidFill>
            <a:srgbClr val="202CFC"/>
          </a:solidFill>
          <a:ln/>
        </p:spPr>
      </p:sp>
      <p:sp>
        <p:nvSpPr>
          <p:cNvPr id="18" name="Text 16"/>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9" name="Text 17"/>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20" name="Text 18"/>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Cómo razona el agente</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Del botón de iniciar diagnóstico a la respuesta que lee el mecánico.</a:t>
            </a:r>
            <a:endParaRPr lang="en-US" sz="1700" dirty="0"/>
          </a:p>
        </p:txBody>
      </p:sp>
      <p:sp>
        <p:nvSpPr>
          <p:cNvPr id="4" name="Text 2"/>
          <p:cNvSpPr/>
          <p:nvPr/>
        </p:nvSpPr>
        <p:spPr>
          <a:xfrm>
            <a:off x="777240" y="2194560"/>
            <a:ext cx="594360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El ciclo</a:t>
            </a:r>
            <a:endParaRPr lang="en-US" sz="1900" dirty="0"/>
          </a:p>
        </p:txBody>
      </p:sp>
      <p:sp>
        <p:nvSpPr>
          <p:cNvPr id="5" name="Text 3"/>
          <p:cNvSpPr/>
          <p:nvPr/>
        </p:nvSpPr>
        <p:spPr>
          <a:xfrm>
            <a:off x="777240" y="2651760"/>
            <a:ext cx="365760" cy="502920"/>
          </a:xfrm>
          <a:prstGeom prst="rect">
            <a:avLst/>
          </a:prstGeom>
          <a:noFill/>
          <a:ln/>
        </p:spPr>
        <p:txBody>
          <a:bodyPr wrap="square" lIns="0" tIns="0" rIns="0" bIns="0" rtlCol="0" anchor="t"/>
          <a:lstStyle/>
          <a:p>
            <a:pPr indent="0" marL="0">
              <a:buNone/>
            </a:pPr>
            <a:r>
              <a:rPr lang="en-US" sz="1500" b="1" dirty="0">
                <a:solidFill>
                  <a:srgbClr val="202CFC"/>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188720" y="2651760"/>
            <a:ext cx="5532120" cy="548640"/>
          </a:xfrm>
          <a:prstGeom prst="rect">
            <a:avLst/>
          </a:prstGeom>
          <a:noFill/>
          <a:ln/>
        </p:spPr>
        <p:txBody>
          <a:bodyPr wrap="square" lIns="0" tIns="0" rIns="0" bIns="0" rtlCol="0" anchor="t"/>
          <a:lstStyle/>
          <a:p>
            <a:pPr indent="0" marL="0">
              <a:lnSpc>
                <a:spcPts val="1900"/>
              </a:lnSpc>
              <a:buNone/>
            </a:pPr>
            <a:r>
              <a:rPr lang="en-US" sz="1400" dirty="0">
                <a:solidFill>
                  <a:srgbClr val="1A1C2E"/>
                </a:solidFill>
                <a:latin typeface="Calibri" pitchFamily="34" charset="0"/>
                <a:ea typeface="Calibri" pitchFamily="34" charset="-122"/>
                <a:cs typeface="Calibri" pitchFamily="34" charset="-120"/>
              </a:rPr>
              <a:t>Al iniciar el diagnóstico se leen los PIDs generales, los DTCs y el freeze frame</a:t>
            </a:r>
            <a:endParaRPr lang="en-US" sz="1400" dirty="0"/>
          </a:p>
        </p:txBody>
      </p:sp>
      <p:sp>
        <p:nvSpPr>
          <p:cNvPr id="7" name="Text 5"/>
          <p:cNvSpPr/>
          <p:nvPr/>
        </p:nvSpPr>
        <p:spPr>
          <a:xfrm>
            <a:off x="777240" y="3218688"/>
            <a:ext cx="365760" cy="502920"/>
          </a:xfrm>
          <a:prstGeom prst="rect">
            <a:avLst/>
          </a:prstGeom>
          <a:noFill/>
          <a:ln/>
        </p:spPr>
        <p:txBody>
          <a:bodyPr wrap="square" lIns="0" tIns="0" rIns="0" bIns="0" rtlCol="0" anchor="t"/>
          <a:lstStyle/>
          <a:p>
            <a:pPr indent="0" marL="0">
              <a:buNone/>
            </a:pPr>
            <a:r>
              <a:rPr lang="en-US" sz="1500" b="1" dirty="0">
                <a:solidFill>
                  <a:srgbClr val="202CFC"/>
                </a:solidFill>
                <a:latin typeface="Arial" pitchFamily="34" charset="0"/>
                <a:ea typeface="Arial" pitchFamily="34" charset="-122"/>
                <a:cs typeface="Arial" pitchFamily="34" charset="-120"/>
              </a:rPr>
              <a:t>2</a:t>
            </a:r>
            <a:endParaRPr lang="en-US" sz="1500" dirty="0"/>
          </a:p>
        </p:txBody>
      </p:sp>
      <p:sp>
        <p:nvSpPr>
          <p:cNvPr id="8" name="Text 6"/>
          <p:cNvSpPr/>
          <p:nvPr/>
        </p:nvSpPr>
        <p:spPr>
          <a:xfrm>
            <a:off x="1188720" y="3218688"/>
            <a:ext cx="5532120" cy="548640"/>
          </a:xfrm>
          <a:prstGeom prst="rect">
            <a:avLst/>
          </a:prstGeom>
          <a:noFill/>
          <a:ln/>
        </p:spPr>
        <p:txBody>
          <a:bodyPr wrap="square" lIns="0" tIns="0" rIns="0" bIns="0" rtlCol="0" anchor="t"/>
          <a:lstStyle/>
          <a:p>
            <a:pPr indent="0" marL="0">
              <a:lnSpc>
                <a:spcPts val="1900"/>
              </a:lnSpc>
              <a:buNone/>
            </a:pPr>
            <a:r>
              <a:rPr lang="en-US" sz="1400" dirty="0">
                <a:solidFill>
                  <a:srgbClr val="1A1C2E"/>
                </a:solidFill>
                <a:latin typeface="Calibri" pitchFamily="34" charset="0"/>
                <a:ea typeface="Calibri" pitchFamily="34" charset="-122"/>
                <a:cs typeface="Calibri" pitchFamily="34" charset="-120"/>
              </a:rPr>
              <a:t>Antes de llamar al modelo se buscan casos parecidos en la vectorial, y entran en el prompt</a:t>
            </a:r>
            <a:endParaRPr lang="en-US" sz="1400" dirty="0"/>
          </a:p>
        </p:txBody>
      </p:sp>
      <p:sp>
        <p:nvSpPr>
          <p:cNvPr id="9" name="Text 7"/>
          <p:cNvSpPr/>
          <p:nvPr/>
        </p:nvSpPr>
        <p:spPr>
          <a:xfrm>
            <a:off x="777240" y="3785616"/>
            <a:ext cx="365760" cy="502920"/>
          </a:xfrm>
          <a:prstGeom prst="rect">
            <a:avLst/>
          </a:prstGeom>
          <a:noFill/>
          <a:ln/>
        </p:spPr>
        <p:txBody>
          <a:bodyPr wrap="square" lIns="0" tIns="0" rIns="0" bIns="0" rtlCol="0" anchor="t"/>
          <a:lstStyle/>
          <a:p>
            <a:pPr indent="0" marL="0">
              <a:buNone/>
            </a:pPr>
            <a:r>
              <a:rPr lang="en-US" sz="1500" b="1" dirty="0">
                <a:solidFill>
                  <a:srgbClr val="202CFC"/>
                </a:solidFill>
                <a:latin typeface="Arial" pitchFamily="34" charset="0"/>
                <a:ea typeface="Arial" pitchFamily="34" charset="-122"/>
                <a:cs typeface="Arial" pitchFamily="34" charset="-120"/>
              </a:rPr>
              <a:t>3</a:t>
            </a:r>
            <a:endParaRPr lang="en-US" sz="1500" dirty="0"/>
          </a:p>
        </p:txBody>
      </p:sp>
      <p:sp>
        <p:nvSpPr>
          <p:cNvPr id="10" name="Text 8"/>
          <p:cNvSpPr/>
          <p:nvPr/>
        </p:nvSpPr>
        <p:spPr>
          <a:xfrm>
            <a:off x="1188720" y="3785616"/>
            <a:ext cx="5532120" cy="548640"/>
          </a:xfrm>
          <a:prstGeom prst="rect">
            <a:avLst/>
          </a:prstGeom>
          <a:noFill/>
          <a:ln/>
        </p:spPr>
        <p:txBody>
          <a:bodyPr wrap="square" lIns="0" tIns="0" rIns="0" bIns="0" rtlCol="0" anchor="t"/>
          <a:lstStyle/>
          <a:p>
            <a:pPr indent="0" marL="0">
              <a:lnSpc>
                <a:spcPts val="1900"/>
              </a:lnSpc>
              <a:buNone/>
            </a:pPr>
            <a:r>
              <a:rPr lang="en-US" sz="1400" dirty="0">
                <a:solidFill>
                  <a:srgbClr val="1A1C2E"/>
                </a:solidFill>
                <a:latin typeface="Calibri" pitchFamily="34" charset="0"/>
                <a:ea typeface="Calibri" pitchFamily="34" charset="-122"/>
                <a:cs typeface="Calibri" pitchFamily="34" charset="-120"/>
              </a:rPr>
              <a:t>El modelo pide herramientas: mira el catálogo, lee más PIDs, busca lo que no conoce</a:t>
            </a:r>
            <a:endParaRPr lang="en-US" sz="1400" dirty="0"/>
          </a:p>
        </p:txBody>
      </p:sp>
      <p:sp>
        <p:nvSpPr>
          <p:cNvPr id="11" name="Text 9"/>
          <p:cNvSpPr/>
          <p:nvPr/>
        </p:nvSpPr>
        <p:spPr>
          <a:xfrm>
            <a:off x="777240" y="4352544"/>
            <a:ext cx="365760" cy="502920"/>
          </a:xfrm>
          <a:prstGeom prst="rect">
            <a:avLst/>
          </a:prstGeom>
          <a:noFill/>
          <a:ln/>
        </p:spPr>
        <p:txBody>
          <a:bodyPr wrap="square" lIns="0" tIns="0" rIns="0" bIns="0" rtlCol="0" anchor="t"/>
          <a:lstStyle/>
          <a:p>
            <a:pPr indent="0" marL="0">
              <a:buNone/>
            </a:pPr>
            <a:r>
              <a:rPr lang="en-US" sz="1500" b="1" dirty="0">
                <a:solidFill>
                  <a:srgbClr val="202CFC"/>
                </a:solidFill>
                <a:latin typeface="Arial" pitchFamily="34" charset="0"/>
                <a:ea typeface="Arial" pitchFamily="34" charset="-122"/>
                <a:cs typeface="Arial" pitchFamily="34" charset="-120"/>
              </a:rPr>
              <a:t>4</a:t>
            </a:r>
            <a:endParaRPr lang="en-US" sz="1500" dirty="0"/>
          </a:p>
        </p:txBody>
      </p:sp>
      <p:sp>
        <p:nvSpPr>
          <p:cNvPr id="12" name="Text 10"/>
          <p:cNvSpPr/>
          <p:nvPr/>
        </p:nvSpPr>
        <p:spPr>
          <a:xfrm>
            <a:off x="1188720" y="4352544"/>
            <a:ext cx="5532120" cy="548640"/>
          </a:xfrm>
          <a:prstGeom prst="rect">
            <a:avLst/>
          </a:prstGeom>
          <a:noFill/>
          <a:ln/>
        </p:spPr>
        <p:txBody>
          <a:bodyPr wrap="square" lIns="0" tIns="0" rIns="0" bIns="0" rtlCol="0" anchor="t"/>
          <a:lstStyle/>
          <a:p>
            <a:pPr indent="0" marL="0">
              <a:lnSpc>
                <a:spcPts val="1900"/>
              </a:lnSpc>
              <a:buNone/>
            </a:pPr>
            <a:r>
              <a:rPr lang="en-US" sz="1400" dirty="0">
                <a:solidFill>
                  <a:srgbClr val="1A1C2E"/>
                </a:solidFill>
                <a:latin typeface="Calibri" pitchFamily="34" charset="0"/>
                <a:ea typeface="Calibri" pitchFamily="34" charset="-122"/>
                <a:cs typeface="Calibri" pitchFamily="34" charset="-120"/>
              </a:rPr>
              <a:t>Máximo 10 vueltas de ese ciclo, y 60 segundos de límite</a:t>
            </a:r>
            <a:endParaRPr lang="en-US" sz="1400" dirty="0"/>
          </a:p>
        </p:txBody>
      </p:sp>
      <p:sp>
        <p:nvSpPr>
          <p:cNvPr id="13" name="Text 11"/>
          <p:cNvSpPr/>
          <p:nvPr/>
        </p:nvSpPr>
        <p:spPr>
          <a:xfrm>
            <a:off x="777240" y="4919472"/>
            <a:ext cx="365760" cy="502920"/>
          </a:xfrm>
          <a:prstGeom prst="rect">
            <a:avLst/>
          </a:prstGeom>
          <a:noFill/>
          <a:ln/>
        </p:spPr>
        <p:txBody>
          <a:bodyPr wrap="square" lIns="0" tIns="0" rIns="0" bIns="0" rtlCol="0" anchor="t"/>
          <a:lstStyle/>
          <a:p>
            <a:pPr indent="0" marL="0">
              <a:buNone/>
            </a:pPr>
            <a:r>
              <a:rPr lang="en-US" sz="1500" b="1" dirty="0">
                <a:solidFill>
                  <a:srgbClr val="202CFC"/>
                </a:solidFill>
                <a:latin typeface="Arial" pitchFamily="34" charset="0"/>
                <a:ea typeface="Arial" pitchFamily="34" charset="-122"/>
                <a:cs typeface="Arial" pitchFamily="34" charset="-120"/>
              </a:rPr>
              <a:t>5</a:t>
            </a:r>
            <a:endParaRPr lang="en-US" sz="1500" dirty="0"/>
          </a:p>
        </p:txBody>
      </p:sp>
      <p:sp>
        <p:nvSpPr>
          <p:cNvPr id="14" name="Text 12"/>
          <p:cNvSpPr/>
          <p:nvPr/>
        </p:nvSpPr>
        <p:spPr>
          <a:xfrm>
            <a:off x="1188720" y="4919472"/>
            <a:ext cx="5532120" cy="548640"/>
          </a:xfrm>
          <a:prstGeom prst="rect">
            <a:avLst/>
          </a:prstGeom>
          <a:noFill/>
          <a:ln/>
        </p:spPr>
        <p:txBody>
          <a:bodyPr wrap="square" lIns="0" tIns="0" rIns="0" bIns="0" rtlCol="0" anchor="t"/>
          <a:lstStyle/>
          <a:p>
            <a:pPr indent="0" marL="0">
              <a:lnSpc>
                <a:spcPts val="1900"/>
              </a:lnSpc>
              <a:buNone/>
            </a:pPr>
            <a:r>
              <a:rPr lang="en-US" sz="1400" dirty="0">
                <a:solidFill>
                  <a:srgbClr val="1A1C2E"/>
                </a:solidFill>
                <a:latin typeface="Calibri" pitchFamily="34" charset="0"/>
                <a:ea typeface="Calibri" pitchFamily="34" charset="-122"/>
                <a:cs typeface="Calibri" pitchFamily="34" charset="-120"/>
              </a:rPr>
              <a:t>Devuelve la explicación para el mecánico y un bloque JSON con severidad, confianza y recomendaciones</a:t>
            </a:r>
            <a:endParaRPr lang="en-US" sz="1400" dirty="0"/>
          </a:p>
        </p:txBody>
      </p:sp>
      <p:sp>
        <p:nvSpPr>
          <p:cNvPr id="15" name="Text 13"/>
          <p:cNvSpPr/>
          <p:nvPr/>
        </p:nvSpPr>
        <p:spPr>
          <a:xfrm>
            <a:off x="777240" y="5486400"/>
            <a:ext cx="365760" cy="502920"/>
          </a:xfrm>
          <a:prstGeom prst="rect">
            <a:avLst/>
          </a:prstGeom>
          <a:noFill/>
          <a:ln/>
        </p:spPr>
        <p:txBody>
          <a:bodyPr wrap="square" lIns="0" tIns="0" rIns="0" bIns="0" rtlCol="0" anchor="t"/>
          <a:lstStyle/>
          <a:p>
            <a:pPr indent="0" marL="0">
              <a:buNone/>
            </a:pPr>
            <a:r>
              <a:rPr lang="en-US" sz="1500" b="1" dirty="0">
                <a:solidFill>
                  <a:srgbClr val="202CFC"/>
                </a:solidFill>
                <a:latin typeface="Arial" pitchFamily="34" charset="0"/>
                <a:ea typeface="Arial" pitchFamily="34" charset="-122"/>
                <a:cs typeface="Arial" pitchFamily="34" charset="-120"/>
              </a:rPr>
              <a:t>6</a:t>
            </a:r>
            <a:endParaRPr lang="en-US" sz="1500" dirty="0"/>
          </a:p>
        </p:txBody>
      </p:sp>
      <p:sp>
        <p:nvSpPr>
          <p:cNvPr id="16" name="Text 14"/>
          <p:cNvSpPr/>
          <p:nvPr/>
        </p:nvSpPr>
        <p:spPr>
          <a:xfrm>
            <a:off x="1188720" y="5486400"/>
            <a:ext cx="5532120" cy="548640"/>
          </a:xfrm>
          <a:prstGeom prst="rect">
            <a:avLst/>
          </a:prstGeom>
          <a:noFill/>
          <a:ln/>
        </p:spPr>
        <p:txBody>
          <a:bodyPr wrap="square" lIns="0" tIns="0" rIns="0" bIns="0" rtlCol="0" anchor="t"/>
          <a:lstStyle/>
          <a:p>
            <a:pPr indent="0" marL="0">
              <a:lnSpc>
                <a:spcPts val="1900"/>
              </a:lnSpc>
              <a:buNone/>
            </a:pPr>
            <a:r>
              <a:rPr lang="en-US" sz="1400" dirty="0">
                <a:solidFill>
                  <a:srgbClr val="1A1C2E"/>
                </a:solidFill>
                <a:latin typeface="Calibri" pitchFamily="34" charset="0"/>
                <a:ea typeface="Calibri" pitchFamily="34" charset="-122"/>
                <a:cs typeface="Calibri" pitchFamily="34" charset="-120"/>
              </a:rPr>
              <a:t>El caso resuelto se indexa con confianza 0,5, y la conversación sigue desde ahí</a:t>
            </a:r>
            <a:endParaRPr lang="en-US" sz="1400" dirty="0"/>
          </a:p>
        </p:txBody>
      </p:sp>
      <p:sp>
        <p:nvSpPr>
          <p:cNvPr id="17" name="Text 15"/>
          <p:cNvSpPr/>
          <p:nvPr/>
        </p:nvSpPr>
        <p:spPr>
          <a:xfrm>
            <a:off x="7086600" y="2194560"/>
            <a:ext cx="429768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El prompt lleva 11 bloques</a:t>
            </a:r>
            <a:endParaRPr lang="en-US" sz="1900" dirty="0"/>
          </a:p>
        </p:txBody>
      </p:sp>
      <p:sp>
        <p:nvSpPr>
          <p:cNvPr id="18" name="Text 16"/>
          <p:cNvSpPr/>
          <p:nvPr/>
        </p:nvSpPr>
        <p:spPr>
          <a:xfrm>
            <a:off x="7086600" y="2651760"/>
            <a:ext cx="4297680" cy="329184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Cómo explorar el coche y en qué orden</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Consultar el catálogo antes de inventarse nada</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Cómo aprender un PID, un DTC o una ECU nuevos</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Qué queda fuera de su ámbito y no debe contestar</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Que lo que llega de la web y del catálogo no es de fiar</a:t>
            </a:r>
            <a:endParaRPr lang="en-US" sz="1400" dirty="0"/>
          </a:p>
          <a:p>
            <a:pPr marL="342900" indent="-342900">
              <a:lnSpc>
                <a:spcPts val="2000"/>
              </a:lnSpc>
              <a:spcAft>
                <a:spcPts val="1000"/>
              </a:spcAft>
              <a:buSzPct val="100000"/>
              <a:buChar char="•"/>
            </a:pPr>
            <a:r>
              <a:rPr lang="en-US" sz="1400" dirty="0">
                <a:solidFill>
                  <a:srgbClr val="1A1C2E"/>
                </a:solidFill>
                <a:latin typeface="Calibri" pitchFamily="34" charset="0"/>
                <a:ea typeface="Calibri" pitchFamily="34" charset="-122"/>
                <a:cs typeface="Calibri" pitchFamily="34" charset="-120"/>
              </a:rPr>
              <a:t>Cómo hablarle a un mecánico, y cómo rematar en JSON</a:t>
            </a:r>
            <a:endParaRPr lang="en-US" sz="1400" dirty="0"/>
          </a:p>
        </p:txBody>
      </p:sp>
      <p:sp>
        <p:nvSpPr>
          <p:cNvPr id="19" name="Shape 17"/>
          <p:cNvSpPr/>
          <p:nvPr/>
        </p:nvSpPr>
        <p:spPr>
          <a:xfrm>
            <a:off x="777240" y="6263640"/>
            <a:ext cx="219456" cy="219456"/>
          </a:xfrm>
          <a:prstGeom prst="rect">
            <a:avLst/>
          </a:prstGeom>
          <a:solidFill>
            <a:srgbClr val="202CFC"/>
          </a:solidFill>
          <a:ln/>
        </p:spPr>
      </p:sp>
      <p:sp>
        <p:nvSpPr>
          <p:cNvPr id="20" name="Text 18"/>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21" name="Text 19"/>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22" name="Text 20"/>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Los dos modelos</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Uno razona y se puede cambiar. El otro convierte texto en vectores y va dentro.</a:t>
            </a:r>
            <a:endParaRPr lang="en-US" sz="1700" dirty="0"/>
          </a:p>
        </p:txBody>
      </p:sp>
      <p:sp>
        <p:nvSpPr>
          <p:cNvPr id="4" name="Text 2"/>
          <p:cNvSpPr/>
          <p:nvPr/>
        </p:nvSpPr>
        <p:spPr>
          <a:xfrm>
            <a:off x="777240" y="224028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El modelo de lenguaje</a:t>
            </a:r>
            <a:endParaRPr lang="en-US" sz="1900" dirty="0"/>
          </a:p>
        </p:txBody>
      </p:sp>
      <p:sp>
        <p:nvSpPr>
          <p:cNvPr id="5" name="Text 3"/>
          <p:cNvSpPr/>
          <p:nvPr/>
        </p:nvSpPr>
        <p:spPr>
          <a:xfrm>
            <a:off x="777240" y="2788920"/>
            <a:ext cx="4846320" cy="283464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Una variable de entorno: LLM_PROVIDER = anthropic u openai</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Los dos clientes implementan el mismo puerto, LlmClientPort</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El adaptador de OpenAI sirve también para DeepSeek, Groq, Mistral o xAI</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Sin proveedor configurado, el diagnóstico determinista sigue funcionando</a:t>
            </a:r>
            <a:endParaRPr lang="en-US" sz="1500" dirty="0"/>
          </a:p>
        </p:txBody>
      </p:sp>
      <p:sp>
        <p:nvSpPr>
          <p:cNvPr id="6" name="Text 4"/>
          <p:cNvSpPr/>
          <p:nvPr/>
        </p:nvSpPr>
        <p:spPr>
          <a:xfrm>
            <a:off x="6537960" y="224028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El modelo de embeddings</a:t>
            </a:r>
            <a:endParaRPr lang="en-US" sz="1900" dirty="0"/>
          </a:p>
        </p:txBody>
      </p:sp>
      <p:sp>
        <p:nvSpPr>
          <p:cNvPr id="7" name="Text 5"/>
          <p:cNvSpPr/>
          <p:nvPr/>
        </p:nvSpPr>
        <p:spPr>
          <a:xfrm>
            <a:off x="6537960" y="2788920"/>
            <a:ext cx="4846320" cy="274320"/>
          </a:xfrm>
          <a:prstGeom prst="rect">
            <a:avLst/>
          </a:prstGeom>
          <a:noFill/>
          <a:ln/>
        </p:spPr>
        <p:txBody>
          <a:bodyPr wrap="square" lIns="0" tIns="0" rIns="0" bIns="0" rtlCol="0" anchor="t"/>
          <a:lstStyle/>
          <a:p>
            <a:pPr indent="0" marL="0">
              <a:buNone/>
            </a:pPr>
            <a:r>
              <a:rPr lang="en-US" sz="1200" b="1" dirty="0">
                <a:solidFill>
                  <a:srgbClr val="1A1C2E"/>
                </a:solidFill>
                <a:latin typeface="Courier New" pitchFamily="34" charset="0"/>
                <a:ea typeface="Courier New" pitchFamily="34" charset="-122"/>
                <a:cs typeface="Courier New" pitchFamily="34" charset="-120"/>
              </a:rPr>
              <a:t>paraphrase-multilingual-MiniLM-L12-v2</a:t>
            </a:r>
            <a:endParaRPr lang="en-US" sz="1200" dirty="0"/>
          </a:p>
        </p:txBody>
      </p:sp>
      <p:sp>
        <p:nvSpPr>
          <p:cNvPr id="8" name="Text 6"/>
          <p:cNvSpPr/>
          <p:nvPr/>
        </p:nvSpPr>
        <p:spPr>
          <a:xfrm>
            <a:off x="6537960" y="3200400"/>
            <a:ext cx="4846320" cy="256032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Corre en la propia máquina, con transformers.js</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Sin clave, sin red y sin coste por consulta</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Convierte cada texto en 384 números, normalizados</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Es multilingüe: por eso «presión de aceite» encuentra «oil pressure»</a:t>
            </a:r>
            <a:endParaRPr lang="en-US" sz="1500" dirty="0"/>
          </a:p>
        </p:txBody>
      </p:sp>
      <p:sp>
        <p:nvSpPr>
          <p:cNvPr id="9" name="Shape 7"/>
          <p:cNvSpPr/>
          <p:nvPr/>
        </p:nvSpPr>
        <p:spPr>
          <a:xfrm>
            <a:off x="777240" y="6263640"/>
            <a:ext cx="219456" cy="219456"/>
          </a:xfrm>
          <a:prstGeom prst="rect">
            <a:avLst/>
          </a:prstGeom>
          <a:solidFill>
            <a:srgbClr val="202CFC"/>
          </a:solidFill>
          <a:ln/>
        </p:spPr>
      </p:sp>
      <p:sp>
        <p:nvSpPr>
          <p:cNvPr id="10" name="Text 8"/>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1" name="Text 9"/>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2" name="Text 10"/>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Dos diagnósticos</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El determinista está siempre. El cognitivo, solo si hay un modelo configurado.</a:t>
            </a:r>
            <a:endParaRPr lang="en-US" sz="1700" dirty="0"/>
          </a:p>
        </p:txBody>
      </p:sp>
      <p:sp>
        <p:nvSpPr>
          <p:cNvPr id="4" name="Text 2"/>
          <p:cNvSpPr/>
          <p:nvPr/>
        </p:nvSpPr>
        <p:spPr>
          <a:xfrm>
            <a:off x="777240" y="224028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Determinista</a:t>
            </a:r>
            <a:endParaRPr lang="en-US" sz="2000" dirty="0"/>
          </a:p>
        </p:txBody>
      </p:sp>
      <p:sp>
        <p:nvSpPr>
          <p:cNvPr id="5" name="Text 3"/>
          <p:cNvSpPr/>
          <p:nvPr/>
        </p:nvSpPr>
        <p:spPr>
          <a:xfrm>
            <a:off x="777240" y="2788920"/>
            <a:ext cx="4846320" cy="283464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Lee cuatro PIDs fijos: revoluciones, refrigerante, velocidad y admisión</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Más los DTCs y el freeze frame</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La criticidad sale de una regla: sin DTCs es baja, con freeze frame es crítica</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Solo necesita el coche, y responde al momento</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No aprende nada</a:t>
            </a:r>
            <a:endParaRPr lang="en-US" sz="1500" dirty="0"/>
          </a:p>
        </p:txBody>
      </p:sp>
      <p:sp>
        <p:nvSpPr>
          <p:cNvPr id="6" name="Text 4"/>
          <p:cNvSpPr/>
          <p:nvPr/>
        </p:nvSpPr>
        <p:spPr>
          <a:xfrm>
            <a:off x="6537960" y="224028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Cognitivo</a:t>
            </a:r>
            <a:endParaRPr lang="en-US" sz="2000" dirty="0"/>
          </a:p>
        </p:txBody>
      </p:sp>
      <p:sp>
        <p:nvSpPr>
          <p:cNvPr id="7" name="Text 5"/>
          <p:cNvSpPr/>
          <p:nvPr/>
        </p:nvSpPr>
        <p:spPr>
          <a:xfrm>
            <a:off x="6537960" y="2788920"/>
            <a:ext cx="4846320" cy="283464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El agente decide qué PIDs le hace falta leer</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Razona sobre lo que va encontrando, llamando a herramientas</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Necesita el coche, la API del modelo y los índices vectoriales</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Hasta 60 segundos de límite</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Y aprende: indexa PIDs, DTCs y el caso resuelto</a:t>
            </a:r>
            <a:endParaRPr lang="en-US" sz="1500" dirty="0"/>
          </a:p>
        </p:txBody>
      </p:sp>
      <p:sp>
        <p:nvSpPr>
          <p:cNvPr id="8" name="Shape 6"/>
          <p:cNvSpPr/>
          <p:nvPr/>
        </p:nvSpPr>
        <p:spPr>
          <a:xfrm>
            <a:off x="777240" y="6263640"/>
            <a:ext cx="219456" cy="219456"/>
          </a:xfrm>
          <a:prstGeom prst="rect">
            <a:avLst/>
          </a:prstGeom>
          <a:solidFill>
            <a:srgbClr val="202CFC"/>
          </a:solidFill>
          <a:ln/>
        </p:spPr>
      </p:sp>
      <p:sp>
        <p:nvSpPr>
          <p:cNvPr id="9" name="Text 7"/>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0" name="Text 8"/>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1" name="Text 9"/>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685800"/>
          </a:xfrm>
          <a:prstGeom prst="rect">
            <a:avLst/>
          </a:prstGeom>
          <a:noFill/>
          <a:ln/>
        </p:spPr>
        <p:txBody>
          <a:bodyPr wrap="square" lIns="0" tIns="0" rIns="0" bIns="0" rtlCol="0" anchor="t"/>
          <a:lstStyle/>
          <a:p>
            <a:pPr indent="0" marL="0">
              <a:buNone/>
            </a:pPr>
            <a:r>
              <a:rPr lang="en-US" sz="3200" b="1" dirty="0">
                <a:solidFill>
                  <a:srgbClr val="1A1C2E"/>
                </a:solidFill>
                <a:latin typeface="Arial" pitchFamily="34" charset="0"/>
                <a:ea typeface="Arial" pitchFamily="34" charset="-122"/>
                <a:cs typeface="Arial" pitchFamily="34" charset="-120"/>
              </a:rPr>
              <a:t>La aplicación funcionando</a:t>
            </a:r>
            <a:endParaRPr lang="en-US" sz="3200" dirty="0"/>
          </a:p>
        </p:txBody>
      </p:sp>
      <p:sp>
        <p:nvSpPr>
          <p:cNvPr id="3" name="Text 1"/>
          <p:cNvSpPr/>
          <p:nvPr/>
        </p:nvSpPr>
        <p:spPr>
          <a:xfrm>
            <a:off x="777240" y="1261872"/>
            <a:ext cx="10607040" cy="320040"/>
          </a:xfrm>
          <a:prstGeom prst="rect">
            <a:avLst/>
          </a:prstGeom>
          <a:noFill/>
          <a:ln/>
        </p:spPr>
        <p:txBody>
          <a:bodyPr wrap="square" lIns="0" tIns="0" rIns="0" bIns="0" rtlCol="0" anchor="t"/>
          <a:lstStyle/>
          <a:p>
            <a:pPr indent="0" marL="0">
              <a:buNone/>
            </a:pPr>
            <a:r>
              <a:rPr lang="en-US" sz="1500" dirty="0">
                <a:solidFill>
                  <a:srgbClr val="5A5F73"/>
                </a:solidFill>
                <a:latin typeface="Calibri" pitchFamily="34" charset="0"/>
                <a:ea typeface="Calibri" pitchFamily="34" charset="-122"/>
                <a:cs typeface="Calibri" pitchFamily="34" charset="-120"/>
              </a:rPr>
              <a:t>Audi A3 2.0 TDI. Todo lo que se ve viene leído del bus, nada está escrito a mano.</a:t>
            </a:r>
            <a:endParaRPr lang="en-US" sz="1500" dirty="0"/>
          </a:p>
        </p:txBody>
      </p:sp>
      <p:sp>
        <p:nvSpPr>
          <p:cNvPr id="4" name="Text 2"/>
          <p:cNvSpPr/>
          <p:nvPr/>
        </p:nvSpPr>
        <p:spPr>
          <a:xfrm>
            <a:off x="777240" y="1874520"/>
            <a:ext cx="4572000" cy="256032"/>
          </a:xfrm>
          <a:prstGeom prst="rect">
            <a:avLst/>
          </a:prstGeom>
          <a:noFill/>
          <a:ln/>
        </p:spPr>
        <p:txBody>
          <a:bodyPr wrap="square" lIns="0" tIns="0" rIns="0" bIns="0" rtlCol="0" anchor="t"/>
          <a:lstStyle/>
          <a:p>
            <a:pPr indent="0" marL="0">
              <a:buNone/>
            </a:pPr>
            <a:r>
              <a:rPr lang="en-US" sz="1200" dirty="0">
                <a:solidFill>
                  <a:srgbClr val="1A1C2E"/>
                </a:solidFill>
                <a:latin typeface="Calibri" pitchFamily="34" charset="0"/>
                <a:ea typeface="Calibri" pitchFamily="34" charset="-122"/>
                <a:cs typeface="Calibri" pitchFamily="34" charset="-120"/>
              </a:rPr>
              <a:t>Lee el VIN del bus y saca marca, modelo y motor</a:t>
            </a:r>
            <a:endParaRPr lang="en-US" sz="1200" dirty="0"/>
          </a:p>
        </p:txBody>
      </p:sp>
      <p:pic>
        <p:nvPicPr>
          <p:cNvPr id="5" name="Image 0" descr="/home/user/intelligent-automotive-diagnostics/docs/presentacion/capturas/demo/01-identificacion-vin.png">    </p:cNvPr>
          <p:cNvPicPr>
            <a:picLocks noChangeAspect="1"/>
          </p:cNvPicPr>
          <p:nvPr/>
        </p:nvPicPr>
        <p:blipFill>
          <a:blip r:embed="rId1"/>
          <a:stretch>
            <a:fillRect/>
          </a:stretch>
        </p:blipFill>
        <p:spPr>
          <a:xfrm>
            <a:off x="777240" y="2176272"/>
            <a:ext cx="4572000" cy="1714500"/>
          </a:xfrm>
          <a:prstGeom prst="rect">
            <a:avLst/>
          </a:prstGeom>
          <a:effectLst>
            <a:outerShdw sx="100000" sy="100000" kx="0" ky="0" algn="bl" rotWithShape="0" blurRad="152400" dist="38100" dir="5400000">
              <a:srgbClr val="000000">
                <a:alpha val="28000"/>
              </a:srgbClr>
            </a:outerShdw>
          </a:effectLst>
        </p:spPr>
      </p:pic>
      <p:sp>
        <p:nvSpPr>
          <p:cNvPr id="6" name="Text 3"/>
          <p:cNvSpPr/>
          <p:nvPr/>
        </p:nvSpPr>
        <p:spPr>
          <a:xfrm>
            <a:off x="6812280" y="1874520"/>
            <a:ext cx="4572000" cy="256032"/>
          </a:xfrm>
          <a:prstGeom prst="rect">
            <a:avLst/>
          </a:prstGeom>
          <a:noFill/>
          <a:ln/>
        </p:spPr>
        <p:txBody>
          <a:bodyPr wrap="square" lIns="0" tIns="0" rIns="0" bIns="0" rtlCol="0" anchor="t"/>
          <a:lstStyle/>
          <a:p>
            <a:pPr indent="0" marL="0">
              <a:buNone/>
            </a:pPr>
            <a:r>
              <a:rPr lang="en-US" sz="1200" dirty="0">
                <a:solidFill>
                  <a:srgbClr val="1A1C2E"/>
                </a:solidFill>
                <a:latin typeface="Calibri" pitchFamily="34" charset="0"/>
                <a:ea typeface="Calibri" pitchFamily="34" charset="-122"/>
                <a:cs typeface="Calibri" pitchFamily="34" charset="-120"/>
              </a:rPr>
              <a:t>Telemetría en vivo y los PIDs que soporta</a:t>
            </a:r>
            <a:endParaRPr lang="en-US" sz="1200" dirty="0"/>
          </a:p>
        </p:txBody>
      </p:sp>
      <p:pic>
        <p:nvPicPr>
          <p:cNvPr id="7" name="Image 1" descr="/home/user/intelligent-automotive-diagnostics/docs/presentacion/capturas/demo/02-datos-vivo.png">    </p:cNvPr>
          <p:cNvPicPr>
            <a:picLocks noChangeAspect="1"/>
          </p:cNvPicPr>
          <p:nvPr/>
        </p:nvPicPr>
        <p:blipFill>
          <a:blip r:embed="rId2"/>
          <a:stretch>
            <a:fillRect/>
          </a:stretch>
        </p:blipFill>
        <p:spPr>
          <a:xfrm>
            <a:off x="6812280" y="2176272"/>
            <a:ext cx="4572000" cy="1714500"/>
          </a:xfrm>
          <a:prstGeom prst="rect">
            <a:avLst/>
          </a:prstGeom>
          <a:effectLst>
            <a:outerShdw sx="100000" sy="100000" kx="0" ky="0" algn="bl" rotWithShape="0" blurRad="152400" dist="38100" dir="5400000">
              <a:srgbClr val="000000">
                <a:alpha val="28000"/>
              </a:srgbClr>
            </a:outerShdw>
          </a:effectLst>
        </p:spPr>
      </p:pic>
      <p:sp>
        <p:nvSpPr>
          <p:cNvPr id="8" name="Text 4"/>
          <p:cNvSpPr/>
          <p:nvPr/>
        </p:nvSpPr>
        <p:spPr>
          <a:xfrm>
            <a:off x="777240" y="4023360"/>
            <a:ext cx="4572000" cy="256032"/>
          </a:xfrm>
          <a:prstGeom prst="rect">
            <a:avLst/>
          </a:prstGeom>
          <a:noFill/>
          <a:ln/>
        </p:spPr>
        <p:txBody>
          <a:bodyPr wrap="square" lIns="0" tIns="0" rIns="0" bIns="0" rtlCol="0" anchor="t"/>
          <a:lstStyle/>
          <a:p>
            <a:pPr indent="0" marL="0">
              <a:buNone/>
            </a:pPr>
            <a:r>
              <a:rPr lang="en-US" sz="1200" dirty="0">
                <a:solidFill>
                  <a:srgbClr val="1A1C2E"/>
                </a:solidFill>
                <a:latin typeface="Calibri" pitchFamily="34" charset="0"/>
                <a:ea typeface="Calibri" pitchFamily="34" charset="-122"/>
                <a:cs typeface="Calibri" pitchFamily="34" charset="-120"/>
              </a:rPr>
              <a:t>Las averías: modos 03, 07 y 0A</a:t>
            </a:r>
            <a:endParaRPr lang="en-US" sz="1200" dirty="0"/>
          </a:p>
        </p:txBody>
      </p:sp>
      <p:pic>
        <p:nvPicPr>
          <p:cNvPr id="9" name="Image 2" descr="/home/user/intelligent-automotive-diagnostics/docs/presentacion/capturas/demo/03-codigos-dtc.png">    </p:cNvPr>
          <p:cNvPicPr>
            <a:picLocks noChangeAspect="1"/>
          </p:cNvPicPr>
          <p:nvPr/>
        </p:nvPicPr>
        <p:blipFill>
          <a:blip r:embed="rId3"/>
          <a:stretch>
            <a:fillRect/>
          </a:stretch>
        </p:blipFill>
        <p:spPr>
          <a:xfrm>
            <a:off x="777240" y="4325112"/>
            <a:ext cx="4572000" cy="1714500"/>
          </a:xfrm>
          <a:prstGeom prst="rect">
            <a:avLst/>
          </a:prstGeom>
          <a:effectLst>
            <a:outerShdw sx="100000" sy="100000" kx="0" ky="0" algn="bl" rotWithShape="0" blurRad="152400" dist="38100" dir="5400000">
              <a:srgbClr val="000000">
                <a:alpha val="28000"/>
              </a:srgbClr>
            </a:outerShdw>
          </a:effectLst>
        </p:spPr>
      </p:pic>
      <p:sp>
        <p:nvSpPr>
          <p:cNvPr id="10" name="Text 5"/>
          <p:cNvSpPr/>
          <p:nvPr/>
        </p:nvSpPr>
        <p:spPr>
          <a:xfrm>
            <a:off x="6812280" y="4023360"/>
            <a:ext cx="4572000" cy="256032"/>
          </a:xfrm>
          <a:prstGeom prst="rect">
            <a:avLst/>
          </a:prstGeom>
          <a:noFill/>
          <a:ln/>
        </p:spPr>
        <p:txBody>
          <a:bodyPr wrap="square" lIns="0" tIns="0" rIns="0" bIns="0" rtlCol="0" anchor="t"/>
          <a:lstStyle/>
          <a:p>
            <a:pPr indent="0" marL="0">
              <a:buNone/>
            </a:pPr>
            <a:r>
              <a:rPr lang="en-US" sz="1200" dirty="0">
                <a:solidFill>
                  <a:srgbClr val="1A1C2E"/>
                </a:solidFill>
                <a:latin typeface="Calibri" pitchFamily="34" charset="0"/>
                <a:ea typeface="Calibri" pitchFamily="34" charset="-122"/>
                <a:cs typeface="Calibri" pitchFamily="34" charset="-120"/>
              </a:rPr>
              <a:t>El informe que se congela con la sesión</a:t>
            </a:r>
            <a:endParaRPr lang="en-US" sz="1200" dirty="0"/>
          </a:p>
        </p:txBody>
      </p:sp>
      <p:pic>
        <p:nvPicPr>
          <p:cNvPr id="11" name="Image 3" descr="/home/user/intelligent-automotive-diagnostics/docs/presentacion/capturas/demo/08-informe.png">    </p:cNvPr>
          <p:cNvPicPr>
            <a:picLocks noChangeAspect="1"/>
          </p:cNvPicPr>
          <p:nvPr/>
        </p:nvPicPr>
        <p:blipFill>
          <a:blip r:embed="rId4"/>
          <a:stretch>
            <a:fillRect/>
          </a:stretch>
        </p:blipFill>
        <p:spPr>
          <a:xfrm>
            <a:off x="6812280" y="4325112"/>
            <a:ext cx="4572000" cy="1714500"/>
          </a:xfrm>
          <a:prstGeom prst="rect">
            <a:avLst/>
          </a:prstGeom>
          <a:effectLst>
            <a:outerShdw sx="100000" sy="100000" kx="0" ky="0" algn="bl" rotWithShape="0" blurRad="152400" dist="38100" dir="5400000">
              <a:srgbClr val="000000">
                <a:alpha val="28000"/>
              </a:srgbClr>
            </a:outerShdw>
          </a:effectLst>
        </p:spPr>
      </p:pic>
      <p:sp>
        <p:nvSpPr>
          <p:cNvPr id="12" name="Shape 6"/>
          <p:cNvSpPr/>
          <p:nvPr/>
        </p:nvSpPr>
        <p:spPr>
          <a:xfrm>
            <a:off x="777240" y="6263640"/>
            <a:ext cx="219456" cy="219456"/>
          </a:xfrm>
          <a:prstGeom prst="rect">
            <a:avLst/>
          </a:prstGeom>
          <a:solidFill>
            <a:srgbClr val="202CFC"/>
          </a:solidFill>
          <a:ln/>
        </p:spPr>
      </p:sp>
      <p:sp>
        <p:nvSpPr>
          <p:cNvPr id="13" name="Text 7"/>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4" name="Text 8"/>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5" name="Text 9"/>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48640"/>
            <a:ext cx="10607040" cy="73152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Con qué está hecho</a:t>
            </a:r>
            <a:endParaRPr lang="en-US" sz="3400" dirty="0"/>
          </a:p>
        </p:txBody>
      </p:sp>
      <p:sp>
        <p:nvSpPr>
          <p:cNvPr id="3" name="Text 1"/>
          <p:cNvSpPr/>
          <p:nvPr/>
        </p:nvSpPr>
        <p:spPr>
          <a:xfrm>
            <a:off x="777240" y="1371600"/>
            <a:ext cx="10607040" cy="365760"/>
          </a:xfrm>
          <a:prstGeom prst="rect">
            <a:avLst/>
          </a:prstGeom>
          <a:noFill/>
          <a:ln/>
        </p:spPr>
        <p:txBody>
          <a:bodyPr wrap="square" lIns="0" tIns="0" rIns="0" bIns="0" rtlCol="0" anchor="t"/>
          <a:lstStyle/>
          <a:p>
            <a:pPr indent="0" marL="0">
              <a:buNone/>
            </a:pPr>
            <a:r>
              <a:rPr lang="en-US" sz="1600" dirty="0">
                <a:solidFill>
                  <a:srgbClr val="5A5F73"/>
                </a:solidFill>
                <a:latin typeface="Calibri" pitchFamily="34" charset="0"/>
                <a:ea typeface="Calibri" pitchFamily="34" charset="-122"/>
                <a:cs typeface="Calibri" pitchFamily="34" charset="-120"/>
              </a:rPr>
              <a:t>TypeScript de punta a punta, y cada pieza detrás de un puerto.</a:t>
            </a:r>
            <a:endParaRPr lang="en-US" sz="1600" dirty="0"/>
          </a:p>
        </p:txBody>
      </p:sp>
      <p:sp>
        <p:nvSpPr>
          <p:cNvPr id="4" name="Text 2"/>
          <p:cNvSpPr/>
          <p:nvPr/>
        </p:nvSpPr>
        <p:spPr>
          <a:xfrm>
            <a:off x="777240" y="21488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Lenguaje y runtime</a:t>
            </a:r>
            <a:endParaRPr lang="en-US" sz="1400" dirty="0"/>
          </a:p>
        </p:txBody>
      </p:sp>
      <p:sp>
        <p:nvSpPr>
          <p:cNvPr id="5" name="Text 3"/>
          <p:cNvSpPr/>
          <p:nvPr/>
        </p:nvSpPr>
        <p:spPr>
          <a:xfrm>
            <a:off x="3931920" y="21488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TypeScript 5.7 estricto sobre Node 22</a:t>
            </a:r>
            <a:endParaRPr lang="en-US" sz="1400" dirty="0"/>
          </a:p>
        </p:txBody>
      </p:sp>
      <p:sp>
        <p:nvSpPr>
          <p:cNvPr id="6" name="Text 4"/>
          <p:cNvSpPr/>
          <p:nvPr/>
        </p:nvSpPr>
        <p:spPr>
          <a:xfrm>
            <a:off x="777240" y="26060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API</a:t>
            </a:r>
            <a:endParaRPr lang="en-US" sz="1400" dirty="0"/>
          </a:p>
        </p:txBody>
      </p:sp>
      <p:sp>
        <p:nvSpPr>
          <p:cNvPr id="7" name="Text 5"/>
          <p:cNvSpPr/>
          <p:nvPr/>
        </p:nvSpPr>
        <p:spPr>
          <a:xfrm>
            <a:off x="3931920" y="26060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Express 5 · Zod · Helmet 8 · JWT · pino</a:t>
            </a:r>
            <a:endParaRPr lang="en-US" sz="1400" dirty="0"/>
          </a:p>
        </p:txBody>
      </p:sp>
      <p:sp>
        <p:nvSpPr>
          <p:cNvPr id="8" name="Text 6"/>
          <p:cNvSpPr/>
          <p:nvPr/>
        </p:nvSpPr>
        <p:spPr>
          <a:xfrm>
            <a:off x="777240" y="30632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Persistencia</a:t>
            </a:r>
            <a:endParaRPr lang="en-US" sz="1400" dirty="0"/>
          </a:p>
        </p:txBody>
      </p:sp>
      <p:sp>
        <p:nvSpPr>
          <p:cNvPr id="9" name="Text 7"/>
          <p:cNvSpPr/>
          <p:nvPr/>
        </p:nvSpPr>
        <p:spPr>
          <a:xfrm>
            <a:off x="3931920" y="30632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SQLite con Drizzle ORM</a:t>
            </a:r>
            <a:endParaRPr lang="en-US" sz="1400" dirty="0"/>
          </a:p>
        </p:txBody>
      </p:sp>
      <p:sp>
        <p:nvSpPr>
          <p:cNvPr id="10" name="Text 8"/>
          <p:cNvSpPr/>
          <p:nvPr/>
        </p:nvSpPr>
        <p:spPr>
          <a:xfrm>
            <a:off x="777240" y="35204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Búsqueda vectorial</a:t>
            </a:r>
            <a:endParaRPr lang="en-US" sz="1400" dirty="0"/>
          </a:p>
        </p:txBody>
      </p:sp>
      <p:sp>
        <p:nvSpPr>
          <p:cNvPr id="11" name="Text 9"/>
          <p:cNvSpPr/>
          <p:nvPr/>
        </p:nvSpPr>
        <p:spPr>
          <a:xfrm>
            <a:off x="3931920" y="35204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LanceDB · transformers.js en local</a:t>
            </a:r>
            <a:endParaRPr lang="en-US" sz="1400" dirty="0"/>
          </a:p>
        </p:txBody>
      </p:sp>
      <p:sp>
        <p:nvSpPr>
          <p:cNvPr id="12" name="Text 10"/>
          <p:cNvSpPr/>
          <p:nvPr/>
        </p:nvSpPr>
        <p:spPr>
          <a:xfrm>
            <a:off x="777240" y="39776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Agente</a:t>
            </a:r>
            <a:endParaRPr lang="en-US" sz="1400" dirty="0"/>
          </a:p>
        </p:txBody>
      </p:sp>
      <p:sp>
        <p:nvSpPr>
          <p:cNvPr id="13" name="Text 11"/>
          <p:cNvSpPr/>
          <p:nvPr/>
        </p:nvSpPr>
        <p:spPr>
          <a:xfrm>
            <a:off x="3931920" y="39776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MCP SDK · SDK de Anthropic · SDK de OpenAI</a:t>
            </a:r>
            <a:endParaRPr lang="en-US" sz="1400" dirty="0"/>
          </a:p>
        </p:txBody>
      </p:sp>
      <p:sp>
        <p:nvSpPr>
          <p:cNvPr id="14" name="Text 12"/>
          <p:cNvSpPr/>
          <p:nvPr/>
        </p:nvSpPr>
        <p:spPr>
          <a:xfrm>
            <a:off x="777240" y="44348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Acceso al coche</a:t>
            </a:r>
            <a:endParaRPr lang="en-US" sz="1400" dirty="0"/>
          </a:p>
        </p:txBody>
      </p:sp>
      <p:sp>
        <p:nvSpPr>
          <p:cNvPr id="15" name="Text 13"/>
          <p:cNvSpPr/>
          <p:nvPr/>
        </p:nvSpPr>
        <p:spPr>
          <a:xfrm>
            <a:off x="3931920" y="44348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ELM327 por serie o TCP · emulador Python</a:t>
            </a:r>
            <a:endParaRPr lang="en-US" sz="1400" dirty="0"/>
          </a:p>
        </p:txBody>
      </p:sp>
      <p:sp>
        <p:nvSpPr>
          <p:cNvPr id="16" name="Text 14"/>
          <p:cNvSpPr/>
          <p:nvPr/>
        </p:nvSpPr>
        <p:spPr>
          <a:xfrm>
            <a:off x="777240" y="48920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Interfaz</a:t>
            </a:r>
            <a:endParaRPr lang="en-US" sz="1400" dirty="0"/>
          </a:p>
        </p:txBody>
      </p:sp>
      <p:sp>
        <p:nvSpPr>
          <p:cNvPr id="17" name="Text 15"/>
          <p:cNvSpPr/>
          <p:nvPr/>
        </p:nvSpPr>
        <p:spPr>
          <a:xfrm>
            <a:off x="3931920" y="48920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React 19 · Vite · TanStack Router y Query · Tailwind</a:t>
            </a:r>
            <a:endParaRPr lang="en-US" sz="1400" dirty="0"/>
          </a:p>
        </p:txBody>
      </p:sp>
      <p:sp>
        <p:nvSpPr>
          <p:cNvPr id="18" name="Text 16"/>
          <p:cNvSpPr/>
          <p:nvPr/>
        </p:nvSpPr>
        <p:spPr>
          <a:xfrm>
            <a:off x="777240" y="53492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Pruebas</a:t>
            </a:r>
            <a:endParaRPr lang="en-US" sz="1400" dirty="0"/>
          </a:p>
        </p:txBody>
      </p:sp>
      <p:sp>
        <p:nvSpPr>
          <p:cNvPr id="19" name="Text 17"/>
          <p:cNvSpPr/>
          <p:nvPr/>
        </p:nvSpPr>
        <p:spPr>
          <a:xfrm>
            <a:off x="3931920" y="53492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Vitest · supertest · Playwright</a:t>
            </a:r>
            <a:endParaRPr lang="en-US" sz="1400" dirty="0"/>
          </a:p>
        </p:txBody>
      </p:sp>
      <p:sp>
        <p:nvSpPr>
          <p:cNvPr id="20" name="Text 18"/>
          <p:cNvSpPr/>
          <p:nvPr/>
        </p:nvSpPr>
        <p:spPr>
          <a:xfrm>
            <a:off x="777240" y="5806440"/>
            <a:ext cx="3017520" cy="384048"/>
          </a:xfrm>
          <a:prstGeom prst="rect">
            <a:avLst/>
          </a:prstGeom>
          <a:noFill/>
          <a:ln/>
        </p:spPr>
        <p:txBody>
          <a:bodyPr wrap="square" lIns="0" tIns="0" rIns="0" bIns="0" rtlCol="0" anchor="ctr"/>
          <a:lstStyle/>
          <a:p>
            <a:pPr indent="0" marL="0">
              <a:buNone/>
            </a:pPr>
            <a:r>
              <a:rPr lang="en-US" sz="1400" b="1" dirty="0">
                <a:solidFill>
                  <a:srgbClr val="202CFC"/>
                </a:solidFill>
                <a:latin typeface="Arial" pitchFamily="34" charset="0"/>
                <a:ea typeface="Arial" pitchFamily="34" charset="-122"/>
                <a:cs typeface="Arial" pitchFamily="34" charset="-120"/>
              </a:rPr>
              <a:t>Entrega</a:t>
            </a:r>
            <a:endParaRPr lang="en-US" sz="1400" dirty="0"/>
          </a:p>
        </p:txBody>
      </p:sp>
      <p:sp>
        <p:nvSpPr>
          <p:cNvPr id="21" name="Text 19"/>
          <p:cNvSpPr/>
          <p:nvPr/>
        </p:nvSpPr>
        <p:spPr>
          <a:xfrm>
            <a:off x="3931920" y="5806440"/>
            <a:ext cx="7452360" cy="384048"/>
          </a:xfrm>
          <a:prstGeom prst="rect">
            <a:avLst/>
          </a:prstGeom>
          <a:noFill/>
          <a:ln/>
        </p:spPr>
        <p:txBody>
          <a:bodyPr wrap="square" lIns="0" tIns="0" rIns="0" bIns="0" rtlCol="0" anchor="ctr"/>
          <a:lstStyle/>
          <a:p>
            <a:pPr indent="0" marL="0">
              <a:buNone/>
            </a:pPr>
            <a:r>
              <a:rPr lang="en-US" sz="1400" dirty="0">
                <a:solidFill>
                  <a:srgbClr val="1A1C2E"/>
                </a:solidFill>
                <a:latin typeface="Calibri" pitchFamily="34" charset="0"/>
                <a:ea typeface="Calibri" pitchFamily="34" charset="-122"/>
                <a:cs typeface="Calibri" pitchFamily="34" charset="-120"/>
              </a:rPr>
              <a:t>GitHub Actions · Docker · Caddy</a:t>
            </a:r>
            <a:endParaRPr lang="en-US" sz="1400" dirty="0"/>
          </a:p>
        </p:txBody>
      </p:sp>
      <p:sp>
        <p:nvSpPr>
          <p:cNvPr id="22" name="Shape 20"/>
          <p:cNvSpPr/>
          <p:nvPr/>
        </p:nvSpPr>
        <p:spPr>
          <a:xfrm>
            <a:off x="777240" y="6263640"/>
            <a:ext cx="219456" cy="219456"/>
          </a:xfrm>
          <a:prstGeom prst="rect">
            <a:avLst/>
          </a:prstGeom>
          <a:solidFill>
            <a:srgbClr val="202CFC"/>
          </a:solidFill>
          <a:ln/>
        </p:spPr>
      </p:sp>
      <p:sp>
        <p:nvSpPr>
          <p:cNvPr id="23" name="Text 21"/>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24" name="Text 22"/>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25" name="Text 23"/>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Cómo se sostiene esto</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Un solo programador, así que el que avisa de las roturas es el CI.</a:t>
            </a:r>
            <a:endParaRPr lang="en-US" sz="1700" dirty="0"/>
          </a:p>
        </p:txBody>
      </p:sp>
      <p:sp>
        <p:nvSpPr>
          <p:cNvPr id="4" name="Text 2"/>
          <p:cNvSpPr/>
          <p:nvPr/>
        </p:nvSpPr>
        <p:spPr>
          <a:xfrm>
            <a:off x="777240" y="224028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Cómo se escribe</a:t>
            </a:r>
            <a:endParaRPr lang="en-US" sz="1900" dirty="0"/>
          </a:p>
        </p:txBody>
      </p:sp>
      <p:sp>
        <p:nvSpPr>
          <p:cNvPr id="5" name="Text 3"/>
          <p:cNvSpPr/>
          <p:nvPr/>
        </p:nvSpPr>
        <p:spPr>
          <a:xfrm>
            <a:off x="777240" y="2788920"/>
            <a:ext cx="4846320" cy="283464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TDD: primero el test que falla, luego el código</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2.171 pruebas en verde, en 209 ficheros</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La cobertura se exige fichero a fichero, no de media</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45 cambios especificados y archivados con OpenSpec</a:t>
            </a:r>
            <a:endParaRPr lang="en-US" sz="1500" dirty="0"/>
          </a:p>
        </p:txBody>
      </p:sp>
      <p:sp>
        <p:nvSpPr>
          <p:cNvPr id="6" name="Text 4"/>
          <p:cNvSpPr/>
          <p:nvPr/>
        </p:nvSpPr>
        <p:spPr>
          <a:xfrm>
            <a:off x="6537960" y="2240280"/>
            <a:ext cx="4846320" cy="365760"/>
          </a:xfrm>
          <a:prstGeom prst="rect">
            <a:avLst/>
          </a:prstGeom>
          <a:noFill/>
          <a:ln/>
        </p:spPr>
        <p:txBody>
          <a:bodyPr wrap="square" lIns="0" tIns="0" rIns="0" bIns="0" rtlCol="0" anchor="t"/>
          <a:lstStyle/>
          <a:p>
            <a:pPr indent="0" marL="0">
              <a:buNone/>
            </a:pPr>
            <a:r>
              <a:rPr lang="en-US" sz="1900" b="1" dirty="0">
                <a:solidFill>
                  <a:srgbClr val="202CFC"/>
                </a:solidFill>
                <a:latin typeface="Arial" pitchFamily="34" charset="0"/>
                <a:ea typeface="Arial" pitchFamily="34" charset="-122"/>
                <a:cs typeface="Arial" pitchFamily="34" charset="-120"/>
              </a:rPr>
              <a:t>Qué se comprueba en cada push</a:t>
            </a:r>
            <a:endParaRPr lang="en-US" sz="1900" dirty="0"/>
          </a:p>
        </p:txBody>
      </p:sp>
      <p:sp>
        <p:nvSpPr>
          <p:cNvPr id="7" name="Text 5"/>
          <p:cNvSpPr/>
          <p:nvPr/>
        </p:nvSpPr>
        <p:spPr>
          <a:xfrm>
            <a:off x="6537960" y="2788920"/>
            <a:ext cx="4846320" cy="2834640"/>
          </a:xfrm>
          <a:prstGeom prst="rect">
            <a:avLst/>
          </a:prstGeom>
          <a:noFill/>
          <a:ln/>
        </p:spPr>
        <p:txBody>
          <a:bodyPr wrap="square" lIns="0" tIns="0" rIns="0" bIns="0" rtlCol="0" anchor="t"/>
          <a:lstStyle/>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Lint, formato, tests, build y typecheck</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Las dos apps en paralelo, sobre Node 22</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Auditoría de dependencias que rompe si hay algo crítico</a:t>
            </a:r>
            <a:endParaRPr lang="en-US" sz="1500" dirty="0"/>
          </a:p>
          <a:p>
            <a:pPr marL="342900" indent="-342900">
              <a:lnSpc>
                <a:spcPts val="2100"/>
              </a:lnSpc>
              <a:spcAft>
                <a:spcPts val="1100"/>
              </a:spcAft>
              <a:buSzPct val="100000"/>
              <a:buChar char="•"/>
            </a:pPr>
            <a:r>
              <a:rPr lang="en-US" sz="1500" dirty="0">
                <a:solidFill>
                  <a:srgbClr val="1A1C2E"/>
                </a:solidFill>
                <a:latin typeface="Calibri" pitchFamily="34" charset="0"/>
                <a:ea typeface="Calibri" pitchFamily="34" charset="-122"/>
                <a:cs typeface="Calibri" pitchFamily="34" charset="-120"/>
              </a:rPr>
              <a:t>OWASP API Top 10 2023: las diez categorías, documentadas</a:t>
            </a:r>
            <a:endParaRPr lang="en-US" sz="1500" dirty="0"/>
          </a:p>
        </p:txBody>
      </p:sp>
      <p:sp>
        <p:nvSpPr>
          <p:cNvPr id="8" name="Shape 6"/>
          <p:cNvSpPr/>
          <p:nvPr/>
        </p:nvSpPr>
        <p:spPr>
          <a:xfrm>
            <a:off x="777240" y="6263640"/>
            <a:ext cx="219456" cy="219456"/>
          </a:xfrm>
          <a:prstGeom prst="rect">
            <a:avLst/>
          </a:prstGeom>
          <a:solidFill>
            <a:srgbClr val="202CFC"/>
          </a:solidFill>
          <a:ln/>
        </p:spPr>
      </p:sp>
      <p:sp>
        <p:nvSpPr>
          <p:cNvPr id="9" name="Text 7"/>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0" name="Text 8"/>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1" name="Text 9"/>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640080"/>
            <a:ext cx="10607040" cy="777240"/>
          </a:xfrm>
          <a:prstGeom prst="rect">
            <a:avLst/>
          </a:prstGeom>
          <a:noFill/>
          <a:ln/>
        </p:spPr>
        <p:txBody>
          <a:bodyPr wrap="square" lIns="0" tIns="0" rIns="0" bIns="0" rtlCol="0" anchor="t"/>
          <a:lstStyle/>
          <a:p>
            <a:pPr indent="0" marL="0">
              <a:buNone/>
            </a:pPr>
            <a:r>
              <a:rPr lang="en-US" sz="3400" b="1" dirty="0">
                <a:solidFill>
                  <a:srgbClr val="1A1C2E"/>
                </a:solidFill>
                <a:latin typeface="Arial" pitchFamily="34" charset="0"/>
                <a:ea typeface="Arial" pitchFamily="34" charset="-122"/>
                <a:cs typeface="Arial" pitchFamily="34" charset="-120"/>
              </a:rPr>
              <a:t>Conclusiones</a:t>
            </a:r>
            <a:endParaRPr lang="en-US" sz="3400" dirty="0"/>
          </a:p>
        </p:txBody>
      </p:sp>
      <p:sp>
        <p:nvSpPr>
          <p:cNvPr id="3" name="Text 1"/>
          <p:cNvSpPr/>
          <p:nvPr/>
        </p:nvSpPr>
        <p:spPr>
          <a:xfrm>
            <a:off x="777240" y="1508760"/>
            <a:ext cx="10607040" cy="365760"/>
          </a:xfrm>
          <a:prstGeom prst="rect">
            <a:avLst/>
          </a:prstGeom>
          <a:noFill/>
          <a:ln/>
        </p:spPr>
        <p:txBody>
          <a:bodyPr wrap="square" lIns="0" tIns="0" rIns="0" bIns="0" rtlCol="0" anchor="t"/>
          <a:lstStyle/>
          <a:p>
            <a:pPr indent="0" marL="0">
              <a:buNone/>
            </a:pPr>
            <a:r>
              <a:rPr lang="en-US" sz="1700" dirty="0">
                <a:solidFill>
                  <a:srgbClr val="5A5F73"/>
                </a:solidFill>
                <a:latin typeface="Calibri" pitchFamily="34" charset="0"/>
                <a:ea typeface="Calibri" pitchFamily="34" charset="-122"/>
                <a:cs typeface="Calibri" pitchFamily="34" charset="-120"/>
              </a:rPr>
              <a:t>Lo que me llevo de haber construido esto con IA.</a:t>
            </a:r>
            <a:endParaRPr lang="en-US" sz="1700" dirty="0"/>
          </a:p>
        </p:txBody>
      </p:sp>
      <p:sp>
        <p:nvSpPr>
          <p:cNvPr id="4" name="Text 2"/>
          <p:cNvSpPr/>
          <p:nvPr/>
        </p:nvSpPr>
        <p:spPr>
          <a:xfrm>
            <a:off x="777240" y="228600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Lo que acelera</a:t>
            </a:r>
            <a:endParaRPr lang="en-US" sz="2000" dirty="0"/>
          </a:p>
        </p:txBody>
      </p:sp>
      <p:sp>
        <p:nvSpPr>
          <p:cNvPr id="5" name="Text 3"/>
          <p:cNvSpPr/>
          <p:nvPr/>
        </p:nvSpPr>
        <p:spPr>
          <a:xfrm>
            <a:off x="777240" y="2834640"/>
            <a:ext cx="4846320" cy="2468880"/>
          </a:xfrm>
          <a:prstGeom prst="rect">
            <a:avLst/>
          </a:prstGeom>
          <a:noFill/>
          <a:ln/>
        </p:spPr>
        <p:txBody>
          <a:bodyPr wrap="square" lIns="0" tIns="0" rIns="0" bIns="0" rtlCol="0" anchor="t"/>
          <a:lstStyle/>
          <a:p>
            <a:pPr marL="342900" indent="-342900">
              <a:lnSpc>
                <a:spcPts val="2200"/>
              </a:lnSpc>
              <a:spcAft>
                <a:spcPts val="1300"/>
              </a:spcAft>
              <a:buSzPct val="100000"/>
              <a:buChar char="•"/>
            </a:pPr>
            <a:r>
              <a:rPr lang="en-US" sz="1600" dirty="0">
                <a:solidFill>
                  <a:srgbClr val="1A1C2E"/>
                </a:solidFill>
                <a:latin typeface="Calibri" pitchFamily="34" charset="0"/>
                <a:ea typeface="Calibri" pitchFamily="34" charset="-122"/>
                <a:cs typeface="Calibri" pitchFamily="34" charset="-120"/>
              </a:rPr>
              <a:t>Se pueden construir cosas complejas mucho más rápido</a:t>
            </a:r>
            <a:endParaRPr lang="en-US" sz="1600" dirty="0"/>
          </a:p>
          <a:p>
            <a:pPr marL="342900" indent="-342900">
              <a:lnSpc>
                <a:spcPts val="2200"/>
              </a:lnSpc>
              <a:spcAft>
                <a:spcPts val="1300"/>
              </a:spcAft>
              <a:buSzPct val="100000"/>
              <a:buChar char="•"/>
            </a:pPr>
            <a:r>
              <a:rPr lang="en-US" sz="1600" dirty="0">
                <a:solidFill>
                  <a:srgbClr val="1A1C2E"/>
                </a:solidFill>
                <a:latin typeface="Calibri" pitchFamily="34" charset="0"/>
                <a:ea typeface="Calibri" pitchFamily="34" charset="-122"/>
                <a:cs typeface="Calibri" pitchFamily="34" charset="-120"/>
              </a:rPr>
              <a:t>Lo que antes eran meses o años, ahora son semanas</a:t>
            </a:r>
            <a:endParaRPr lang="en-US" sz="1600" dirty="0"/>
          </a:p>
          <a:p>
            <a:pPr marL="342900" indent="-342900">
              <a:lnSpc>
                <a:spcPts val="2200"/>
              </a:lnSpc>
              <a:spcAft>
                <a:spcPts val="1300"/>
              </a:spcAft>
              <a:buSzPct val="100000"/>
              <a:buChar char="•"/>
            </a:pPr>
            <a:r>
              <a:rPr lang="en-US" sz="1600" dirty="0">
                <a:solidFill>
                  <a:srgbClr val="1A1C2E"/>
                </a:solidFill>
                <a:latin typeface="Calibri" pitchFamily="34" charset="0"/>
                <a:ea typeface="Calibri" pitchFamily="34" charset="-122"/>
                <a:cs typeface="Calibri" pitchFamily="34" charset="-120"/>
              </a:rPr>
              <a:t>Y se aprende más por el camino: herramientas y frameworks que no habrías tocado</a:t>
            </a:r>
            <a:endParaRPr lang="en-US" sz="1600" dirty="0"/>
          </a:p>
        </p:txBody>
      </p:sp>
      <p:sp>
        <p:nvSpPr>
          <p:cNvPr id="6" name="Text 4"/>
          <p:cNvSpPr/>
          <p:nvPr/>
        </p:nvSpPr>
        <p:spPr>
          <a:xfrm>
            <a:off x="6537960" y="2286000"/>
            <a:ext cx="4846320" cy="365760"/>
          </a:xfrm>
          <a:prstGeom prst="rect">
            <a:avLst/>
          </a:prstGeom>
          <a:noFill/>
          <a:ln/>
        </p:spPr>
        <p:txBody>
          <a:bodyPr wrap="square" lIns="0" tIns="0" rIns="0" bIns="0" rtlCol="0" anchor="t"/>
          <a:lstStyle/>
          <a:p>
            <a:pPr indent="0" marL="0">
              <a:buNone/>
            </a:pPr>
            <a:r>
              <a:rPr lang="en-US" sz="2000" b="1" dirty="0">
                <a:solidFill>
                  <a:srgbClr val="202CFC"/>
                </a:solidFill>
                <a:latin typeface="Arial" pitchFamily="34" charset="0"/>
                <a:ea typeface="Arial" pitchFamily="34" charset="-122"/>
                <a:cs typeface="Arial" pitchFamily="34" charset="-120"/>
              </a:rPr>
              <a:t>Lo que hay que poner</a:t>
            </a:r>
            <a:endParaRPr lang="en-US" sz="2000" dirty="0"/>
          </a:p>
        </p:txBody>
      </p:sp>
      <p:sp>
        <p:nvSpPr>
          <p:cNvPr id="7" name="Text 5"/>
          <p:cNvSpPr/>
          <p:nvPr/>
        </p:nvSpPr>
        <p:spPr>
          <a:xfrm>
            <a:off x="6537960" y="2834640"/>
            <a:ext cx="4846320" cy="2468880"/>
          </a:xfrm>
          <a:prstGeom prst="rect">
            <a:avLst/>
          </a:prstGeom>
          <a:noFill/>
          <a:ln/>
        </p:spPr>
        <p:txBody>
          <a:bodyPr wrap="square" lIns="0" tIns="0" rIns="0" bIns="0" rtlCol="0" anchor="t"/>
          <a:lstStyle/>
          <a:p>
            <a:pPr marL="342900" indent="-342900">
              <a:lnSpc>
                <a:spcPts val="2200"/>
              </a:lnSpc>
              <a:spcAft>
                <a:spcPts val="1300"/>
              </a:spcAft>
              <a:buSzPct val="100000"/>
              <a:buChar char="•"/>
            </a:pPr>
            <a:r>
              <a:rPr lang="en-US" sz="1600" dirty="0">
                <a:solidFill>
                  <a:srgbClr val="1A1C2E"/>
                </a:solidFill>
                <a:latin typeface="Calibri" pitchFamily="34" charset="0"/>
                <a:ea typeface="Calibri" pitchFamily="34" charset="-122"/>
                <a:cs typeface="Calibri" pitchFamily="34" charset="-120"/>
              </a:rPr>
              <a:t>Acelera, pero también se equivoca</a:t>
            </a:r>
            <a:endParaRPr lang="en-US" sz="1600" dirty="0"/>
          </a:p>
          <a:p>
            <a:pPr marL="342900" indent="-342900">
              <a:lnSpc>
                <a:spcPts val="2200"/>
              </a:lnSpc>
              <a:spcAft>
                <a:spcPts val="1300"/>
              </a:spcAft>
              <a:buSzPct val="100000"/>
              <a:buChar char="•"/>
            </a:pPr>
            <a:r>
              <a:rPr lang="en-US" sz="1600" dirty="0">
                <a:solidFill>
                  <a:srgbClr val="1A1C2E"/>
                </a:solidFill>
                <a:latin typeface="Calibri" pitchFamily="34" charset="0"/>
                <a:ea typeface="Calibri" pitchFamily="34" charset="-122"/>
                <a:cs typeface="Calibri" pitchFamily="34" charset="-120"/>
              </a:rPr>
              <a:t>Hay que revisar lo que se sube, no vale con fiarse</a:t>
            </a:r>
            <a:endParaRPr lang="en-US" sz="1600" dirty="0"/>
          </a:p>
          <a:p>
            <a:pPr marL="342900" indent="-342900">
              <a:lnSpc>
                <a:spcPts val="2200"/>
              </a:lnSpc>
              <a:spcAft>
                <a:spcPts val="1300"/>
              </a:spcAft>
              <a:buSzPct val="100000"/>
              <a:buChar char="•"/>
            </a:pPr>
            <a:r>
              <a:rPr lang="en-US" sz="1600" dirty="0">
                <a:solidFill>
                  <a:srgbClr val="1A1C2E"/>
                </a:solidFill>
                <a:latin typeface="Calibri" pitchFamily="34" charset="0"/>
                <a:ea typeface="Calibri" pitchFamily="34" charset="-122"/>
                <a:cs typeface="Calibri" pitchFamily="34" charset="-120"/>
              </a:rPr>
              <a:t>No es todo tan bonito como parece: hay que dedicarle tiempo</a:t>
            </a:r>
            <a:endParaRPr lang="en-US" sz="1600" dirty="0"/>
          </a:p>
        </p:txBody>
      </p:sp>
      <p:sp>
        <p:nvSpPr>
          <p:cNvPr id="8" name="Shape 6"/>
          <p:cNvSpPr/>
          <p:nvPr/>
        </p:nvSpPr>
        <p:spPr>
          <a:xfrm>
            <a:off x="777240" y="6263640"/>
            <a:ext cx="219456" cy="219456"/>
          </a:xfrm>
          <a:prstGeom prst="rect">
            <a:avLst/>
          </a:prstGeom>
          <a:solidFill>
            <a:srgbClr val="202CFC"/>
          </a:solidFill>
          <a:ln/>
        </p:spPr>
      </p:sp>
      <p:sp>
        <p:nvSpPr>
          <p:cNvPr id="9" name="Text 7"/>
          <p:cNvSpPr/>
          <p:nvPr/>
        </p:nvSpPr>
        <p:spPr>
          <a:xfrm>
            <a:off x="777240" y="6263640"/>
            <a:ext cx="219456" cy="219456"/>
          </a:xfrm>
          <a:prstGeom prst="rect">
            <a:avLst/>
          </a:prstGeom>
          <a:noFill/>
          <a:ln/>
        </p:spPr>
        <p:txBody>
          <a:bodyPr wrap="square" lIns="0" tIns="0" rIns="0" bIns="0" rtlCol="0" anchor="ctr"/>
          <a:lstStyle/>
          <a:p>
            <a:pPr algn="ctr" indent="0" marL="0">
              <a:buNone/>
            </a:pPr>
            <a:r>
              <a:rPr lang="en-US" sz="816" b="1" dirty="0">
                <a:solidFill>
                  <a:srgbClr val="FFFFFF"/>
                </a:solidFill>
                <a:latin typeface="Arial" pitchFamily="34" charset="0"/>
                <a:ea typeface="Arial" pitchFamily="34" charset="-122"/>
                <a:cs typeface="Arial" pitchFamily="34" charset="-120"/>
              </a:rPr>
              <a:t>BIG</a:t>
            </a:r>
            <a:endParaRPr lang="en-US" sz="816" dirty="0"/>
          </a:p>
        </p:txBody>
      </p:sp>
      <p:sp>
        <p:nvSpPr>
          <p:cNvPr id="10" name="Text 8"/>
          <p:cNvSpPr/>
          <p:nvPr/>
        </p:nvSpPr>
        <p:spPr>
          <a:xfrm>
            <a:off x="1078992" y="6263640"/>
            <a:ext cx="658368" cy="219456"/>
          </a:xfrm>
          <a:prstGeom prst="rect">
            <a:avLst/>
          </a:prstGeom>
          <a:noFill/>
          <a:ln/>
        </p:spPr>
        <p:txBody>
          <a:bodyPr wrap="square" lIns="0" tIns="0" rIns="0" bIns="0" rtlCol="0" anchor="ctr"/>
          <a:lstStyle/>
          <a:p>
            <a:pPr algn="l" indent="0" marL="0">
              <a:buNone/>
            </a:pPr>
            <a:r>
              <a:rPr lang="en-US" sz="816" dirty="0">
                <a:solidFill>
                  <a:srgbClr val="1A1C2E"/>
                </a:solidFill>
                <a:latin typeface="Arial" pitchFamily="34" charset="0"/>
                <a:ea typeface="Arial" pitchFamily="34" charset="-122"/>
                <a:cs typeface="Arial" pitchFamily="34" charset="-120"/>
              </a:rPr>
              <a:t>school</a:t>
            </a:r>
            <a:endParaRPr lang="en-US" sz="816" dirty="0"/>
          </a:p>
        </p:txBody>
      </p:sp>
      <p:sp>
        <p:nvSpPr>
          <p:cNvPr id="11" name="Text 9"/>
          <p:cNvSpPr/>
          <p:nvPr/>
        </p:nvSpPr>
        <p:spPr>
          <a:xfrm>
            <a:off x="11064240" y="6263640"/>
            <a:ext cx="320040" cy="219456"/>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720840" y="-91440"/>
            <a:ext cx="5760720" cy="7040880"/>
          </a:xfrm>
          <a:prstGeom prst="rect">
            <a:avLst/>
          </a:prstGeom>
          <a:solidFill>
            <a:srgbClr val="1A1C2E"/>
          </a:solidFill>
          <a:ln/>
        </p:spPr>
      </p:sp>
      <p:sp>
        <p:nvSpPr>
          <p:cNvPr id="3" name="Shape 1"/>
          <p:cNvSpPr/>
          <p:nvPr/>
        </p:nvSpPr>
        <p:spPr>
          <a:xfrm>
            <a:off x="777240" y="685800"/>
            <a:ext cx="475488" cy="475488"/>
          </a:xfrm>
          <a:prstGeom prst="rect">
            <a:avLst/>
          </a:prstGeom>
          <a:solidFill>
            <a:srgbClr val="202CFC"/>
          </a:solidFill>
          <a:ln/>
        </p:spPr>
      </p:sp>
      <p:sp>
        <p:nvSpPr>
          <p:cNvPr id="4" name="Text 2"/>
          <p:cNvSpPr/>
          <p:nvPr/>
        </p:nvSpPr>
        <p:spPr>
          <a:xfrm>
            <a:off x="777240" y="685800"/>
            <a:ext cx="475488" cy="475488"/>
          </a:xfrm>
          <a:prstGeom prst="rect">
            <a:avLst/>
          </a:prstGeom>
          <a:noFill/>
          <a:ln/>
        </p:spPr>
        <p:txBody>
          <a:bodyPr wrap="square" lIns="0" tIns="0" rIns="0" bIns="0" rtlCol="0" anchor="ctr"/>
          <a:lstStyle/>
          <a:p>
            <a:pPr algn="ctr" indent="0" marL="0">
              <a:buNone/>
            </a:pPr>
            <a:r>
              <a:rPr lang="en-US" sz="1768" b="1" dirty="0">
                <a:solidFill>
                  <a:srgbClr val="FFFFFF"/>
                </a:solidFill>
                <a:latin typeface="Arial" pitchFamily="34" charset="0"/>
                <a:ea typeface="Arial" pitchFamily="34" charset="-122"/>
                <a:cs typeface="Arial" pitchFamily="34" charset="-120"/>
              </a:rPr>
              <a:t>BIG</a:t>
            </a:r>
            <a:endParaRPr lang="en-US" sz="1768" dirty="0"/>
          </a:p>
        </p:txBody>
      </p:sp>
      <p:sp>
        <p:nvSpPr>
          <p:cNvPr id="5" name="Text 3"/>
          <p:cNvSpPr/>
          <p:nvPr/>
        </p:nvSpPr>
        <p:spPr>
          <a:xfrm>
            <a:off x="1335024" y="685800"/>
            <a:ext cx="1426464" cy="475488"/>
          </a:xfrm>
          <a:prstGeom prst="rect">
            <a:avLst/>
          </a:prstGeom>
          <a:noFill/>
          <a:ln/>
        </p:spPr>
        <p:txBody>
          <a:bodyPr wrap="square" lIns="0" tIns="0" rIns="0" bIns="0" rtlCol="0" anchor="ctr"/>
          <a:lstStyle/>
          <a:p>
            <a:pPr algn="l" indent="0" marL="0">
              <a:buNone/>
            </a:pPr>
            <a:r>
              <a:rPr lang="en-US" sz="1768" dirty="0">
                <a:solidFill>
                  <a:srgbClr val="1A1C2E"/>
                </a:solidFill>
                <a:latin typeface="Arial" pitchFamily="34" charset="0"/>
                <a:ea typeface="Arial" pitchFamily="34" charset="-122"/>
                <a:cs typeface="Arial" pitchFamily="34" charset="-120"/>
              </a:rPr>
              <a:t>school</a:t>
            </a:r>
            <a:endParaRPr lang="en-US" sz="1768" dirty="0"/>
          </a:p>
        </p:txBody>
      </p:sp>
      <p:sp>
        <p:nvSpPr>
          <p:cNvPr id="6" name="Text 4"/>
          <p:cNvSpPr/>
          <p:nvPr/>
        </p:nvSpPr>
        <p:spPr>
          <a:xfrm>
            <a:off x="777240" y="2651760"/>
            <a:ext cx="5577840" cy="914400"/>
          </a:xfrm>
          <a:prstGeom prst="rect">
            <a:avLst/>
          </a:prstGeom>
          <a:noFill/>
          <a:ln/>
        </p:spPr>
        <p:txBody>
          <a:bodyPr wrap="square" lIns="0" tIns="0" rIns="0" bIns="0" rtlCol="0" anchor="t"/>
          <a:lstStyle/>
          <a:p>
            <a:pPr indent="0" marL="0">
              <a:buNone/>
            </a:pPr>
            <a:r>
              <a:rPr lang="en-US" sz="4000" b="1" dirty="0">
                <a:solidFill>
                  <a:srgbClr val="1A1C2E"/>
                </a:solidFill>
                <a:latin typeface="Arial" pitchFamily="34" charset="0"/>
                <a:ea typeface="Arial" pitchFamily="34" charset="-122"/>
                <a:cs typeface="Arial" pitchFamily="34" charset="-120"/>
              </a:rPr>
              <a:t>Gracias por la atención</a:t>
            </a:r>
            <a:endParaRPr lang="en-US" sz="4000" dirty="0"/>
          </a:p>
        </p:txBody>
      </p:sp>
      <p:sp>
        <p:nvSpPr>
          <p:cNvPr id="7" name="Text 5"/>
          <p:cNvSpPr/>
          <p:nvPr/>
        </p:nvSpPr>
        <p:spPr>
          <a:xfrm>
            <a:off x="777240" y="5349240"/>
            <a:ext cx="5486400" cy="320040"/>
          </a:xfrm>
          <a:prstGeom prst="rect">
            <a:avLst/>
          </a:prstGeom>
          <a:noFill/>
          <a:ln/>
        </p:spPr>
        <p:txBody>
          <a:bodyPr wrap="square" lIns="0" tIns="0" rIns="0" bIns="0" rtlCol="0" anchor="ctr"/>
          <a:lstStyle/>
          <a:p>
            <a:pPr indent="0" marL="0">
              <a:buNone/>
            </a:pPr>
            <a:r>
              <a:rPr lang="en-US" sz="1500" b="1" dirty="0">
                <a:solidFill>
                  <a:srgbClr val="1A1C2E"/>
                </a:solidFill>
                <a:latin typeface="Arial" pitchFamily="34" charset="0"/>
                <a:ea typeface="Arial" pitchFamily="34" charset="-122"/>
                <a:cs typeface="Arial" pitchFamily="34" charset="-120"/>
              </a:rPr>
              <a:t>Jesús Ángel Novillo Lucas-Vaquero</a:t>
            </a:r>
            <a:endParaRPr lang="en-US" sz="1500" dirty="0"/>
          </a:p>
        </p:txBody>
      </p:sp>
      <p:sp>
        <p:nvSpPr>
          <p:cNvPr id="8" name="Text 6"/>
          <p:cNvSpPr/>
          <p:nvPr/>
        </p:nvSpPr>
        <p:spPr>
          <a:xfrm>
            <a:off x="777240" y="5687568"/>
            <a:ext cx="5669280" cy="32004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Máster en Desarrollo con IA  ·  BIG school</a:t>
            </a:r>
            <a:endParaRPr lang="en-US" sz="1200" dirty="0"/>
          </a:p>
        </p:txBody>
      </p:sp>
      <p:sp>
        <p:nvSpPr>
          <p:cNvPr id="9" name="Text 7"/>
          <p:cNvSpPr/>
          <p:nvPr/>
        </p:nvSpPr>
        <p:spPr>
          <a:xfrm>
            <a:off x="7114032" y="2148840"/>
            <a:ext cx="466344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EL INFORME DE LA SESIÓN</a:t>
            </a:r>
            <a:endParaRPr lang="en-US" sz="1000" dirty="0"/>
          </a:p>
        </p:txBody>
      </p:sp>
      <p:pic>
        <p:nvPicPr>
          <p:cNvPr id="10" name="Image 0" descr="/home/user/intelligent-automotive-diagnostics/docs/presentacion/capturas/demo/08-informe.png">    </p:cNvPr>
          <p:cNvPicPr>
            <a:picLocks noChangeAspect="1"/>
          </p:cNvPicPr>
          <p:nvPr/>
        </p:nvPicPr>
        <p:blipFill>
          <a:blip r:embed="rId1"/>
          <a:stretch>
            <a:fillRect/>
          </a:stretch>
        </p:blipFill>
        <p:spPr>
          <a:xfrm>
            <a:off x="7114032" y="2697480"/>
            <a:ext cx="4654296" cy="1746504"/>
          </a:xfrm>
          <a:prstGeom prst="rect">
            <a:avLst/>
          </a:prstGeom>
          <a:effectLst>
            <a:outerShdw sx="100000" sy="100000" kx="0" ky="0" algn="bl" rotWithShape="0" blurRad="254000" dist="63500" dir="8100000">
              <a:srgbClr val="000000">
                <a:alpha val="5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Automotive Diagnostics — TFM</dc:title>
  <dc:subject>PptxGenJS Presentation</dc:subject>
  <dc:creator>Jesús Ángel Novillo Lucas-Vaquero</dc:creator>
  <cp:lastModifiedBy>Jesús Ángel Novillo Lucas-Vaquero</cp:lastModifiedBy>
  <cp:revision>1</cp:revision>
  <dcterms:created xsi:type="dcterms:W3CDTF">2026-08-25T21:40:08Z</dcterms:created>
  <dcterms:modified xsi:type="dcterms:W3CDTF">2026-08-25T21:40:08Z</dcterms:modified>
</cp:coreProperties>
</file>