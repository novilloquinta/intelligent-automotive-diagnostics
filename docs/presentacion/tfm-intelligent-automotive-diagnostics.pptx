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recorrido es este. Empiezo por qué resuelve la herramienta, sigo por cómo funciona de cara al mecánico, luego el diseño y la implementación pieza a pieza, os enseño la aplicación funcionando, y cierro con cómo se sostiene: calidad y seguridad. Las conclusiones al final.
[~15 s · acumulado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6:05]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8:10]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Seguridad. Aquí hay dos listas de OWASP en juego, y las dos aplican: la de APIs, porque el backend es una API REST, y la general de aplicaciones web en su edición de 2025, porque la interfaz es una web. En la tabla enseño la de APIs, que es la que cubre la superficie principal; las medidas de la interfaz —el escapado de React, la política de contenido que sirve nginx, la validación con los mismos esquemas— cubren la otra, y la correspondencia completa está en el modelo de seguridad del repositorio.
No la voy a leer entera. Destaco cuatro.
La primera: cuando pides una sesión de diagnóstico que no es tuya, la API responde 404 y no 403, para no confirmar siquiera que existe.
Los límites de peticiones no son uno global, van por familia: el diagnóstico cognitivo, que es el que cuesta dinero porque llama al modelo, tiene el más estricto. Y los contadores ya no viven en memoria, así que un reinicio no los borra.
La de la configuración es la que más me importa por lo que se arregló esta semana: los contenedores publicaban sus puertos en todas las interfaces, o sea que se llegaba a la API por la IP del servidor sin pasar por el proxy, saltándose el TLS y pudiendo falsear la IP de origen. Ahora la API y la interfaz solo se publican en loopback y los emuladores no se publican en absoluto.
Y la última: todo lo que viene de fuera, la búsqueda web y los casos previos de otros talleres, llega al modelo etiquetado como material no fiable, y el system prompt le dice que eso es referencia y nunca una orden. A eso se suma que el adaptador valida el modo OBD contra una lista blanca antes de tocar el socket, con un test de invariante que falla si alguien añade un método que emita un servicio de control sobre el vehículo.
[~70 s · acumulado 19:50]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Índice</a:t>
            </a:r>
            <a:endParaRPr lang="en-US" sz="3400" dirty="0"/>
          </a:p>
        </p:txBody>
      </p:sp>
      <p:sp>
        <p:nvSpPr>
          <p:cNvPr id="3" name="Text 1"/>
          <p:cNvSpPr/>
          <p:nvPr/>
        </p:nvSpPr>
        <p:spPr>
          <a:xfrm>
            <a:off x="777240" y="201168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1</a:t>
            </a:r>
            <a:endParaRPr lang="en-US" sz="2000" dirty="0"/>
          </a:p>
        </p:txBody>
      </p:sp>
      <p:sp>
        <p:nvSpPr>
          <p:cNvPr id="4" name="Text 2"/>
          <p:cNvSpPr/>
          <p:nvPr/>
        </p:nvSpPr>
        <p:spPr>
          <a:xfrm>
            <a:off x="1554480" y="201168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Introducción</a:t>
            </a:r>
            <a:endParaRPr lang="en-US" sz="2000" dirty="0"/>
          </a:p>
        </p:txBody>
      </p:sp>
      <p:sp>
        <p:nvSpPr>
          <p:cNvPr id="5" name="Text 3"/>
          <p:cNvSpPr/>
          <p:nvPr/>
        </p:nvSpPr>
        <p:spPr>
          <a:xfrm>
            <a:off x="777240" y="257860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2</a:t>
            </a:r>
            <a:endParaRPr lang="en-US" sz="2000" dirty="0"/>
          </a:p>
        </p:txBody>
      </p:sp>
      <p:sp>
        <p:nvSpPr>
          <p:cNvPr id="6" name="Text 4"/>
          <p:cNvSpPr/>
          <p:nvPr/>
        </p:nvSpPr>
        <p:spPr>
          <a:xfrm>
            <a:off x="1554480" y="257860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Funcionamiento</a:t>
            </a:r>
            <a:endParaRPr lang="en-US" sz="2000" dirty="0"/>
          </a:p>
        </p:txBody>
      </p:sp>
      <p:sp>
        <p:nvSpPr>
          <p:cNvPr id="7" name="Text 5"/>
          <p:cNvSpPr/>
          <p:nvPr/>
        </p:nvSpPr>
        <p:spPr>
          <a:xfrm>
            <a:off x="777240" y="3145536"/>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3</a:t>
            </a:r>
            <a:endParaRPr lang="en-US" sz="2000" dirty="0"/>
          </a:p>
        </p:txBody>
      </p:sp>
      <p:sp>
        <p:nvSpPr>
          <p:cNvPr id="8" name="Text 6"/>
          <p:cNvSpPr/>
          <p:nvPr/>
        </p:nvSpPr>
        <p:spPr>
          <a:xfrm>
            <a:off x="1554480" y="3145536"/>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Diseño</a:t>
            </a:r>
            <a:endParaRPr lang="en-US" sz="2000" dirty="0"/>
          </a:p>
        </p:txBody>
      </p:sp>
      <p:sp>
        <p:nvSpPr>
          <p:cNvPr id="9" name="Text 7"/>
          <p:cNvSpPr/>
          <p:nvPr/>
        </p:nvSpPr>
        <p:spPr>
          <a:xfrm>
            <a:off x="777240" y="3712464"/>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4</a:t>
            </a:r>
            <a:endParaRPr lang="en-US" sz="2000" dirty="0"/>
          </a:p>
        </p:txBody>
      </p:sp>
      <p:sp>
        <p:nvSpPr>
          <p:cNvPr id="10" name="Text 8"/>
          <p:cNvSpPr/>
          <p:nvPr/>
        </p:nvSpPr>
        <p:spPr>
          <a:xfrm>
            <a:off x="1554480" y="3712464"/>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Implementación</a:t>
            </a:r>
            <a:endParaRPr lang="en-US" sz="2000" dirty="0"/>
          </a:p>
        </p:txBody>
      </p:sp>
      <p:sp>
        <p:nvSpPr>
          <p:cNvPr id="11" name="Text 9"/>
          <p:cNvSpPr/>
          <p:nvPr/>
        </p:nvSpPr>
        <p:spPr>
          <a:xfrm>
            <a:off x="777240" y="4279392"/>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5</a:t>
            </a:r>
            <a:endParaRPr lang="en-US" sz="2000" dirty="0"/>
          </a:p>
        </p:txBody>
      </p:sp>
      <p:sp>
        <p:nvSpPr>
          <p:cNvPr id="12" name="Text 10"/>
          <p:cNvSpPr/>
          <p:nvPr/>
        </p:nvSpPr>
        <p:spPr>
          <a:xfrm>
            <a:off x="1554480" y="4279392"/>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Resultados</a:t>
            </a:r>
            <a:endParaRPr lang="en-US" sz="2000" dirty="0"/>
          </a:p>
        </p:txBody>
      </p:sp>
      <p:sp>
        <p:nvSpPr>
          <p:cNvPr id="13" name="Text 11"/>
          <p:cNvSpPr/>
          <p:nvPr/>
        </p:nvSpPr>
        <p:spPr>
          <a:xfrm>
            <a:off x="777240" y="4846320"/>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6</a:t>
            </a:r>
            <a:endParaRPr lang="en-US" sz="2000" dirty="0"/>
          </a:p>
        </p:txBody>
      </p:sp>
      <p:sp>
        <p:nvSpPr>
          <p:cNvPr id="14" name="Text 12"/>
          <p:cNvSpPr/>
          <p:nvPr/>
        </p:nvSpPr>
        <p:spPr>
          <a:xfrm>
            <a:off x="1554480" y="4846320"/>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Calidad y seguridad</a:t>
            </a:r>
            <a:endParaRPr lang="en-US" sz="2000" dirty="0"/>
          </a:p>
        </p:txBody>
      </p:sp>
      <p:sp>
        <p:nvSpPr>
          <p:cNvPr id="15" name="Text 13"/>
          <p:cNvSpPr/>
          <p:nvPr/>
        </p:nvSpPr>
        <p:spPr>
          <a:xfrm>
            <a:off x="777240" y="5413248"/>
            <a:ext cx="548640" cy="457200"/>
          </a:xfrm>
          <a:prstGeom prst="rect">
            <a:avLst/>
          </a:prstGeom>
          <a:noFill/>
          <a:ln/>
        </p:spPr>
        <p:txBody>
          <a:bodyPr wrap="square" lIns="0" tIns="0" rIns="0" bIns="0" rtlCol="0" anchor="ctr"/>
          <a:lstStyle/>
          <a:p>
            <a:pPr indent="0" marL="0">
              <a:buNone/>
            </a:pPr>
            <a:r>
              <a:rPr lang="en-US" sz="2000" b="1" dirty="0">
                <a:solidFill>
                  <a:srgbClr val="202CFC"/>
                </a:solidFill>
                <a:latin typeface="Arial" pitchFamily="34" charset="0"/>
                <a:ea typeface="Arial" pitchFamily="34" charset="-122"/>
                <a:cs typeface="Arial" pitchFamily="34" charset="-120"/>
              </a:rPr>
              <a:t>7</a:t>
            </a:r>
            <a:endParaRPr lang="en-US" sz="2000" dirty="0"/>
          </a:p>
        </p:txBody>
      </p:sp>
      <p:sp>
        <p:nvSpPr>
          <p:cNvPr id="16" name="Text 14"/>
          <p:cNvSpPr/>
          <p:nvPr/>
        </p:nvSpPr>
        <p:spPr>
          <a:xfrm>
            <a:off x="1554480" y="5413248"/>
            <a:ext cx="9784080" cy="457200"/>
          </a:xfrm>
          <a:prstGeom prst="rect">
            <a:avLst/>
          </a:prstGeom>
          <a:noFill/>
          <a:ln/>
        </p:spPr>
        <p:txBody>
          <a:bodyPr wrap="square" lIns="0" tIns="0" rIns="0" bIns="0" rtlCol="0" anchor="ctr"/>
          <a:lstStyle/>
          <a:p>
            <a:pPr indent="0" marL="0">
              <a:buNone/>
            </a:pPr>
            <a:r>
              <a:rPr lang="en-US" sz="2000" dirty="0">
                <a:solidFill>
                  <a:srgbClr val="1A1C2E"/>
                </a:solidFill>
                <a:latin typeface="Arial" pitchFamily="34" charset="0"/>
                <a:ea typeface="Arial" pitchFamily="34" charset="-122"/>
                <a:cs typeface="Arial" pitchFamily="34" charset="-120"/>
              </a:rPr>
              <a:t>Conclusiones</a:t>
            </a:r>
            <a:endParaRPr lang="en-US" sz="20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202CFC"/>
                </a:solidFill>
                <a:latin typeface="Arial" pitchFamily="34" charset="0"/>
                <a:ea typeface="Arial" pitchFamily="34" charset="-122"/>
                <a:cs typeface="Arial" pitchFamily="34" charset="-120"/>
              </a:rPr>
              <a:t>1.1  </a:t>
            </a:r>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202CFC"/>
                </a:solidFill>
                <a:latin typeface="Arial" pitchFamily="34" charset="0"/>
                <a:ea typeface="Arial" pitchFamily="34" charset="-122"/>
                <a:cs typeface="Arial" pitchFamily="34" charset="-120"/>
              </a:rPr>
              <a:t>2.1  </a:t>
            </a:r>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2.2  </a:t>
            </a:r>
            <a:pPr indent="0" marL="0">
              <a:buNone/>
            </a:pPr>
            <a:r>
              <a:rPr lang="en-US" sz="2900" b="1" dirty="0">
                <a:solidFill>
                  <a:srgbClr val="1A1C2E"/>
                </a:solidFill>
                <a:latin typeface="Arial" pitchFamily="34" charset="0"/>
                <a:ea typeface="Arial" pitchFamily="34" charset="-122"/>
                <a:cs typeface="Arial" pitchFamily="34" charset="-120"/>
              </a:rPr>
              <a:t>Diagnóstico determinista y diagnóstico cognitivo</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3.1  </a:t>
            </a:r>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3.2  </a:t>
            </a:r>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4.1  </a:t>
            </a:r>
            <a:pPr indent="0" marL="0">
              <a:buNone/>
            </a:pPr>
            <a:r>
              <a:rPr lang="en-US" sz="2900" b="1" dirty="0">
                <a:solidFill>
                  <a:srgbClr val="1A1C2E"/>
                </a:solidFill>
                <a:latin typeface="Arial" pitchFamily="34" charset="0"/>
                <a:ea typeface="Arial" pitchFamily="34" charset="-122"/>
                <a:cs typeface="Arial" pitchFamily="34" charset="-120"/>
              </a:rPr>
              <a:t>Adquisición de datos mediante OBD-II</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4.2  </a:t>
            </a:r>
            <a:pPr indent="0" marL="0">
              <a:buNone/>
            </a:pPr>
            <a:r>
              <a:rPr lang="en-US" sz="2900" b="1" dirty="0">
                <a:solidFill>
                  <a:srgbClr val="1A1C2E"/>
                </a:solidFill>
                <a:latin typeface="Arial" pitchFamily="34" charset="0"/>
                <a:ea typeface="Arial" pitchFamily="34" charset="-122"/>
                <a:cs typeface="Arial" pitchFamily="34" charset="-120"/>
              </a:rPr>
              <a:t>Persistencia: modelo relacional y modelo vectorial</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4.3  </a:t>
            </a:r>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4.4  </a:t>
            </a:r>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4.5  </a:t>
            </a:r>
            <a:pPr indent="0" marL="0">
              <a:buNone/>
            </a:pPr>
            <a:r>
              <a:rPr lang="en-US" sz="2900" b="1" dirty="0">
                <a:solidFill>
                  <a:srgbClr val="1A1C2E"/>
                </a:solidFill>
                <a:latin typeface="Arial" pitchFamily="34" charset="0"/>
                <a:ea typeface="Arial" pitchFamily="34" charset="-122"/>
                <a:cs typeface="Arial" pitchFamily="34" charset="-120"/>
              </a:rPr>
              <a:t>Model Context Protocol: herramientas del agente</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4.6  </a:t>
            </a:r>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2900" b="1" dirty="0">
                <a:solidFill>
                  <a:srgbClr val="202CFC"/>
                </a:solidFill>
                <a:latin typeface="Arial" pitchFamily="34" charset="0"/>
                <a:ea typeface="Arial" pitchFamily="34" charset="-122"/>
                <a:cs typeface="Arial" pitchFamily="34" charset="-120"/>
              </a:rPr>
              <a:t>4.7  </a:t>
            </a:r>
            <a:pPr indent="0" marL="0">
              <a:buNone/>
            </a:pPr>
            <a:r>
              <a:rPr lang="en-US" sz="2900" b="1" dirty="0">
                <a:solidFill>
                  <a:srgbClr val="1A1C2E"/>
                </a:solidFill>
                <a:latin typeface="Arial" pitchFamily="34" charset="0"/>
                <a:ea typeface="Arial" pitchFamily="34" charset="-122"/>
                <a:cs typeface="Arial" pitchFamily="34" charset="-120"/>
              </a:rPr>
              <a:t>Modelos empleados: lenguaje y embeddings</a:t>
            </a:r>
            <a:endParaRPr lang="en-US" sz="29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4.8  </a:t>
            </a:r>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202CFC"/>
                </a:solidFill>
                <a:latin typeface="Arial" pitchFamily="34" charset="0"/>
                <a:ea typeface="Arial" pitchFamily="34" charset="-122"/>
                <a:cs typeface="Arial" pitchFamily="34" charset="-120"/>
              </a:rPr>
              <a:t>5.1  </a:t>
            </a:r>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6.1  </a:t>
            </a:r>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202CFC"/>
                </a:solidFill>
                <a:latin typeface="Arial" pitchFamily="34" charset="0"/>
                <a:ea typeface="Arial" pitchFamily="34" charset="-122"/>
                <a:cs typeface="Arial" pitchFamily="34" charset="-120"/>
              </a:rPr>
              <a:t>6.2  </a:t>
            </a:r>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6.3  </a:t>
            </a:r>
            <a:pPr indent="0" marL="0">
              <a:buNone/>
            </a:pPr>
            <a:r>
              <a:rPr lang="en-US" sz="3400" b="1" dirty="0">
                <a:solidFill>
                  <a:srgbClr val="1A1C2E"/>
                </a:solidFill>
                <a:latin typeface="Arial" pitchFamily="34" charset="0"/>
                <a:ea typeface="Arial" pitchFamily="34" charset="-122"/>
                <a:cs typeface="Arial" pitchFamily="34" charset="-120"/>
              </a:rPr>
              <a:t>Modelo de seguridad</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OWASP API Top 10 2023 en el backend y OWASP Top 10 2025 en la interfaz.</a:t>
            </a:r>
            <a:endParaRPr lang="en-US" sz="1700" dirty="0"/>
          </a:p>
        </p:txBody>
      </p:sp>
      <p:sp>
        <p:nvSpPr>
          <p:cNvPr id="4" name="Text 2"/>
          <p:cNvSpPr/>
          <p:nvPr/>
        </p:nvSpPr>
        <p:spPr>
          <a:xfrm>
            <a:off x="777240" y="208483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01</a:t>
            </a:r>
            <a:endParaRPr lang="en-US" sz="1200" dirty="0"/>
          </a:p>
        </p:txBody>
      </p:sp>
      <p:sp>
        <p:nvSpPr>
          <p:cNvPr id="5" name="Text 3"/>
          <p:cNvSpPr/>
          <p:nvPr/>
        </p:nvSpPr>
        <p:spPr>
          <a:xfrm>
            <a:off x="1371600" y="208483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02</a:t>
            </a:r>
            <a:endParaRPr lang="en-US" sz="1200" dirty="0"/>
          </a:p>
        </p:txBody>
      </p:sp>
      <p:sp>
        <p:nvSpPr>
          <p:cNvPr id="8" name="Text 6"/>
          <p:cNvSpPr/>
          <p:nvPr/>
        </p:nvSpPr>
        <p:spPr>
          <a:xfrm>
            <a:off x="1371600" y="248716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a:t>
            </a:r>
            <a:endParaRPr lang="en-US" sz="1200" dirty="0"/>
          </a:p>
        </p:txBody>
      </p:sp>
      <p:sp>
        <p:nvSpPr>
          <p:cNvPr id="10" name="Text 8"/>
          <p:cNvSpPr/>
          <p:nvPr/>
        </p:nvSpPr>
        <p:spPr>
          <a:xfrm>
            <a:off x="777240" y="288950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03</a:t>
            </a:r>
            <a:endParaRPr lang="en-US" sz="1200" dirty="0"/>
          </a:p>
        </p:txBody>
      </p:sp>
      <p:sp>
        <p:nvSpPr>
          <p:cNvPr id="11" name="Text 9"/>
          <p:cNvSpPr/>
          <p:nvPr/>
        </p:nvSpPr>
        <p:spPr>
          <a:xfrm>
            <a:off x="1371600" y="288950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04</a:t>
            </a:r>
            <a:endParaRPr lang="en-US" sz="1200" dirty="0"/>
          </a:p>
        </p:txBody>
      </p:sp>
      <p:sp>
        <p:nvSpPr>
          <p:cNvPr id="14" name="Text 12"/>
          <p:cNvSpPr/>
          <p:nvPr/>
        </p:nvSpPr>
        <p:spPr>
          <a:xfrm>
            <a:off x="1371600" y="329184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Límites por familia, con contadores persistidos</a:t>
            </a:r>
            <a:endParaRPr lang="en-US" sz="1200" dirty="0"/>
          </a:p>
        </p:txBody>
      </p:sp>
      <p:sp>
        <p:nvSpPr>
          <p:cNvPr id="16" name="Text 14"/>
          <p:cNvSpPr/>
          <p:nvPr/>
        </p:nvSpPr>
        <p:spPr>
          <a:xfrm>
            <a:off x="777240" y="369417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05</a:t>
            </a:r>
            <a:endParaRPr lang="en-US" sz="1200" dirty="0"/>
          </a:p>
        </p:txBody>
      </p:sp>
      <p:sp>
        <p:nvSpPr>
          <p:cNvPr id="17" name="Text 15"/>
          <p:cNvSpPr/>
          <p:nvPr/>
        </p:nvSpPr>
        <p:spPr>
          <a:xfrm>
            <a:off x="1371600" y="369417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Administración tras requireAdmin y segundo factor</a:t>
            </a:r>
            <a:endParaRPr lang="en-US" sz="1200" dirty="0"/>
          </a:p>
        </p:txBody>
      </p:sp>
      <p:sp>
        <p:nvSpPr>
          <p:cNvPr id="19" name="Text 17"/>
          <p:cNvSpPr/>
          <p:nvPr/>
        </p:nvSpPr>
        <p:spPr>
          <a:xfrm>
            <a:off x="777240" y="4096512"/>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06</a:t>
            </a:r>
            <a:endParaRPr lang="en-US" sz="1200" dirty="0"/>
          </a:p>
        </p:txBody>
      </p:sp>
      <p:sp>
        <p:nvSpPr>
          <p:cNvPr id="20" name="Text 18"/>
          <p:cNvSpPr/>
          <p:nvPr/>
        </p:nvSpPr>
        <p:spPr>
          <a:xfrm>
            <a:off x="1371600" y="4096512"/>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a:t>
            </a:r>
            <a:endParaRPr lang="en-US" sz="1200" dirty="0"/>
          </a:p>
        </p:txBody>
      </p:sp>
      <p:sp>
        <p:nvSpPr>
          <p:cNvPr id="22" name="Text 20"/>
          <p:cNvSpPr/>
          <p:nvPr/>
        </p:nvSpPr>
        <p:spPr>
          <a:xfrm>
            <a:off x="777240" y="4498848"/>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07</a:t>
            </a:r>
            <a:endParaRPr lang="en-US" sz="1200" dirty="0"/>
          </a:p>
        </p:txBody>
      </p:sp>
      <p:sp>
        <p:nvSpPr>
          <p:cNvPr id="23" name="Text 21"/>
          <p:cNvSpPr/>
          <p:nvPr/>
        </p:nvSpPr>
        <p:spPr>
          <a:xfrm>
            <a:off x="1371600" y="4498848"/>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Ninguna URL de salida la elige el usuario</a:t>
            </a:r>
            <a:endParaRPr lang="en-US" sz="1200" dirty="0"/>
          </a:p>
        </p:txBody>
      </p:sp>
      <p:sp>
        <p:nvSpPr>
          <p:cNvPr id="25" name="Text 23"/>
          <p:cNvSpPr/>
          <p:nvPr/>
        </p:nvSpPr>
        <p:spPr>
          <a:xfrm>
            <a:off x="777240" y="4901184"/>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08</a:t>
            </a:r>
            <a:endParaRPr lang="en-US" sz="1200" dirty="0"/>
          </a:p>
        </p:txBody>
      </p:sp>
      <p:sp>
        <p:nvSpPr>
          <p:cNvPr id="26" name="Text 24"/>
          <p:cNvSpPr/>
          <p:nvPr/>
        </p:nvSpPr>
        <p:spPr>
          <a:xfrm>
            <a:off x="1371600" y="4901184"/>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en loopback</a:t>
            </a:r>
            <a:endParaRPr lang="en-US" sz="1200" dirty="0"/>
          </a:p>
        </p:txBody>
      </p:sp>
      <p:sp>
        <p:nvSpPr>
          <p:cNvPr id="28" name="Text 26"/>
          <p:cNvSpPr/>
          <p:nvPr/>
        </p:nvSpPr>
        <p:spPr>
          <a:xfrm>
            <a:off x="777240" y="5303520"/>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09</a:t>
            </a:r>
            <a:endParaRPr lang="en-US" sz="1200" dirty="0"/>
          </a:p>
        </p:txBody>
      </p:sp>
      <p:sp>
        <p:nvSpPr>
          <p:cNvPr id="29" name="Text 27"/>
          <p:cNvSpPr/>
          <p:nvPr/>
        </p:nvSpPr>
        <p:spPr>
          <a:xfrm>
            <a:off x="1371600" y="5303520"/>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propia API</a:t>
            </a:r>
            <a:endParaRPr lang="en-US" sz="1200" dirty="0"/>
          </a:p>
        </p:txBody>
      </p:sp>
      <p:sp>
        <p:nvSpPr>
          <p:cNvPr id="31" name="Text 29"/>
          <p:cNvSpPr/>
          <p:nvPr/>
        </p:nvSpPr>
        <p:spPr>
          <a:xfrm>
            <a:off x="777240" y="5705856"/>
            <a:ext cx="502920" cy="365760"/>
          </a:xfrm>
          <a:prstGeom prst="rect">
            <a:avLst/>
          </a:prstGeom>
          <a:noFill/>
          <a:ln/>
        </p:spPr>
        <p:txBody>
          <a:bodyPr wrap="square" lIns="0" tIns="0" rIns="0" bIns="0" rtlCol="0" anchor="ctr"/>
          <a:lstStyle/>
          <a:p>
            <a:pPr indent="0" marL="0">
              <a:buNone/>
            </a:pPr>
            <a:r>
              <a:rPr lang="en-US" sz="1200" b="1" dirty="0">
                <a:solidFill>
                  <a:srgbClr val="202CFC"/>
                </a:solidFill>
                <a:latin typeface="Arial" pitchFamily="34" charset="0"/>
                <a:ea typeface="Arial" pitchFamily="34" charset="-122"/>
                <a:cs typeface="Arial" pitchFamily="34" charset="-120"/>
              </a:rPr>
              <a:t>10</a:t>
            </a:r>
            <a:endParaRPr lang="en-US" sz="1200" dirty="0"/>
          </a:p>
        </p:txBody>
      </p:sp>
      <p:sp>
        <p:nvSpPr>
          <p:cNvPr id="32" name="Text 30"/>
          <p:cNvSpPr/>
          <p:nvPr/>
        </p:nvSpPr>
        <p:spPr>
          <a:xfrm>
            <a:off x="1371600" y="5705856"/>
            <a:ext cx="411480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202CFC"/>
                </a:solidFill>
                <a:latin typeface="Arial" pitchFamily="34" charset="0"/>
                <a:ea typeface="Arial" pitchFamily="34" charset="-122"/>
                <a:cs typeface="Arial" pitchFamily="34" charset="-120"/>
              </a:rPr>
              <a:t>7.1  </a:t>
            </a:r>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2026-08-27T13:26:02Z</dcterms:created>
  <dcterms:modified xsi:type="dcterms:W3CDTF">2026-08-27T13:26:02Z</dcterms:modified>
</cp:coreProperties>
</file>