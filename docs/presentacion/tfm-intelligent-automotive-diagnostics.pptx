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recorrido es este. Empiezo por qué resuelve la herramienta, sigo por cómo funciona de cara al mecánico, luego el diseño y la implementación pieza a pieza, os enseño la aplicación funcionando, y cierro con cómo se sostiene: calidad y seguridad. Las conclusiones al final.
[~15 s · acumulado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he hablado del motor del sistema. Esto es lo que ve quien lo usa.
El recorrido del mecánico es corto a propósito: conecta el adaptador, la aplicación lee el bastidor y le dice qué coche tiene delante, y entra al diagnóstico. A partir de ahí ve la telemetría en vivo, que se refresca una vez por segundo, y las averías separadas en los tres grupos que distingue la norma: almacenadas, pendientes y permanentes. Si quiere ir más allá, pregunta al agente, y al cerrar se lleva el informe de la sesión, que queda congelado.
Por dentro es una aplicación aparte del backend, en el mismo repositorio. React 19 con TanStack Router y Query. Los formularios validan con los mismos esquemas Zod que usa la API, así que la validación del cliente y la del servidor no se pueden desincronizar.
Y no es un servidor de páginas: se compila a ficheros estáticos y los sirve nginx, que es también quien pone las cabeceras de seguridad. La API va bajo el mismo origen, así que la interfaz nunca hace una petición fuera.
[~45 s · acumulado 14:45]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Seguridad. Aquí hay dos listas de OWASP en juego, y las dos aplican: la de APIs, porque el backend es una API REST, y la general de aplicaciones web en su edición de 2025, porque la interfaz es una web. En la tabla enseño la de APIs, que es la que cubre la superficie principal; las medidas de la interfaz —el escapado de React, la política de contenido que sirve nginx, la validación con los mismos esquemas— cubren la otra, y la correspondencia completa está en el modelo de seguridad del repositorio.
No la voy a leer entera. Destaco cuatro.
La primera: cuando pides una sesión de diagnóstico que no es tuya, la API responde 404 y no 403, para no confirmar siquiera que existe.
Los límites de peticiones no son uno global, van por familia: el diagnóstico cognitivo, que es el que cuesta dinero porque llama al modelo, tiene el más estricto. Y los contadores ya no viven en memoria, así que un reinicio no los borra.
La de la configuración es la que más me importa por lo que se arregló esta semana: los contenedores publicaban sus puertos en todas las interfaces, o sea que se llegaba a la API por la IP del servidor sin pasar por el proxy, saltándose el TLS y pudiendo falsear la IP de origen. Ahora la API y la interfaz solo se publican en loopback y los emuladores no se publican en absoluto.
Y la última: todo lo que viene de fuera, la búsqueda web y los casos previos de otros talleres, llega al modelo etiquetado como material no fiable, y el system prompt le dice que eso es referencia y nunca una orden. A eso se suma que el adaptador valida el modo OBD contra una lista blanca antes de tocar el socket, con un test de invariante que falla si alguien añade un método que emita un servicio de control sobre el vehículo.
[~70 s · acumulado 19:50]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Índice</a:t>
            </a:r>
            <a:endParaRPr lang="en-US" sz="3400" dirty="0"/>
          </a:p>
        </p:txBody>
      </p:sp>
      <p:sp>
        <p:nvSpPr>
          <p:cNvPr id="3" name="Text 1"/>
          <p:cNvSpPr/>
          <p:nvPr/>
        </p:nvSpPr>
        <p:spPr>
          <a:xfrm>
            <a:off x="777240" y="2011680"/>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1</a:t>
            </a:r>
            <a:endParaRPr lang="en-US" sz="2000" dirty="0"/>
          </a:p>
        </p:txBody>
      </p:sp>
      <p:sp>
        <p:nvSpPr>
          <p:cNvPr id="4" name="Text 2"/>
          <p:cNvSpPr/>
          <p:nvPr/>
        </p:nvSpPr>
        <p:spPr>
          <a:xfrm>
            <a:off x="1554480" y="2011680"/>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Introducción</a:t>
            </a:r>
            <a:endParaRPr lang="en-US" sz="2000" dirty="0"/>
          </a:p>
        </p:txBody>
      </p:sp>
      <p:sp>
        <p:nvSpPr>
          <p:cNvPr id="5" name="Text 3"/>
          <p:cNvSpPr/>
          <p:nvPr/>
        </p:nvSpPr>
        <p:spPr>
          <a:xfrm>
            <a:off x="777240" y="2578608"/>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2</a:t>
            </a:r>
            <a:endParaRPr lang="en-US" sz="2000" dirty="0"/>
          </a:p>
        </p:txBody>
      </p:sp>
      <p:sp>
        <p:nvSpPr>
          <p:cNvPr id="6" name="Text 4"/>
          <p:cNvSpPr/>
          <p:nvPr/>
        </p:nvSpPr>
        <p:spPr>
          <a:xfrm>
            <a:off x="1554480" y="2578608"/>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Funcionamiento</a:t>
            </a:r>
            <a:endParaRPr lang="en-US" sz="2000" dirty="0"/>
          </a:p>
        </p:txBody>
      </p:sp>
      <p:sp>
        <p:nvSpPr>
          <p:cNvPr id="7" name="Text 5"/>
          <p:cNvSpPr/>
          <p:nvPr/>
        </p:nvSpPr>
        <p:spPr>
          <a:xfrm>
            <a:off x="777240" y="3145536"/>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3</a:t>
            </a:r>
            <a:endParaRPr lang="en-US" sz="2000" dirty="0"/>
          </a:p>
        </p:txBody>
      </p:sp>
      <p:sp>
        <p:nvSpPr>
          <p:cNvPr id="8" name="Text 6"/>
          <p:cNvSpPr/>
          <p:nvPr/>
        </p:nvSpPr>
        <p:spPr>
          <a:xfrm>
            <a:off x="1554480" y="3145536"/>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Diseño</a:t>
            </a:r>
            <a:endParaRPr lang="en-US" sz="2000" dirty="0"/>
          </a:p>
        </p:txBody>
      </p:sp>
      <p:sp>
        <p:nvSpPr>
          <p:cNvPr id="9" name="Text 7"/>
          <p:cNvSpPr/>
          <p:nvPr/>
        </p:nvSpPr>
        <p:spPr>
          <a:xfrm>
            <a:off x="777240" y="3712464"/>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4</a:t>
            </a:r>
            <a:endParaRPr lang="en-US" sz="2000" dirty="0"/>
          </a:p>
        </p:txBody>
      </p:sp>
      <p:sp>
        <p:nvSpPr>
          <p:cNvPr id="10" name="Text 8"/>
          <p:cNvSpPr/>
          <p:nvPr/>
        </p:nvSpPr>
        <p:spPr>
          <a:xfrm>
            <a:off x="1554480" y="3712464"/>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Implementación</a:t>
            </a:r>
            <a:endParaRPr lang="en-US" sz="2000" dirty="0"/>
          </a:p>
        </p:txBody>
      </p:sp>
      <p:sp>
        <p:nvSpPr>
          <p:cNvPr id="11" name="Text 9"/>
          <p:cNvSpPr/>
          <p:nvPr/>
        </p:nvSpPr>
        <p:spPr>
          <a:xfrm>
            <a:off x="777240" y="4279392"/>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5</a:t>
            </a:r>
            <a:endParaRPr lang="en-US" sz="2000" dirty="0"/>
          </a:p>
        </p:txBody>
      </p:sp>
      <p:sp>
        <p:nvSpPr>
          <p:cNvPr id="12" name="Text 10"/>
          <p:cNvSpPr/>
          <p:nvPr/>
        </p:nvSpPr>
        <p:spPr>
          <a:xfrm>
            <a:off x="1554480" y="4279392"/>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Resultados</a:t>
            </a:r>
            <a:endParaRPr lang="en-US" sz="2000" dirty="0"/>
          </a:p>
        </p:txBody>
      </p:sp>
      <p:sp>
        <p:nvSpPr>
          <p:cNvPr id="13" name="Text 11"/>
          <p:cNvSpPr/>
          <p:nvPr/>
        </p:nvSpPr>
        <p:spPr>
          <a:xfrm>
            <a:off x="777240" y="4846320"/>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6</a:t>
            </a:r>
            <a:endParaRPr lang="en-US" sz="2000" dirty="0"/>
          </a:p>
        </p:txBody>
      </p:sp>
      <p:sp>
        <p:nvSpPr>
          <p:cNvPr id="14" name="Text 12"/>
          <p:cNvSpPr/>
          <p:nvPr/>
        </p:nvSpPr>
        <p:spPr>
          <a:xfrm>
            <a:off x="1554480" y="4846320"/>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Calidad y seguridad</a:t>
            </a:r>
            <a:endParaRPr lang="en-US" sz="2000" dirty="0"/>
          </a:p>
        </p:txBody>
      </p:sp>
      <p:sp>
        <p:nvSpPr>
          <p:cNvPr id="15" name="Text 13"/>
          <p:cNvSpPr/>
          <p:nvPr/>
        </p:nvSpPr>
        <p:spPr>
          <a:xfrm>
            <a:off x="777240" y="5413248"/>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7</a:t>
            </a:r>
            <a:endParaRPr lang="en-US" sz="2000" dirty="0"/>
          </a:p>
        </p:txBody>
      </p:sp>
      <p:sp>
        <p:nvSpPr>
          <p:cNvPr id="16" name="Text 14"/>
          <p:cNvSpPr/>
          <p:nvPr/>
        </p:nvSpPr>
        <p:spPr>
          <a:xfrm>
            <a:off x="1554480" y="5413248"/>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Conclusiones</a:t>
            </a:r>
            <a:endParaRPr lang="en-US" sz="20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29184"/>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1  Introducción</a:t>
            </a:r>
            <a:endParaRPr lang="en-US" sz="3400" dirty="0"/>
          </a:p>
        </p:txBody>
      </p:sp>
      <p:sp>
        <p:nvSpPr>
          <p:cNvPr id="3" name="Text 1"/>
          <p:cNvSpPr/>
          <p:nvPr/>
        </p:nvSpPr>
        <p:spPr>
          <a:xfrm>
            <a:off x="777240" y="1097280"/>
            <a:ext cx="10607040" cy="329184"/>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1.1  </a:t>
            </a:r>
            <a:pPr indent="0" marL="0">
              <a:buNone/>
            </a:pPr>
            <a:r>
              <a:rPr lang="en-US" sz="2600" b="1" dirty="0">
                <a:solidFill>
                  <a:srgbClr val="1A1C2E"/>
                </a:solidFill>
                <a:latin typeface="Arial" pitchFamily="34" charset="0"/>
                <a:ea typeface="Arial" pitchFamily="34" charset="-122"/>
                <a:cs typeface="Arial" pitchFamily="34" charset="-120"/>
              </a:rPr>
              <a:t>Diagnóstico de averías de vehículos asistido por IA</a:t>
            </a:r>
            <a:endParaRPr lang="en-US" sz="2600" dirty="0"/>
          </a:p>
        </p:txBody>
      </p:sp>
      <p:sp>
        <p:nvSpPr>
          <p:cNvPr id="4" name="Text 2"/>
          <p:cNvSpPr/>
          <p:nvPr/>
        </p:nvSpPr>
        <p:spPr>
          <a:xfrm>
            <a:off x="777240" y="155448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500" dirty="0"/>
          </a:p>
        </p:txBody>
      </p:sp>
      <p:sp>
        <p:nvSpPr>
          <p:cNvPr id="5" name="Text 3"/>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6" name="Text 4"/>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7" name="Text 5"/>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8" name="Text 6"/>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9" name="Text 7"/>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10" name="Text 8"/>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1" name="Text 9"/>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2" name="Text 10"/>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3" name="Text 11"/>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4" name="Text 12"/>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09728"/>
            <a:ext cx="10607040" cy="5943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2  Funcionamiento</a:t>
            </a:r>
            <a:endParaRPr lang="en-US" sz="3400" dirty="0"/>
          </a:p>
        </p:txBody>
      </p:sp>
      <p:sp>
        <p:nvSpPr>
          <p:cNvPr id="3" name="Text 1"/>
          <p:cNvSpPr/>
          <p:nvPr/>
        </p:nvSpPr>
        <p:spPr>
          <a:xfrm>
            <a:off x="777240" y="621792"/>
            <a:ext cx="10607040" cy="329184"/>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2.1  </a:t>
            </a:r>
            <a:pPr indent="0" marL="0">
              <a:buNone/>
            </a:pPr>
            <a:r>
              <a:rPr lang="en-US" sz="2600" b="1" dirty="0">
                <a:solidFill>
                  <a:srgbClr val="1A1C2E"/>
                </a:solidFill>
                <a:latin typeface="Arial" pitchFamily="34" charset="0"/>
                <a:ea typeface="Arial" pitchFamily="34" charset="-122"/>
                <a:cs typeface="Arial" pitchFamily="34" charset="-120"/>
              </a:rPr>
              <a:t>Flujo de trabajo</a:t>
            </a:r>
            <a:endParaRPr lang="en-US" sz="2600" dirty="0"/>
          </a:p>
        </p:txBody>
      </p:sp>
      <p:sp>
        <p:nvSpPr>
          <p:cNvPr id="4" name="Text 2"/>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5" name="Shape 3"/>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6" name="Text 4"/>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7" name="Shape 5"/>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8" name="Text 6"/>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9" name="Shape 7"/>
          <p:cNvSpPr/>
          <p:nvPr/>
        </p:nvSpPr>
        <p:spPr>
          <a:xfrm>
            <a:off x="2971800" y="2029968"/>
            <a:ext cx="0" cy="146304"/>
          </a:xfrm>
          <a:prstGeom prst="line">
            <a:avLst/>
          </a:prstGeom>
          <a:noFill/>
          <a:ln w="15875">
            <a:solidFill>
              <a:srgbClr val="202CFC"/>
            </a:solidFill>
            <a:prstDash val="solid"/>
            <a:tailEnd type="triangle"/>
          </a:ln>
        </p:spPr>
      </p:sp>
      <p:sp>
        <p:nvSpPr>
          <p:cNvPr id="10" name="Shape 8"/>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1" name="Text 9"/>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2" name="Shape 10"/>
          <p:cNvSpPr/>
          <p:nvPr/>
        </p:nvSpPr>
        <p:spPr>
          <a:xfrm>
            <a:off x="2971800" y="2633472"/>
            <a:ext cx="0" cy="146304"/>
          </a:xfrm>
          <a:prstGeom prst="line">
            <a:avLst/>
          </a:prstGeom>
          <a:noFill/>
          <a:ln w="15875">
            <a:solidFill>
              <a:srgbClr val="202CFC"/>
            </a:solidFill>
            <a:prstDash val="solid"/>
            <a:tailEnd type="triangle"/>
          </a:ln>
        </p:spPr>
      </p:sp>
      <p:sp>
        <p:nvSpPr>
          <p:cNvPr id="13" name="Shape 11"/>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4" name="Text 12"/>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5" name="Shape 13"/>
          <p:cNvSpPr/>
          <p:nvPr/>
        </p:nvSpPr>
        <p:spPr>
          <a:xfrm>
            <a:off x="2971800" y="3236976"/>
            <a:ext cx="0" cy="146304"/>
          </a:xfrm>
          <a:prstGeom prst="line">
            <a:avLst/>
          </a:prstGeom>
          <a:noFill/>
          <a:ln w="15875">
            <a:solidFill>
              <a:srgbClr val="202CFC"/>
            </a:solidFill>
            <a:prstDash val="solid"/>
            <a:tailEnd type="triangle"/>
          </a:ln>
        </p:spPr>
      </p:sp>
      <p:sp>
        <p:nvSpPr>
          <p:cNvPr id="16" name="Shape 14"/>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7" name="Text 15"/>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8" name="Shape 16"/>
          <p:cNvSpPr/>
          <p:nvPr/>
        </p:nvSpPr>
        <p:spPr>
          <a:xfrm>
            <a:off x="2971800" y="3840480"/>
            <a:ext cx="0" cy="146304"/>
          </a:xfrm>
          <a:prstGeom prst="line">
            <a:avLst/>
          </a:prstGeom>
          <a:noFill/>
          <a:ln w="15875">
            <a:solidFill>
              <a:srgbClr val="202CFC"/>
            </a:solidFill>
            <a:prstDash val="solid"/>
            <a:tailEnd type="triangle"/>
          </a:ln>
        </p:spPr>
      </p:sp>
      <p:sp>
        <p:nvSpPr>
          <p:cNvPr id="19" name="Shape 17"/>
          <p:cNvSpPr/>
          <p:nvPr/>
        </p:nvSpPr>
        <p:spPr>
          <a:xfrm>
            <a:off x="2971800" y="4443984"/>
            <a:ext cx="0" cy="146304"/>
          </a:xfrm>
          <a:prstGeom prst="line">
            <a:avLst/>
          </a:prstGeom>
          <a:noFill/>
          <a:ln w="15875">
            <a:solidFill>
              <a:srgbClr val="202CFC"/>
            </a:solidFill>
            <a:prstDash val="solid"/>
            <a:tailEnd type="triangle"/>
          </a:ln>
        </p:spPr>
      </p:sp>
      <p:sp>
        <p:nvSpPr>
          <p:cNvPr id="20" name="Shape 18"/>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1" name="Text 19"/>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2" name="Shape 20"/>
          <p:cNvSpPr/>
          <p:nvPr/>
        </p:nvSpPr>
        <p:spPr>
          <a:xfrm>
            <a:off x="2971800" y="5303520"/>
            <a:ext cx="0" cy="256032"/>
          </a:xfrm>
          <a:prstGeom prst="line">
            <a:avLst/>
          </a:prstGeom>
          <a:noFill/>
          <a:ln w="15875">
            <a:solidFill>
              <a:srgbClr val="202CFC"/>
            </a:solidFill>
            <a:prstDash val="solid"/>
            <a:tailEnd type="triangle"/>
          </a:ln>
        </p:spPr>
      </p:sp>
      <p:sp>
        <p:nvSpPr>
          <p:cNvPr id="23" name="Shape 21"/>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4" name="Text 22"/>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5" name="Text 23"/>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6" name="Shape 24"/>
          <p:cNvSpPr/>
          <p:nvPr/>
        </p:nvSpPr>
        <p:spPr>
          <a:xfrm>
            <a:off x="4572000" y="4946904"/>
            <a:ext cx="1554480" cy="0"/>
          </a:xfrm>
          <a:prstGeom prst="line">
            <a:avLst/>
          </a:prstGeom>
          <a:noFill/>
          <a:ln w="15875">
            <a:solidFill>
              <a:srgbClr val="202CFC"/>
            </a:solidFill>
            <a:prstDash val="solid"/>
          </a:ln>
        </p:spPr>
      </p:sp>
      <p:sp>
        <p:nvSpPr>
          <p:cNvPr id="27" name="Shape 25"/>
          <p:cNvSpPr/>
          <p:nvPr/>
        </p:nvSpPr>
        <p:spPr>
          <a:xfrm>
            <a:off x="6126480" y="1801368"/>
            <a:ext cx="0" cy="3145536"/>
          </a:xfrm>
          <a:prstGeom prst="line">
            <a:avLst/>
          </a:prstGeom>
          <a:noFill/>
          <a:ln w="15875">
            <a:solidFill>
              <a:srgbClr val="202CFC"/>
            </a:solidFill>
            <a:prstDash val="solid"/>
          </a:ln>
        </p:spPr>
      </p:sp>
      <p:sp>
        <p:nvSpPr>
          <p:cNvPr id="28" name="Shape 26"/>
          <p:cNvSpPr/>
          <p:nvPr/>
        </p:nvSpPr>
        <p:spPr>
          <a:xfrm>
            <a:off x="6126480" y="1801368"/>
            <a:ext cx="960120" cy="0"/>
          </a:xfrm>
          <a:prstGeom prst="line">
            <a:avLst/>
          </a:prstGeom>
          <a:noFill/>
          <a:ln w="15875">
            <a:solidFill>
              <a:srgbClr val="202CFC"/>
            </a:solidFill>
            <a:prstDash val="solid"/>
            <a:tailEnd type="triangle"/>
          </a:ln>
        </p:spPr>
      </p:sp>
      <p:sp>
        <p:nvSpPr>
          <p:cNvPr id="29" name="Text 27"/>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30" name="Shape 28"/>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1" name="Text 29"/>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2" name="Shape 30"/>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3" name="Text 31"/>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4" name="Shape 32"/>
          <p:cNvSpPr/>
          <p:nvPr/>
        </p:nvSpPr>
        <p:spPr>
          <a:xfrm>
            <a:off x="9189720" y="2029968"/>
            <a:ext cx="0" cy="146304"/>
          </a:xfrm>
          <a:prstGeom prst="line">
            <a:avLst/>
          </a:prstGeom>
          <a:noFill/>
          <a:ln w="15875">
            <a:solidFill>
              <a:srgbClr val="202CFC"/>
            </a:solidFill>
            <a:prstDash val="solid"/>
            <a:tailEnd type="triangle"/>
          </a:ln>
        </p:spPr>
      </p:sp>
      <p:sp>
        <p:nvSpPr>
          <p:cNvPr id="35" name="Shape 33"/>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6" name="Text 34"/>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7" name="Shape 35"/>
          <p:cNvSpPr/>
          <p:nvPr/>
        </p:nvSpPr>
        <p:spPr>
          <a:xfrm>
            <a:off x="9189720" y="2633472"/>
            <a:ext cx="0" cy="146304"/>
          </a:xfrm>
          <a:prstGeom prst="line">
            <a:avLst/>
          </a:prstGeom>
          <a:noFill/>
          <a:ln w="15875">
            <a:solidFill>
              <a:srgbClr val="202CFC"/>
            </a:solidFill>
            <a:prstDash val="solid"/>
            <a:tailEnd type="triangle"/>
          </a:ln>
        </p:spPr>
      </p:sp>
      <p:sp>
        <p:nvSpPr>
          <p:cNvPr id="38" name="Shape 36"/>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9" name="Text 37"/>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40" name="Shape 38"/>
          <p:cNvSpPr/>
          <p:nvPr/>
        </p:nvSpPr>
        <p:spPr>
          <a:xfrm>
            <a:off x="9189720" y="3236976"/>
            <a:ext cx="0" cy="146304"/>
          </a:xfrm>
          <a:prstGeom prst="line">
            <a:avLst/>
          </a:prstGeom>
          <a:noFill/>
          <a:ln w="15875">
            <a:solidFill>
              <a:srgbClr val="202CFC"/>
            </a:solidFill>
            <a:prstDash val="solid"/>
            <a:tailEnd type="triangle"/>
          </a:ln>
        </p:spPr>
      </p:sp>
      <p:sp>
        <p:nvSpPr>
          <p:cNvPr id="41" name="Shape 39"/>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2" name="Text 40"/>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3" name="Shape 41"/>
          <p:cNvSpPr/>
          <p:nvPr/>
        </p:nvSpPr>
        <p:spPr>
          <a:xfrm>
            <a:off x="9189720" y="3840480"/>
            <a:ext cx="0" cy="146304"/>
          </a:xfrm>
          <a:prstGeom prst="line">
            <a:avLst/>
          </a:prstGeom>
          <a:noFill/>
          <a:ln w="15875">
            <a:solidFill>
              <a:srgbClr val="202CFC"/>
            </a:solidFill>
            <a:prstDash val="solid"/>
            <a:tailEnd type="triangle"/>
          </a:ln>
        </p:spPr>
      </p:sp>
      <p:sp>
        <p:nvSpPr>
          <p:cNvPr id="44" name="Shape 42"/>
          <p:cNvSpPr/>
          <p:nvPr/>
        </p:nvSpPr>
        <p:spPr>
          <a:xfrm>
            <a:off x="777240" y="6263640"/>
            <a:ext cx="219456" cy="219456"/>
          </a:xfrm>
          <a:prstGeom prst="rect">
            <a:avLst/>
          </a:prstGeom>
          <a:solidFill>
            <a:srgbClr val="202CFC"/>
          </a:solidFill>
          <a:ln/>
        </p:spPr>
      </p:sp>
      <p:sp>
        <p:nvSpPr>
          <p:cNvPr id="45" name="Text 4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6" name="Text 4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7" name="Text 4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2.2  </a:t>
            </a:r>
            <a:pPr indent="0" marL="0">
              <a:buNone/>
            </a:pPr>
            <a:r>
              <a:rPr lang="en-US" sz="2600" b="1" dirty="0">
                <a:solidFill>
                  <a:srgbClr val="1A1C2E"/>
                </a:solidFill>
                <a:latin typeface="Arial" pitchFamily="34" charset="0"/>
                <a:ea typeface="Arial" pitchFamily="34" charset="-122"/>
                <a:cs typeface="Arial" pitchFamily="34" charset="-120"/>
              </a:rPr>
              <a:t>Diagnóstico determinista y diagnóstico cognitivo</a:t>
            </a:r>
            <a:endParaRPr lang="en-US" sz="26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5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37744"/>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3  Diseño</a:t>
            </a:r>
            <a:endParaRPr lang="en-US" sz="3400" dirty="0"/>
          </a:p>
        </p:txBody>
      </p:sp>
      <p:sp>
        <p:nvSpPr>
          <p:cNvPr id="3" name="Text 1"/>
          <p:cNvSpPr/>
          <p:nvPr/>
        </p:nvSpPr>
        <p:spPr>
          <a:xfrm>
            <a:off x="777240" y="914400"/>
            <a:ext cx="10607040" cy="329184"/>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3.1  </a:t>
            </a:r>
            <a:pPr indent="0" marL="0">
              <a:buNone/>
            </a:pPr>
            <a:r>
              <a:rPr lang="en-US" sz="2600" b="1" dirty="0">
                <a:solidFill>
                  <a:srgbClr val="1A1C2E"/>
                </a:solidFill>
                <a:latin typeface="Arial" pitchFamily="34" charset="0"/>
                <a:ea typeface="Arial" pitchFamily="34" charset="-122"/>
                <a:cs typeface="Arial" pitchFamily="34" charset="-120"/>
              </a:rPr>
              <a:t>Tecnologías utilizadas</a:t>
            </a:r>
            <a:endParaRPr lang="en-US" sz="2600" dirty="0"/>
          </a:p>
        </p:txBody>
      </p:sp>
      <p:sp>
        <p:nvSpPr>
          <p:cNvPr id="4" name="Text 2"/>
          <p:cNvSpPr/>
          <p:nvPr/>
        </p:nvSpPr>
        <p:spPr>
          <a:xfrm>
            <a:off x="777240" y="137160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500" dirty="0"/>
          </a:p>
        </p:txBody>
      </p:sp>
      <p:sp>
        <p:nvSpPr>
          <p:cNvPr id="5" name="Text 3"/>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6" name="Text 4"/>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7" name="Text 5"/>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8" name="Text 6"/>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9" name="Text 7"/>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10" name="Text 8"/>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1" name="Text 9"/>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2" name="Text 10"/>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3" name="Text 11"/>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4" name="Text 12"/>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5" name="Text 13"/>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6" name="Text 14"/>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7" name="Text 15"/>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8" name="Text 16"/>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9" name="Text 17"/>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20" name="Text 18"/>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1" name="Text 19"/>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2" name="Text 20"/>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3.2  </a:t>
            </a:r>
            <a:pPr indent="0" marL="0">
              <a:buNone/>
            </a:pPr>
            <a:r>
              <a:rPr lang="en-US" sz="2600" b="1" dirty="0">
                <a:solidFill>
                  <a:srgbClr val="1A1C2E"/>
                </a:solidFill>
                <a:latin typeface="Arial" pitchFamily="34" charset="0"/>
                <a:ea typeface="Arial" pitchFamily="34" charset="-122"/>
                <a:cs typeface="Arial" pitchFamily="34" charset="-120"/>
              </a:rPr>
              <a:t>Clean Architecture + Hexagonal</a:t>
            </a:r>
            <a:endParaRPr lang="en-US" sz="26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5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29184"/>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4  Implementación</a:t>
            </a:r>
            <a:endParaRPr lang="en-US" sz="3400" dirty="0"/>
          </a:p>
        </p:txBody>
      </p:sp>
      <p:sp>
        <p:nvSpPr>
          <p:cNvPr id="3" name="Text 1"/>
          <p:cNvSpPr/>
          <p:nvPr/>
        </p:nvSpPr>
        <p:spPr>
          <a:xfrm>
            <a:off x="777240" y="1051560"/>
            <a:ext cx="10607040" cy="329184"/>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4.1  </a:t>
            </a:r>
            <a:pPr indent="0" marL="0">
              <a:buNone/>
            </a:pPr>
            <a:r>
              <a:rPr lang="en-US" sz="2600" b="1" dirty="0">
                <a:solidFill>
                  <a:srgbClr val="1A1C2E"/>
                </a:solidFill>
                <a:latin typeface="Arial" pitchFamily="34" charset="0"/>
                <a:ea typeface="Arial" pitchFamily="34" charset="-122"/>
                <a:cs typeface="Arial" pitchFamily="34" charset="-120"/>
              </a:rPr>
              <a:t>Adquisición de datos mediante OBD-II</a:t>
            </a:r>
            <a:endParaRPr lang="en-US" sz="2600" dirty="0"/>
          </a:p>
        </p:txBody>
      </p:sp>
      <p:sp>
        <p:nvSpPr>
          <p:cNvPr id="4" name="Text 2"/>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Ejemplo: lectura del régimen de giro del motor.</a:t>
            </a:r>
            <a:endParaRPr lang="en-US" sz="1500" dirty="0"/>
          </a:p>
        </p:txBody>
      </p:sp>
      <p:sp>
        <p:nvSpPr>
          <p:cNvPr id="5" name="Shape 3"/>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6" name="Text 4"/>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7" name="Shape 5"/>
          <p:cNvSpPr/>
          <p:nvPr/>
        </p:nvSpPr>
        <p:spPr>
          <a:xfrm>
            <a:off x="3081528" y="2857500"/>
            <a:ext cx="374904" cy="0"/>
          </a:xfrm>
          <a:prstGeom prst="line">
            <a:avLst/>
          </a:prstGeom>
          <a:noFill/>
          <a:ln w="19050">
            <a:solidFill>
              <a:srgbClr val="202CFC"/>
            </a:solidFill>
            <a:prstDash val="solid"/>
            <a:tailEnd type="triangle"/>
          </a:ln>
        </p:spPr>
      </p:sp>
      <p:sp>
        <p:nvSpPr>
          <p:cNvPr id="8" name="Shape 6"/>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9" name="Text 7"/>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10" name="Shape 8"/>
          <p:cNvSpPr/>
          <p:nvPr/>
        </p:nvSpPr>
        <p:spPr>
          <a:xfrm>
            <a:off x="5870448" y="2857500"/>
            <a:ext cx="374904" cy="0"/>
          </a:xfrm>
          <a:prstGeom prst="line">
            <a:avLst/>
          </a:prstGeom>
          <a:noFill/>
          <a:ln w="19050">
            <a:solidFill>
              <a:srgbClr val="202CFC"/>
            </a:solidFill>
            <a:prstDash val="solid"/>
            <a:tailEnd type="triangle"/>
          </a:ln>
        </p:spPr>
      </p:sp>
      <p:sp>
        <p:nvSpPr>
          <p:cNvPr id="11" name="Shape 9"/>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2" name="Text 10"/>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3" name="Shape 11"/>
          <p:cNvSpPr/>
          <p:nvPr/>
        </p:nvSpPr>
        <p:spPr>
          <a:xfrm>
            <a:off x="8659368" y="2857500"/>
            <a:ext cx="374904" cy="0"/>
          </a:xfrm>
          <a:prstGeom prst="line">
            <a:avLst/>
          </a:prstGeom>
          <a:noFill/>
          <a:ln w="19050">
            <a:solidFill>
              <a:srgbClr val="202CFC"/>
            </a:solidFill>
            <a:prstDash val="solid"/>
            <a:tailEnd type="triangle"/>
          </a:ln>
        </p:spPr>
      </p:sp>
      <p:sp>
        <p:nvSpPr>
          <p:cNvPr id="14" name="Shape 12"/>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5" name="Text 13"/>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6" name="Text 14"/>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7" name="Text 15"/>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8" name="Text 16"/>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9" name="Text 17"/>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20" name="Text 18"/>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1" name="Text 19"/>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2" name="Text 20"/>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4.2  </a:t>
            </a:r>
            <a:pPr indent="0" marL="0">
              <a:buNone/>
            </a:pPr>
            <a:r>
              <a:rPr lang="en-US" sz="2600" b="1" dirty="0">
                <a:solidFill>
                  <a:srgbClr val="1A1C2E"/>
                </a:solidFill>
                <a:latin typeface="Arial" pitchFamily="34" charset="0"/>
                <a:ea typeface="Arial" pitchFamily="34" charset="-122"/>
                <a:cs typeface="Arial" pitchFamily="34" charset="-120"/>
              </a:rPr>
              <a:t>Persistencia: modelo relacional y modelo vectorial</a:t>
            </a:r>
            <a:endParaRPr lang="en-US" sz="26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5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4.3  </a:t>
            </a:r>
            <a:pPr indent="0" marL="0">
              <a:buNone/>
            </a:pPr>
            <a:r>
              <a:rPr lang="en-US" sz="2600" b="1" dirty="0">
                <a:solidFill>
                  <a:srgbClr val="1A1C2E"/>
                </a:solidFill>
                <a:latin typeface="Arial" pitchFamily="34" charset="0"/>
                <a:ea typeface="Arial" pitchFamily="34" charset="-122"/>
                <a:cs typeface="Arial" pitchFamily="34" charset="-120"/>
              </a:rPr>
              <a:t>Base de datos relacional</a:t>
            </a:r>
            <a:endParaRPr lang="en-US" sz="26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5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4.4  </a:t>
            </a:r>
            <a:pPr indent="0" marL="0">
              <a:buNone/>
            </a:pPr>
            <a:r>
              <a:rPr lang="en-US" sz="2600" b="1" dirty="0">
                <a:solidFill>
                  <a:srgbClr val="1A1C2E"/>
                </a:solidFill>
                <a:latin typeface="Arial" pitchFamily="34" charset="0"/>
                <a:ea typeface="Arial" pitchFamily="34" charset="-122"/>
                <a:cs typeface="Arial" pitchFamily="34" charset="-120"/>
              </a:rPr>
              <a:t>Base de datos vectorial e índice de confianza</a:t>
            </a:r>
            <a:endParaRPr lang="en-US" sz="26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5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4.5  </a:t>
            </a:r>
            <a:pPr indent="0" marL="0">
              <a:buNone/>
            </a:pPr>
            <a:r>
              <a:rPr lang="en-US" sz="2600" b="1" dirty="0">
                <a:solidFill>
                  <a:srgbClr val="1A1C2E"/>
                </a:solidFill>
                <a:latin typeface="Arial" pitchFamily="34" charset="0"/>
                <a:ea typeface="Arial" pitchFamily="34" charset="-122"/>
                <a:cs typeface="Arial" pitchFamily="34" charset="-120"/>
              </a:rPr>
              <a:t>Model Context Protocol: herramientas del agente</a:t>
            </a:r>
            <a:endParaRPr lang="en-US" sz="26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5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4.6  </a:t>
            </a:r>
            <a:pPr indent="0" marL="0">
              <a:buNone/>
            </a:pPr>
            <a:r>
              <a:rPr lang="en-US" sz="2600" b="1" dirty="0">
                <a:solidFill>
                  <a:srgbClr val="1A1C2E"/>
                </a:solidFill>
                <a:latin typeface="Arial" pitchFamily="34" charset="0"/>
                <a:ea typeface="Arial" pitchFamily="34" charset="-122"/>
                <a:cs typeface="Arial" pitchFamily="34" charset="-120"/>
              </a:rPr>
              <a:t>Ciclo de razonamiento del agente</a:t>
            </a:r>
            <a:endParaRPr lang="en-US" sz="26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5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4.7  </a:t>
            </a:r>
            <a:pPr indent="0" marL="0">
              <a:buNone/>
            </a:pPr>
            <a:r>
              <a:rPr lang="en-US" sz="2600" b="1" dirty="0">
                <a:solidFill>
                  <a:srgbClr val="1A1C2E"/>
                </a:solidFill>
                <a:latin typeface="Arial" pitchFamily="34" charset="0"/>
                <a:ea typeface="Arial" pitchFamily="34" charset="-122"/>
                <a:cs typeface="Arial" pitchFamily="34" charset="-120"/>
              </a:rPr>
              <a:t>Modelos empleados: lenguaje y embeddings</a:t>
            </a:r>
            <a:endParaRPr lang="en-US" sz="26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5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4.8  </a:t>
            </a:r>
            <a:pPr indent="0" marL="0">
              <a:buNone/>
            </a:pPr>
            <a:r>
              <a:rPr lang="en-US" sz="2600" b="1" dirty="0">
                <a:solidFill>
                  <a:srgbClr val="1A1C2E"/>
                </a:solidFill>
                <a:latin typeface="Arial" pitchFamily="34" charset="0"/>
                <a:ea typeface="Arial" pitchFamily="34" charset="-122"/>
                <a:cs typeface="Arial" pitchFamily="34" charset="-120"/>
              </a:rPr>
              <a:t>La interfaz del mecánico</a:t>
            </a:r>
            <a:endParaRPr lang="en-US" sz="26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Una aplicación de página única: el servidor entrega datos, nunca pantallas.</a:t>
            </a:r>
            <a:endParaRPr lang="en-US" sz="15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hace el mecánico</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Identifica el vehículo por su VIN y entra al diagnóstico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Sigue la telemetría en vivo, que se refresca cada segundo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Consulta las averías almacenadas, pendientes y permanentes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Pregunta al agente y se lleva el informe de la sesión</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está construida</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19 con TanStack Router y Query</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 los formularios con los mismos esquemas que la API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compila a ficheros estáticos, que sirve nginx</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Consume la API por el mismo origen: nunca sale fuera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92024"/>
            <a:ext cx="10607040" cy="68580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5  Resultados</a:t>
            </a:r>
            <a:endParaRPr lang="en-US" sz="3400" dirty="0"/>
          </a:p>
        </p:txBody>
      </p:sp>
      <p:sp>
        <p:nvSpPr>
          <p:cNvPr id="3" name="Text 1"/>
          <p:cNvSpPr/>
          <p:nvPr/>
        </p:nvSpPr>
        <p:spPr>
          <a:xfrm>
            <a:off x="777240" y="804672"/>
            <a:ext cx="10607040" cy="329184"/>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5.1  </a:t>
            </a:r>
            <a:pPr indent="0" marL="0">
              <a:buNone/>
            </a:pPr>
            <a:r>
              <a:rPr lang="en-US" sz="2600" b="1" dirty="0">
                <a:solidFill>
                  <a:srgbClr val="1A1C2E"/>
                </a:solidFill>
                <a:latin typeface="Arial" pitchFamily="34" charset="0"/>
                <a:ea typeface="Arial" pitchFamily="34" charset="-122"/>
                <a:cs typeface="Arial" pitchFamily="34" charset="-120"/>
              </a:rPr>
              <a:t>Resultados: la aplicación en funcionamiento</a:t>
            </a:r>
            <a:endParaRPr lang="en-US" sz="2600" dirty="0"/>
          </a:p>
        </p:txBody>
      </p:sp>
      <p:sp>
        <p:nvSpPr>
          <p:cNvPr id="4" name="Text 2"/>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5" name="Text 3"/>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6"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7" name="Text 4"/>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8"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9" name="Text 5"/>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10"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1" name="Text 6"/>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2"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3" name="Shape 7"/>
          <p:cNvSpPr/>
          <p:nvPr/>
        </p:nvSpPr>
        <p:spPr>
          <a:xfrm>
            <a:off x="777240" y="6263640"/>
            <a:ext cx="219456" cy="219456"/>
          </a:xfrm>
          <a:prstGeom prst="rect">
            <a:avLst/>
          </a:prstGeom>
          <a:solidFill>
            <a:srgbClr val="202CFC"/>
          </a:solidFill>
          <a:ln/>
        </p:spPr>
      </p:sp>
      <p:sp>
        <p:nvSpPr>
          <p:cNvPr id="14"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29184"/>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6  Calidad y seguridad</a:t>
            </a:r>
            <a:endParaRPr lang="en-US" sz="3400" dirty="0"/>
          </a:p>
        </p:txBody>
      </p:sp>
      <p:sp>
        <p:nvSpPr>
          <p:cNvPr id="3" name="Text 1"/>
          <p:cNvSpPr/>
          <p:nvPr/>
        </p:nvSpPr>
        <p:spPr>
          <a:xfrm>
            <a:off x="777240" y="1051560"/>
            <a:ext cx="10607040" cy="329184"/>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6.1  </a:t>
            </a:r>
            <a:pPr indent="0" marL="0">
              <a:buNone/>
            </a:pPr>
            <a:r>
              <a:rPr lang="en-US" sz="2600" b="1" dirty="0">
                <a:solidFill>
                  <a:srgbClr val="1A1C2E"/>
                </a:solidFill>
                <a:latin typeface="Arial" pitchFamily="34" charset="0"/>
                <a:ea typeface="Arial" pitchFamily="34" charset="-122"/>
                <a:cs typeface="Arial" pitchFamily="34" charset="-120"/>
              </a:rPr>
              <a:t>Calidad del código</a:t>
            </a:r>
            <a:endParaRPr lang="en-US" sz="2600" dirty="0"/>
          </a:p>
        </p:txBody>
      </p:sp>
      <p:sp>
        <p:nvSpPr>
          <p:cNvPr id="4" name="Text 2"/>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500" dirty="0"/>
          </a:p>
        </p:txBody>
      </p:sp>
      <p:sp>
        <p:nvSpPr>
          <p:cNvPr id="5" name="Text 3"/>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6" name="Text 4"/>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7" name="Text 5"/>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8" name="Text 6"/>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6.2  </a:t>
            </a:r>
            <a:pPr indent="0" marL="0">
              <a:buNone/>
            </a:pPr>
            <a:r>
              <a:rPr lang="en-US" sz="2600" b="1" dirty="0">
                <a:solidFill>
                  <a:srgbClr val="1A1C2E"/>
                </a:solidFill>
                <a:latin typeface="Arial" pitchFamily="34" charset="0"/>
                <a:ea typeface="Arial" pitchFamily="34" charset="-122"/>
                <a:cs typeface="Arial" pitchFamily="34" charset="-120"/>
              </a:rPr>
              <a:t>Integración y despliegue continuos</a:t>
            </a:r>
            <a:endParaRPr lang="en-US" sz="26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6.3  </a:t>
            </a:r>
            <a:pPr indent="0" marL="0">
              <a:buNone/>
            </a:pPr>
            <a:r>
              <a:rPr lang="en-US" sz="2600" b="1" dirty="0">
                <a:solidFill>
                  <a:srgbClr val="1A1C2E"/>
                </a:solidFill>
                <a:latin typeface="Arial" pitchFamily="34" charset="0"/>
                <a:ea typeface="Arial" pitchFamily="34" charset="-122"/>
                <a:cs typeface="Arial" pitchFamily="34" charset="-120"/>
              </a:rPr>
              <a:t>Modelo de seguridad</a:t>
            </a:r>
            <a:endParaRPr lang="en-US" sz="26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OWASP API Top 10 2023 en el backend y OWASP Top 10 2025 en la interfaz.</a:t>
            </a:r>
            <a:endParaRPr lang="en-US" sz="1500" dirty="0"/>
          </a:p>
        </p:txBody>
      </p:sp>
      <p:sp>
        <p:nvSpPr>
          <p:cNvPr id="4" name="Text 2"/>
          <p:cNvSpPr/>
          <p:nvPr/>
        </p:nvSpPr>
        <p:spPr>
          <a:xfrm>
            <a:off x="777240" y="208483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01</a:t>
            </a:r>
            <a:endParaRPr lang="en-US" sz="1200" dirty="0"/>
          </a:p>
        </p:txBody>
      </p:sp>
      <p:sp>
        <p:nvSpPr>
          <p:cNvPr id="5" name="Text 3"/>
          <p:cNvSpPr/>
          <p:nvPr/>
        </p:nvSpPr>
        <p:spPr>
          <a:xfrm>
            <a:off x="1371600" y="208483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02</a:t>
            </a:r>
            <a:endParaRPr lang="en-US" sz="1200" dirty="0"/>
          </a:p>
        </p:txBody>
      </p:sp>
      <p:sp>
        <p:nvSpPr>
          <p:cNvPr id="8" name="Text 6"/>
          <p:cNvSpPr/>
          <p:nvPr/>
        </p:nvSpPr>
        <p:spPr>
          <a:xfrm>
            <a:off x="1371600" y="248716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a:t>
            </a:r>
            <a:endParaRPr lang="en-US" sz="1200" dirty="0"/>
          </a:p>
        </p:txBody>
      </p:sp>
      <p:sp>
        <p:nvSpPr>
          <p:cNvPr id="10" name="Text 8"/>
          <p:cNvSpPr/>
          <p:nvPr/>
        </p:nvSpPr>
        <p:spPr>
          <a:xfrm>
            <a:off x="777240" y="288950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03</a:t>
            </a:r>
            <a:endParaRPr lang="en-US" sz="1200" dirty="0"/>
          </a:p>
        </p:txBody>
      </p:sp>
      <p:sp>
        <p:nvSpPr>
          <p:cNvPr id="11" name="Text 9"/>
          <p:cNvSpPr/>
          <p:nvPr/>
        </p:nvSpPr>
        <p:spPr>
          <a:xfrm>
            <a:off x="1371600" y="288950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04</a:t>
            </a:r>
            <a:endParaRPr lang="en-US" sz="1200" dirty="0"/>
          </a:p>
        </p:txBody>
      </p:sp>
      <p:sp>
        <p:nvSpPr>
          <p:cNvPr id="14" name="Text 12"/>
          <p:cNvSpPr/>
          <p:nvPr/>
        </p:nvSpPr>
        <p:spPr>
          <a:xfrm>
            <a:off x="1371600" y="329184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Límites por familia, con contadores persistidos</a:t>
            </a:r>
            <a:endParaRPr lang="en-US" sz="1200" dirty="0"/>
          </a:p>
        </p:txBody>
      </p:sp>
      <p:sp>
        <p:nvSpPr>
          <p:cNvPr id="16" name="Text 14"/>
          <p:cNvSpPr/>
          <p:nvPr/>
        </p:nvSpPr>
        <p:spPr>
          <a:xfrm>
            <a:off x="777240" y="369417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05</a:t>
            </a:r>
            <a:endParaRPr lang="en-US" sz="1200" dirty="0"/>
          </a:p>
        </p:txBody>
      </p:sp>
      <p:sp>
        <p:nvSpPr>
          <p:cNvPr id="17" name="Text 15"/>
          <p:cNvSpPr/>
          <p:nvPr/>
        </p:nvSpPr>
        <p:spPr>
          <a:xfrm>
            <a:off x="1371600" y="369417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Administración tras requireAdmin y segundo factor</a:t>
            </a:r>
            <a:endParaRPr lang="en-US" sz="1200" dirty="0"/>
          </a:p>
        </p:txBody>
      </p:sp>
      <p:sp>
        <p:nvSpPr>
          <p:cNvPr id="19" name="Text 17"/>
          <p:cNvSpPr/>
          <p:nvPr/>
        </p:nvSpPr>
        <p:spPr>
          <a:xfrm>
            <a:off x="777240" y="409651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06</a:t>
            </a:r>
            <a:endParaRPr lang="en-US" sz="1200" dirty="0"/>
          </a:p>
        </p:txBody>
      </p:sp>
      <p:sp>
        <p:nvSpPr>
          <p:cNvPr id="20" name="Text 18"/>
          <p:cNvSpPr/>
          <p:nvPr/>
        </p:nvSpPr>
        <p:spPr>
          <a:xfrm>
            <a:off x="1371600" y="409651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a:t>
            </a:r>
            <a:endParaRPr lang="en-US" sz="1200" dirty="0"/>
          </a:p>
        </p:txBody>
      </p:sp>
      <p:sp>
        <p:nvSpPr>
          <p:cNvPr id="22" name="Text 20"/>
          <p:cNvSpPr/>
          <p:nvPr/>
        </p:nvSpPr>
        <p:spPr>
          <a:xfrm>
            <a:off x="777240" y="449884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07</a:t>
            </a:r>
            <a:endParaRPr lang="en-US" sz="1200" dirty="0"/>
          </a:p>
        </p:txBody>
      </p:sp>
      <p:sp>
        <p:nvSpPr>
          <p:cNvPr id="23" name="Text 21"/>
          <p:cNvSpPr/>
          <p:nvPr/>
        </p:nvSpPr>
        <p:spPr>
          <a:xfrm>
            <a:off x="1371600" y="449884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Ninguna URL de salida la elige el usuario</a:t>
            </a:r>
            <a:endParaRPr lang="en-US" sz="1200" dirty="0"/>
          </a:p>
        </p:txBody>
      </p:sp>
      <p:sp>
        <p:nvSpPr>
          <p:cNvPr id="25" name="Text 23"/>
          <p:cNvSpPr/>
          <p:nvPr/>
        </p:nvSpPr>
        <p:spPr>
          <a:xfrm>
            <a:off x="777240" y="490118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08</a:t>
            </a:r>
            <a:endParaRPr lang="en-US" sz="1200" dirty="0"/>
          </a:p>
        </p:txBody>
      </p:sp>
      <p:sp>
        <p:nvSpPr>
          <p:cNvPr id="26" name="Text 24"/>
          <p:cNvSpPr/>
          <p:nvPr/>
        </p:nvSpPr>
        <p:spPr>
          <a:xfrm>
            <a:off x="1371600" y="490118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en la API, CSP en la interfaz, puertos en loopback</a:t>
            </a:r>
            <a:endParaRPr lang="en-US" sz="1200" dirty="0"/>
          </a:p>
        </p:txBody>
      </p:sp>
      <p:sp>
        <p:nvSpPr>
          <p:cNvPr id="28" name="Text 26"/>
          <p:cNvSpPr/>
          <p:nvPr/>
        </p:nvSpPr>
        <p:spPr>
          <a:xfrm>
            <a:off x="777240" y="530352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09</a:t>
            </a:r>
            <a:endParaRPr lang="en-US" sz="1200" dirty="0"/>
          </a:p>
        </p:txBody>
      </p:sp>
      <p:sp>
        <p:nvSpPr>
          <p:cNvPr id="29" name="Text 27"/>
          <p:cNvSpPr/>
          <p:nvPr/>
        </p:nvSpPr>
        <p:spPr>
          <a:xfrm>
            <a:off x="1371600" y="530352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propia API</a:t>
            </a:r>
            <a:endParaRPr lang="en-US" sz="1200" dirty="0"/>
          </a:p>
        </p:txBody>
      </p:sp>
      <p:sp>
        <p:nvSpPr>
          <p:cNvPr id="31" name="Text 29"/>
          <p:cNvSpPr/>
          <p:nvPr/>
        </p:nvSpPr>
        <p:spPr>
          <a:xfrm>
            <a:off x="777240" y="570585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10</a:t>
            </a:r>
            <a:endParaRPr lang="en-US" sz="1200" dirty="0"/>
          </a:p>
        </p:txBody>
      </p:sp>
      <p:sp>
        <p:nvSpPr>
          <p:cNvPr id="32" name="Text 30"/>
          <p:cNvSpPr/>
          <p:nvPr/>
        </p:nvSpPr>
        <p:spPr>
          <a:xfrm>
            <a:off x="1371600" y="570585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29184"/>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7  Conclusiones</a:t>
            </a:r>
            <a:endParaRPr lang="en-US" sz="3400" dirty="0"/>
          </a:p>
        </p:txBody>
      </p:sp>
      <p:sp>
        <p:nvSpPr>
          <p:cNvPr id="3" name="Text 1"/>
          <p:cNvSpPr/>
          <p:nvPr/>
        </p:nvSpPr>
        <p:spPr>
          <a:xfrm>
            <a:off x="777240" y="1051560"/>
            <a:ext cx="10607040" cy="329184"/>
          </a:xfrm>
          <a:prstGeom prst="rect">
            <a:avLst/>
          </a:prstGeom>
          <a:noFill/>
          <a:ln/>
        </p:spPr>
        <p:txBody>
          <a:bodyPr wrap="square" lIns="0" tIns="0" rIns="0" bIns="0" rtlCol="0" anchor="t"/>
          <a:lstStyle/>
          <a:p>
            <a:pPr indent="0" marL="0">
              <a:buNone/>
            </a:pPr>
            <a:r>
              <a:rPr lang="en-US" sz="2600" b="1" dirty="0">
                <a:solidFill>
                  <a:srgbClr val="202CFC"/>
                </a:solidFill>
                <a:latin typeface="Arial" pitchFamily="34" charset="0"/>
                <a:ea typeface="Arial" pitchFamily="34" charset="-122"/>
                <a:cs typeface="Arial" pitchFamily="34" charset="-120"/>
              </a:rPr>
              <a:t>7.1  </a:t>
            </a:r>
            <a:pPr indent="0" marL="0">
              <a:buNone/>
            </a:pPr>
            <a:r>
              <a:rPr lang="en-US" sz="2600" b="1" dirty="0">
                <a:solidFill>
                  <a:srgbClr val="1A1C2E"/>
                </a:solidFill>
                <a:latin typeface="Arial" pitchFamily="34" charset="0"/>
                <a:ea typeface="Arial" pitchFamily="34" charset="-122"/>
                <a:cs typeface="Arial" pitchFamily="34" charset="-120"/>
              </a:rPr>
              <a:t>Conclusiones</a:t>
            </a:r>
            <a:endParaRPr lang="en-US" sz="2600" dirty="0"/>
          </a:p>
        </p:txBody>
      </p:sp>
      <p:sp>
        <p:nvSpPr>
          <p:cNvPr id="4" name="Text 2"/>
          <p:cNvSpPr/>
          <p:nvPr/>
        </p:nvSpPr>
        <p:spPr>
          <a:xfrm>
            <a:off x="777240" y="1508760"/>
            <a:ext cx="10607040" cy="36576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500" dirty="0"/>
          </a:p>
        </p:txBody>
      </p:sp>
      <p:sp>
        <p:nvSpPr>
          <p:cNvPr id="5" name="Text 3"/>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6" name="Text 4"/>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7" name="Text 5"/>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8" name="Text 6"/>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2026-08-27T13:36:32Z</dcterms:created>
  <dcterms:modified xsi:type="dcterms:W3CDTF">2026-08-27T13:36:32Z</dcterms:modified>
</cp:coreProperties>
</file>