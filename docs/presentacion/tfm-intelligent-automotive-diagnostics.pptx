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combinada con el patrón hexagonal. Tres capas: dominio, aplicación e infraestructura, y las dependencias siempre apuntando hacia dentro.
La elegí por una razón concreta: aquí el dominio no es algo que me haya inventado yo, son normas. SAE J1979, ISO 15031 y la ISO 3779 del bastidor. Todo eso hay que probarlo con test, así que necesitaba una testabilidad alta. Por eso las normas van en el dominio, sin dependencias, y todo lo demás queda detrás de un puerto.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Lo cuarto, hay dos clientes de modelo de lenguaje, y el código de diagnóstico es el mismo para los dos. En las pruebas el modelo se sustituye por un doble, así que el flujo cognitivo se verifica entero sin llamar a un modelo real.
Y lo quinto, que es lo que ata todo lo anterior: la testabilidad. Las normativas ISO hay que probarlas con test, y en el dominio no dependen de nada, así que se prueban solas. Dos mil ciento setenta y una pruebas que corren sin coche, sin servidor y sin modelo.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son las comprobaciones automáticas.
El código se escribe con TDD, primero el test que falla y luego el código mínimo que lo pasa. Ahora mismo hay 2.403 pruebas en verde repartidas en 219 ficheros, entre el backend y el frontend.
Y cada cambio se especifica antes de escribirse, con OpenSpec: hay 45 cambios documentados y archivados, con su diseño, sus specs y sus tareas. Eso es lo que hace que un proyecto de una sola persona no dependa de lo que yo recuerde.
De la cobertura quiero destacar una cosa, porque es donde se hace la trampa habitual. No se mide de media: se exige fichero a fichero. Con la media, un fichero sin tests se esconde detrás de otro que esté muy cubierto y el número global sigue saliendo bonito. Aquí cada fichero tiene que llegar por su cuenta al 80% de líneas y al 90% de funciones.
Y la infraestructura está excluida a propósito: el cableado de dependencias, los adaptadores que solo delegan y los controladores no se cubren con tests de cobertura, los valida el compilador. Esa lista de exclusiones está escrita en la configuración, no es un olvido.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tabla de seguridad. Uso el API Security Top 10 y no el Top 10 de aplicaciones web porque lo que este proyecto expone es una API REST: sus tres primeros riesgos son fallos de autorización a nivel de objeto, de propiedad y de función, que en la lista web ni siquiera aparecen como categorías propias.
No la voy a leer entera, pero quiero que se vea que las diez categorías están cubiertas con una medida concreta y no con una declaración de intenciones.
Destaco cuatro. La primera: cuando pides una sesión de diagnóstico que no es tuya, la API responde 404 y no 403, para no confirmar siquiera que existe.
La cuarta: los límites de peticiones no son uno global, van por familia. El diagnóstico cognitivo, que es el que cuesta dinero porque llama al modelo, tiene el más estricto, cinco por minuto.
La sexta es la que más me importa por lo que hay al otro lado: el borrado de códigos de avería es el único flujo destructivo sobre el coche, así que tiene su propio límite y se puede apagar entero con una variable de entorno. Y además el adaptador valida el modo OBD contra una lista blanca antes de tocar el socket, con un test de invariante que falla si alguien añade un método que emita un servicio de control.
Y la décima: todo lo que viene de fuera —la búsqueda web y los casos previos de otros talleres— llega al modelo etiquetado como material no fiable, y el system prompt le dice que eso es referencia y nunca una orden.
Los riesgos residuales están escritos y asumidos, no escondidos: los tokens en localStorage, la ausencia de MFA, la base sin cifrar en disco y los límites de peticiones en memoria.
[~60 s · acumulado 18:40]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anterior cubre el backend, que es una API. La interfaz es otra cosa: es una aplicación web, y ahí aplica el Top 10 general, en su edición de 2025. Mismo ejercicio: las diez categorías con la medida concreta.
Destaco lo que es propio de la interfaz. React escapa el HTML por defecto y no se inyecta marcado en crudo en ningún sitio con datos del usuario, que es por donde entra el XSS. La política de contenido la sirve el nginx que sirve la interfaz, con script-src propio y sin scripts en línea, y hay una comprobación en integración continua que arranca nginx y verifica que las cabeceras salen. Los formularios validan con los mismos esquemas Zod que usa la API, así que cliente y servidor no se pueden desincronizar.
En la A02 quiero pararme: hasta esta semana los contenedores publicaban sus puertos en todas las interfaces, o sea que se podía llegar a la API por la IP del servidor sin pasar por el proxy, y con ello saltarse el TLS y falsear la IP de origen. Ahora la API y la interfaz solo se publican en loopback y los emuladores no se publican en absoluto. Desde fuera solo queda el 443.
Y una decisión consciente en la A04: el token viaja en cabecera Bearer y no en cookie. Eso elimina el CSRF de raíz, y a cambio vive en el navegador. La respuesta a eso no es esconderlo, es que no haya por dónde leerlo, que es todo lo de arriba. El secreto del segundo factor, que sí sería una llave, va cifrado con AES-256-GCM y su clave no vive en la base de datos.
[~50 s · acumulado 19:30]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20:15]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 Hexagonal</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196596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01</a:t>
            </a:r>
            <a:endParaRPr lang="en-US" sz="1700" dirty="0"/>
          </a:p>
        </p:txBody>
      </p:sp>
      <p:sp>
        <p:nvSpPr>
          <p:cNvPr id="6" name="Text 4"/>
          <p:cNvSpPr/>
          <p:nvPr/>
        </p:nvSpPr>
        <p:spPr>
          <a:xfrm>
            <a:off x="1325880" y="2450592"/>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proyecto se ha desarrollado sin el vehículo</a:t>
            </a:r>
            <a:endParaRPr lang="en-US" sz="1800" dirty="0"/>
          </a:p>
        </p:txBody>
      </p:sp>
      <p:sp>
        <p:nvSpPr>
          <p:cNvPr id="7" name="Text 5"/>
          <p:cNvSpPr/>
          <p:nvPr/>
        </p:nvSpPr>
        <p:spPr>
          <a:xfrm>
            <a:off x="777240" y="2980944"/>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02</a:t>
            </a:r>
            <a:endParaRPr lang="en-US" sz="1700" dirty="0"/>
          </a:p>
        </p:txBody>
      </p:sp>
      <p:sp>
        <p:nvSpPr>
          <p:cNvPr id="8" name="Text 6"/>
          <p:cNvSpPr/>
          <p:nvPr/>
        </p:nvSpPr>
        <p:spPr>
          <a:xfrm>
            <a:off x="1325880" y="2980944"/>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La forma de conectarse al coche se decidió al final</a:t>
            </a:r>
            <a:endParaRPr lang="en-US" sz="1800" dirty="0"/>
          </a:p>
        </p:txBody>
      </p:sp>
      <p:sp>
        <p:nvSpPr>
          <p:cNvPr id="9" name="Text 7"/>
          <p:cNvSpPr/>
          <p:nvPr/>
        </p:nvSpPr>
        <p:spPr>
          <a:xfrm>
            <a:off x="777240" y="3511296"/>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03</a:t>
            </a:r>
            <a:endParaRPr lang="en-US" sz="1700" dirty="0"/>
          </a:p>
        </p:txBody>
      </p:sp>
      <p:sp>
        <p:nvSpPr>
          <p:cNvPr id="10" name="Text 8"/>
          <p:cNvSpPr/>
          <p:nvPr/>
        </p:nvSpPr>
        <p:spPr>
          <a:xfrm>
            <a:off x="1325880" y="3511296"/>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800" dirty="0"/>
          </a:p>
        </p:txBody>
      </p:sp>
      <p:sp>
        <p:nvSpPr>
          <p:cNvPr id="11" name="Text 9"/>
          <p:cNvSpPr/>
          <p:nvPr/>
        </p:nvSpPr>
        <p:spPr>
          <a:xfrm>
            <a:off x="777240" y="4041648"/>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04</a:t>
            </a:r>
            <a:endParaRPr lang="en-US" sz="1700" dirty="0"/>
          </a:p>
        </p:txBody>
      </p:sp>
      <p:sp>
        <p:nvSpPr>
          <p:cNvPr id="12" name="Text 10"/>
          <p:cNvSpPr/>
          <p:nvPr/>
        </p:nvSpPr>
        <p:spPr>
          <a:xfrm>
            <a:off x="1325880" y="4041648"/>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800" dirty="0"/>
          </a:p>
        </p:txBody>
      </p:sp>
      <p:sp>
        <p:nvSpPr>
          <p:cNvPr id="13" name="Text 11"/>
          <p:cNvSpPr/>
          <p:nvPr/>
        </p:nvSpPr>
        <p:spPr>
          <a:xfrm>
            <a:off x="777240" y="4572000"/>
            <a:ext cx="457200" cy="329184"/>
          </a:xfrm>
          <a:prstGeom prst="rect">
            <a:avLst/>
          </a:prstGeom>
          <a:noFill/>
          <a:ln/>
        </p:spPr>
        <p:txBody>
          <a:bodyPr wrap="square" lIns="0" tIns="0" rIns="0" bIns="0" rtlCol="0" anchor="t"/>
          <a:lstStyle/>
          <a:p>
            <a:pPr indent="0" marL="0">
              <a:buNone/>
            </a:pPr>
            <a:r>
              <a:rPr lang="en-US" sz="1700" b="1" dirty="0">
                <a:solidFill>
                  <a:srgbClr val="202CFC"/>
                </a:solidFill>
                <a:latin typeface="Arial" pitchFamily="34" charset="0"/>
                <a:ea typeface="Arial" pitchFamily="34" charset="-122"/>
                <a:cs typeface="Arial" pitchFamily="34" charset="-120"/>
              </a:rPr>
              <a:t>05</a:t>
            </a:r>
            <a:endParaRPr lang="en-US" sz="1700" dirty="0"/>
          </a:p>
        </p:txBody>
      </p:sp>
      <p:sp>
        <p:nvSpPr>
          <p:cNvPr id="14" name="Text 12"/>
          <p:cNvSpPr/>
          <p:nvPr/>
        </p:nvSpPr>
        <p:spPr>
          <a:xfrm>
            <a:off x="1325880" y="4572000"/>
            <a:ext cx="10058400" cy="329184"/>
          </a:xfrm>
          <a:prstGeom prst="rect">
            <a:avLst/>
          </a:prstGeom>
          <a:noFill/>
          <a:ln/>
        </p:spPr>
        <p:txBody>
          <a:bodyPr wrap="square" lIns="0" tIns="0" rIns="0" bIns="0" rtlCol="0" anchor="t"/>
          <a:lstStyle/>
          <a:p>
            <a:pPr indent="0" marL="0">
              <a:buNone/>
            </a:pPr>
            <a:r>
              <a:rPr lang="en-US" sz="1800" b="1" dirty="0">
                <a:solidFill>
                  <a:srgbClr val="1A1C2E"/>
                </a:solidFill>
                <a:latin typeface="Arial" pitchFamily="34" charset="0"/>
                <a:ea typeface="Arial" pitchFamily="34" charset="-122"/>
                <a:cs typeface="Arial" pitchFamily="34" charset="-120"/>
              </a:rPr>
              <a:t>Alta testabilidad: SAE J1979, ISO 15031 e ISO 3779 hay que probarlas con test</a:t>
            </a:r>
            <a:endParaRPr lang="en-US" sz="1800" dirty="0"/>
          </a:p>
        </p:txBody>
      </p:sp>
      <p:sp>
        <p:nvSpPr>
          <p:cNvPr id="15" name="Text 13"/>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6" name="Text 14"/>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7" name="Text 15"/>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18" name="Text 16"/>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19" name="Text 17"/>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2" name="Text 20"/>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3" name="Shape 21"/>
          <p:cNvSpPr/>
          <p:nvPr/>
        </p:nvSpPr>
        <p:spPr>
          <a:xfrm>
            <a:off x="777240" y="6263640"/>
            <a:ext cx="219456" cy="219456"/>
          </a:xfrm>
          <a:prstGeom prst="rect">
            <a:avLst/>
          </a:prstGeom>
          <a:solidFill>
            <a:srgbClr val="202CFC"/>
          </a:solidFill>
          <a:ln/>
        </p:spPr>
      </p:sp>
      <p:sp>
        <p:nvSpPr>
          <p:cNvPr id="24" name="Text 2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5" name="Text 2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6" name="Text 2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2.403 pruebas en verde, en 219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Cada cambio se especifica antes de escribirse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documentados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Cobertura</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Ningún fichero se esconde detrás de otro muy cubierto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Mínimos por fichero: 80% de líneas y 90% de funciones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infraestructura se excluye a propósito, con la lista escrita</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Integrar en main publica en producción, pero solo si la verificación ha pasado antes.</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 e2e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y cabeceras</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se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y se comprueba</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Recorridos de extremo a extremo y cabeceras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si algo es crítico</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arranca si la verificación ha terminado en verde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etiquetadas por commit, no solo como «latest»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Tras levantar comprueba la API, la interfaz y la web pública, o falla</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API Top 10 2023</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backend es una API REST, así que la lista que aplica es la de APIs.</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Level Authorization</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La sesión de otro usuario devuelve 404, no 403</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Authentication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segundo factor TOTP y bloqueo de cuenta a los 5 fallos</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Object Property Level Authorization</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Los esquemas Zod son la allowlist de campos</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Resource Consumption</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login 5/min, diagnóstico 20/min; contadores persistidos en base de datos</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Function Level Authorization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Todo /api autenticado; el panel de administración exige segundo factor</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Unrestricted Access to Sensitive Business Flows</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Borrado de códigos con límite propio y apagable por entorno</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Server Side Request Forgery</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usuario no controla ninguna URL de salida</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8 en la API, CSP propia en la interfaz, puertos solo en loopback</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Improper Inventory Management</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Especificación OpenAPI versionada, servida por la API</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API10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Unsafe Consumption of APIs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 recuperado llega al modelo marcado como no fiable</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OWASP Top 10 2025</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La interfaz es una aplicación web: el mismo ejercicio con la lista de aplicaciones web.</a:t>
            </a:r>
            <a:endParaRPr lang="en-US" sz="1700" dirty="0"/>
          </a:p>
        </p:txBody>
      </p:sp>
      <p:sp>
        <p:nvSpPr>
          <p:cNvPr id="4" name="Text 2"/>
          <p:cNvSpPr/>
          <p:nvPr/>
        </p:nvSpPr>
        <p:spPr>
          <a:xfrm>
            <a:off x="777240" y="208483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A01</a:t>
            </a:r>
            <a:endParaRPr lang="en-US" sz="1100" dirty="0"/>
          </a:p>
        </p:txBody>
      </p:sp>
      <p:sp>
        <p:nvSpPr>
          <p:cNvPr id="5" name="Text 3"/>
          <p:cNvSpPr/>
          <p:nvPr/>
        </p:nvSpPr>
        <p:spPr>
          <a:xfrm>
            <a:off x="1508760" y="208483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Broken Access Control</a:t>
            </a:r>
            <a:endParaRPr lang="en-US" sz="1150" dirty="0"/>
          </a:p>
        </p:txBody>
      </p:sp>
      <p:sp>
        <p:nvSpPr>
          <p:cNvPr id="6" name="Text 4"/>
          <p:cNvSpPr/>
          <p:nvPr/>
        </p:nvSpPr>
        <p:spPr>
          <a:xfrm>
            <a:off x="5577840" y="208483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Sesión en todo /api, y ninguna URL de salida la elige el usuario</a:t>
            </a:r>
            <a:endParaRPr lang="en-US" sz="1200" dirty="0"/>
          </a:p>
        </p:txBody>
      </p:sp>
      <p:sp>
        <p:nvSpPr>
          <p:cNvPr id="7" name="Text 5"/>
          <p:cNvSpPr/>
          <p:nvPr/>
        </p:nvSpPr>
        <p:spPr>
          <a:xfrm>
            <a:off x="777240" y="248716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A02</a:t>
            </a:r>
            <a:endParaRPr lang="en-US" sz="1100" dirty="0"/>
          </a:p>
        </p:txBody>
      </p:sp>
      <p:sp>
        <p:nvSpPr>
          <p:cNvPr id="8" name="Text 6"/>
          <p:cNvSpPr/>
          <p:nvPr/>
        </p:nvSpPr>
        <p:spPr>
          <a:xfrm>
            <a:off x="1508760" y="248716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Misconfiguration</a:t>
            </a:r>
            <a:endParaRPr lang="en-US" sz="1150" dirty="0"/>
          </a:p>
        </p:txBody>
      </p:sp>
      <p:sp>
        <p:nvSpPr>
          <p:cNvPr id="9" name="Text 7"/>
          <p:cNvSpPr/>
          <p:nvPr/>
        </p:nvSpPr>
        <p:spPr>
          <a:xfrm>
            <a:off x="5577840" y="248716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Helmet en la API, CSP en la interfaz, puertos solo en loopback</a:t>
            </a:r>
            <a:endParaRPr lang="en-US" sz="1200" dirty="0"/>
          </a:p>
        </p:txBody>
      </p:sp>
      <p:sp>
        <p:nvSpPr>
          <p:cNvPr id="10" name="Text 8"/>
          <p:cNvSpPr/>
          <p:nvPr/>
        </p:nvSpPr>
        <p:spPr>
          <a:xfrm>
            <a:off x="777240" y="288950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A03</a:t>
            </a:r>
            <a:endParaRPr lang="en-US" sz="1100" dirty="0"/>
          </a:p>
        </p:txBody>
      </p:sp>
      <p:sp>
        <p:nvSpPr>
          <p:cNvPr id="11" name="Text 9"/>
          <p:cNvSpPr/>
          <p:nvPr/>
        </p:nvSpPr>
        <p:spPr>
          <a:xfrm>
            <a:off x="1508760" y="288950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Supply Chain Failures</a:t>
            </a:r>
            <a:endParaRPr lang="en-US" sz="1150" dirty="0"/>
          </a:p>
        </p:txBody>
      </p:sp>
      <p:sp>
        <p:nvSpPr>
          <p:cNvPr id="12" name="Text 10"/>
          <p:cNvSpPr/>
          <p:nvPr/>
        </p:nvSpPr>
        <p:spPr>
          <a:xfrm>
            <a:off x="5577840" y="288950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Lockfile, auditoría bloqueante e imágenes etiquetadas por commit</a:t>
            </a:r>
            <a:endParaRPr lang="en-US" sz="1200" dirty="0"/>
          </a:p>
        </p:txBody>
      </p:sp>
      <p:sp>
        <p:nvSpPr>
          <p:cNvPr id="13" name="Text 11"/>
          <p:cNvSpPr/>
          <p:nvPr/>
        </p:nvSpPr>
        <p:spPr>
          <a:xfrm>
            <a:off x="777240" y="329184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A04</a:t>
            </a:r>
            <a:endParaRPr lang="en-US" sz="1100" dirty="0"/>
          </a:p>
        </p:txBody>
      </p:sp>
      <p:sp>
        <p:nvSpPr>
          <p:cNvPr id="14" name="Text 12"/>
          <p:cNvSpPr/>
          <p:nvPr/>
        </p:nvSpPr>
        <p:spPr>
          <a:xfrm>
            <a:off x="1508760" y="329184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Cryptographic Failures</a:t>
            </a:r>
            <a:endParaRPr lang="en-US" sz="1150" dirty="0"/>
          </a:p>
        </p:txBody>
      </p:sp>
      <p:sp>
        <p:nvSpPr>
          <p:cNvPr id="15" name="Text 13"/>
          <p:cNvSpPr/>
          <p:nvPr/>
        </p:nvSpPr>
        <p:spPr>
          <a:xfrm>
            <a:off x="5577840" y="329184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bcrypt 12 rondas, secretos separados y secreto TOTP cifrado</a:t>
            </a:r>
            <a:endParaRPr lang="en-US" sz="1200" dirty="0"/>
          </a:p>
        </p:txBody>
      </p:sp>
      <p:sp>
        <p:nvSpPr>
          <p:cNvPr id="16" name="Text 14"/>
          <p:cNvSpPr/>
          <p:nvPr/>
        </p:nvSpPr>
        <p:spPr>
          <a:xfrm>
            <a:off x="777240" y="369417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A05</a:t>
            </a:r>
            <a:endParaRPr lang="en-US" sz="1100" dirty="0"/>
          </a:p>
        </p:txBody>
      </p:sp>
      <p:sp>
        <p:nvSpPr>
          <p:cNvPr id="17" name="Text 15"/>
          <p:cNvSpPr/>
          <p:nvPr/>
        </p:nvSpPr>
        <p:spPr>
          <a:xfrm>
            <a:off x="1508760" y="369417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Injection</a:t>
            </a:r>
            <a:endParaRPr lang="en-US" sz="1150" dirty="0"/>
          </a:p>
        </p:txBody>
      </p:sp>
      <p:sp>
        <p:nvSpPr>
          <p:cNvPr id="18" name="Text 16"/>
          <p:cNvSpPr/>
          <p:nvPr/>
        </p:nvSpPr>
        <p:spPr>
          <a:xfrm>
            <a:off x="5577840" y="369417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Consultas parametrizadas con Drizzle y validación Zod</a:t>
            </a:r>
            <a:endParaRPr lang="en-US" sz="1200" dirty="0"/>
          </a:p>
        </p:txBody>
      </p:sp>
      <p:sp>
        <p:nvSpPr>
          <p:cNvPr id="19" name="Text 17"/>
          <p:cNvSpPr/>
          <p:nvPr/>
        </p:nvSpPr>
        <p:spPr>
          <a:xfrm>
            <a:off x="777240" y="4096512"/>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A06</a:t>
            </a:r>
            <a:endParaRPr lang="en-US" sz="1100" dirty="0"/>
          </a:p>
        </p:txBody>
      </p:sp>
      <p:sp>
        <p:nvSpPr>
          <p:cNvPr id="20" name="Text 18"/>
          <p:cNvSpPr/>
          <p:nvPr/>
        </p:nvSpPr>
        <p:spPr>
          <a:xfrm>
            <a:off x="1508760" y="4096512"/>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Insecure Design</a:t>
            </a:r>
            <a:endParaRPr lang="en-US" sz="1150" dirty="0"/>
          </a:p>
        </p:txBody>
      </p:sp>
      <p:sp>
        <p:nvSpPr>
          <p:cNvPr id="21" name="Text 19"/>
          <p:cNvSpPr/>
          <p:nvPr/>
        </p:nvSpPr>
        <p:spPr>
          <a:xfrm>
            <a:off x="5577840" y="4096512"/>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Capas separadas, DTOs validados y límites por endpoint</a:t>
            </a:r>
            <a:endParaRPr lang="en-US" sz="1200" dirty="0"/>
          </a:p>
        </p:txBody>
      </p:sp>
      <p:sp>
        <p:nvSpPr>
          <p:cNvPr id="22" name="Text 20"/>
          <p:cNvSpPr/>
          <p:nvPr/>
        </p:nvSpPr>
        <p:spPr>
          <a:xfrm>
            <a:off x="777240" y="4498848"/>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A07</a:t>
            </a:r>
            <a:endParaRPr lang="en-US" sz="1100" dirty="0"/>
          </a:p>
        </p:txBody>
      </p:sp>
      <p:sp>
        <p:nvSpPr>
          <p:cNvPr id="23" name="Text 21"/>
          <p:cNvSpPr/>
          <p:nvPr/>
        </p:nvSpPr>
        <p:spPr>
          <a:xfrm>
            <a:off x="1508760" y="4498848"/>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Authentication Failures</a:t>
            </a:r>
            <a:endParaRPr lang="en-US" sz="1150" dirty="0"/>
          </a:p>
        </p:txBody>
      </p:sp>
      <p:sp>
        <p:nvSpPr>
          <p:cNvPr id="24" name="Text 22"/>
          <p:cNvSpPr/>
          <p:nvPr/>
        </p:nvSpPr>
        <p:spPr>
          <a:xfrm>
            <a:off x="5577840" y="4498848"/>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Segundo factor, bloqueo de cuenta y contraseña con reglas</a:t>
            </a:r>
            <a:endParaRPr lang="en-US" sz="1200" dirty="0"/>
          </a:p>
        </p:txBody>
      </p:sp>
      <p:sp>
        <p:nvSpPr>
          <p:cNvPr id="25" name="Text 23"/>
          <p:cNvSpPr/>
          <p:nvPr/>
        </p:nvSpPr>
        <p:spPr>
          <a:xfrm>
            <a:off x="777240" y="4901184"/>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A08</a:t>
            </a:r>
            <a:endParaRPr lang="en-US" sz="1100" dirty="0"/>
          </a:p>
        </p:txBody>
      </p:sp>
      <p:sp>
        <p:nvSpPr>
          <p:cNvPr id="26" name="Text 24"/>
          <p:cNvSpPr/>
          <p:nvPr/>
        </p:nvSpPr>
        <p:spPr>
          <a:xfrm>
            <a:off x="1508760" y="4901184"/>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Software and Data Integrity Failures</a:t>
            </a:r>
            <a:endParaRPr lang="en-US" sz="1150" dirty="0"/>
          </a:p>
        </p:txBody>
      </p:sp>
      <p:sp>
        <p:nvSpPr>
          <p:cNvPr id="27" name="Text 25"/>
          <p:cNvSpPr/>
          <p:nvPr/>
        </p:nvSpPr>
        <p:spPr>
          <a:xfrm>
            <a:off x="5577840" y="4901184"/>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Se despliega solo tras la verificación, y se comprueba después</a:t>
            </a:r>
            <a:endParaRPr lang="en-US" sz="1200" dirty="0"/>
          </a:p>
        </p:txBody>
      </p:sp>
      <p:sp>
        <p:nvSpPr>
          <p:cNvPr id="28" name="Text 26"/>
          <p:cNvSpPr/>
          <p:nvPr/>
        </p:nvSpPr>
        <p:spPr>
          <a:xfrm>
            <a:off x="777240" y="5303520"/>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A09</a:t>
            </a:r>
            <a:endParaRPr lang="en-US" sz="1100" dirty="0"/>
          </a:p>
        </p:txBody>
      </p:sp>
      <p:sp>
        <p:nvSpPr>
          <p:cNvPr id="29" name="Text 27"/>
          <p:cNvSpPr/>
          <p:nvPr/>
        </p:nvSpPr>
        <p:spPr>
          <a:xfrm>
            <a:off x="1508760" y="5303520"/>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Security Logging and Alerting Failures</a:t>
            </a:r>
            <a:endParaRPr lang="en-US" sz="1150" dirty="0"/>
          </a:p>
        </p:txBody>
      </p:sp>
      <p:sp>
        <p:nvSpPr>
          <p:cNvPr id="30" name="Text 28"/>
          <p:cNvSpPr/>
          <p:nvPr/>
        </p:nvSpPr>
        <p:spPr>
          <a:xfrm>
            <a:off x="5577840" y="5303520"/>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Registro estructurado y auditoría con IP, usuario y duración</a:t>
            </a:r>
            <a:endParaRPr lang="en-US" sz="1200" dirty="0"/>
          </a:p>
        </p:txBody>
      </p:sp>
      <p:sp>
        <p:nvSpPr>
          <p:cNvPr id="31" name="Text 29"/>
          <p:cNvSpPr/>
          <p:nvPr/>
        </p:nvSpPr>
        <p:spPr>
          <a:xfrm>
            <a:off x="777240" y="5705856"/>
            <a:ext cx="731520" cy="365760"/>
          </a:xfrm>
          <a:prstGeom prst="rect">
            <a:avLst/>
          </a:prstGeom>
          <a:noFill/>
          <a:ln/>
        </p:spPr>
        <p:txBody>
          <a:bodyPr wrap="square" lIns="0" tIns="0" rIns="0" bIns="0" rtlCol="0" anchor="ctr"/>
          <a:lstStyle/>
          <a:p>
            <a:pPr indent="0" marL="0">
              <a:buNone/>
            </a:pPr>
            <a:r>
              <a:rPr lang="en-US" sz="1100" b="1" dirty="0">
                <a:solidFill>
                  <a:srgbClr val="202CFC"/>
                </a:solidFill>
                <a:latin typeface="Arial" pitchFamily="34" charset="0"/>
                <a:ea typeface="Arial" pitchFamily="34" charset="-122"/>
                <a:cs typeface="Arial" pitchFamily="34" charset="-120"/>
              </a:rPr>
              <a:t>A10</a:t>
            </a:r>
            <a:endParaRPr lang="en-US" sz="1100" dirty="0"/>
          </a:p>
        </p:txBody>
      </p:sp>
      <p:sp>
        <p:nvSpPr>
          <p:cNvPr id="32" name="Text 30"/>
          <p:cNvSpPr/>
          <p:nvPr/>
        </p:nvSpPr>
        <p:spPr>
          <a:xfrm>
            <a:off x="1508760" y="5705856"/>
            <a:ext cx="3977640" cy="365760"/>
          </a:xfrm>
          <a:prstGeom prst="rect">
            <a:avLst/>
          </a:prstGeom>
          <a:noFill/>
          <a:ln/>
        </p:spPr>
        <p:txBody>
          <a:bodyPr wrap="square" lIns="0" tIns="0" rIns="0" bIns="0" rtlCol="0" anchor="ctr"/>
          <a:lstStyle/>
          <a:p>
            <a:pPr indent="0" marL="0">
              <a:buNone/>
            </a:pPr>
            <a:r>
              <a:rPr lang="en-US" sz="1150" b="1" dirty="0">
                <a:solidFill>
                  <a:srgbClr val="1A1C2E"/>
                </a:solidFill>
                <a:latin typeface="Arial" pitchFamily="34" charset="0"/>
                <a:ea typeface="Arial" pitchFamily="34" charset="-122"/>
                <a:cs typeface="Arial" pitchFamily="34" charset="-120"/>
              </a:rPr>
              <a:t>Mishandling of Exceptional Conditions</a:t>
            </a:r>
            <a:endParaRPr lang="en-US" sz="1150" dirty="0"/>
          </a:p>
        </p:txBody>
      </p:sp>
      <p:sp>
        <p:nvSpPr>
          <p:cNvPr id="33" name="Text 31"/>
          <p:cNvSpPr/>
          <p:nvPr/>
        </p:nvSpPr>
        <p:spPr>
          <a:xfrm>
            <a:off x="5577840" y="5705856"/>
            <a:ext cx="5806440" cy="36576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El error se registra entero y sale sin traza ni detalle interno</a:t>
            </a:r>
            <a:endParaRPr lang="en-US" sz="1200" dirty="0"/>
          </a:p>
        </p:txBody>
      </p:sp>
      <p:sp>
        <p:nvSpPr>
          <p:cNvPr id="34" name="Shape 32"/>
          <p:cNvSpPr/>
          <p:nvPr/>
        </p:nvSpPr>
        <p:spPr>
          <a:xfrm>
            <a:off x="777240" y="6263640"/>
            <a:ext cx="219456" cy="219456"/>
          </a:xfrm>
          <a:prstGeom prst="rect">
            <a:avLst/>
          </a:prstGeom>
          <a:solidFill>
            <a:srgbClr val="202CFC"/>
          </a:solidFill>
          <a:ln/>
        </p:spPr>
      </p:sp>
      <p:sp>
        <p:nvSpPr>
          <p:cNvPr id="35" name="Text 3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36" name="Text 3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7" name="Text 3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2026-08-27T12:36:06Z</dcterms:created>
  <dcterms:modified xsi:type="dcterms:W3CDTF">2026-08-27T12:36:06Z</dcterms:modified>
</cp:coreProperties>
</file>