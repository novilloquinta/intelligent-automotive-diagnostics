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Lst>
  <p:notesMasterIdLst>
    <p:notesMasterId r:id="rId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notesMaster" Target="notesMasters/notesMaster1.xml"/><Relationship Id="rId7" Type="http://schemas.openxmlformats.org/officeDocument/2006/relationships/presProps" Target="presProps.xml"/><Relationship Id="rId8" Type="http://schemas.openxmlformats.org/officeDocument/2006/relationships/viewProps" Target="viewProps.xml"/><Relationship Id="rId9" Type="http://schemas.openxmlformats.org/officeDocument/2006/relationships/theme" Target="theme/theme1.xml"/><Relationship Id="rId1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Buenos días. Soy Jesús Ángel Novillo y presento mi Trabajo Fin de Máster del Máster en Desarrollo con IA de BIG school.
El proyecto se llama Intelligent Automotive Diagnostics: una herramienta que se conecta al coche por el puerto OBD-II, lee sus datos reales y razona sobre ellos con un modelo de lenguaje.
Lo de la derecha no es una maqueta: es la aplicación funcionando, mostrando tres averías que acaba de leer de la centralita.
[~15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Hoy llegas con una máquina de diagnosis, la conectas, y te da diez códigos de error. Cada uno te dice una cosa: válvula EGR obstruida, filtro de partículas lleno.
Vale. Pero esa válvula se ha obstruido por alguna circunstancia, y ese filtro se ha llenado por alguna circunstancia. Y eso la máquina no te lo dice.
Te deja la lista delante, y el trabajo de averiguar el porqué sigue entero por hacer.
[~45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¿Cuál es la gracia que tiene esta aplicación con la IA? Que con esos dos códigos y esos datos, el agente dice: vale, tengo el P0401, que es la válvula EGR obstruida, y el P2002, que es el filtro de partículas lleno. Voy a mirar a ver por qué puede ser esto.
Y hace una diagnosis: esto se produce, puede ser por esto o puede ser por lo otro. Le da al mecánico una serie de opciones.
Y además le dice qué pasos puede seguir para llegar a determinar de dónde viene el problema. Eso es lo que hace la aplicación.
[~55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¿Por qué Clean Architecture y hexagonal? Porque esto es una herramienta que va a seguir evolucionando, y lo que decide si una arquitectura es mejor o peor aquí es qué te cuesta cada cambio.
Ahora mismo funciona con SQLite, porque era lo más rápido para desarrollar el proyecto. Pero en un futuro tendrá que usar PostgreSQL. Si tuviera la lógica mezclada con el acceso a datos, ese cambio me obligaría a tocar media aplicación. Como está detrás de un puerto, se cambia el adaptador y ya está.
Y lo mismo con el resto: cambiar de proveedor de LLM, cambiar el framework web, o cambiar la forma de acceder al coche. El dominio y los casos de uso no se enteran.
La otra razón es que se testea sin levantar nada, porque los tests hablan con los puertos y no con la base de datos real.
Está todo escrito en el ADR-001, con sus contras: hay más ficheros que en un monolito, y la inyección manual del composition root crece con cada adaptador nuevo.
[~80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720840" y="-91440"/>
            <a:ext cx="5760720" cy="7040880"/>
          </a:xfrm>
          <a:prstGeom prst="rect">
            <a:avLst/>
          </a:prstGeom>
          <a:solidFill>
            <a:srgbClr val="1A1C2E"/>
          </a:solidFill>
          <a:ln/>
        </p:spPr>
      </p:sp>
      <p:sp>
        <p:nvSpPr>
          <p:cNvPr id="3" name="Shape 1"/>
          <p:cNvSpPr/>
          <p:nvPr/>
        </p:nvSpPr>
        <p:spPr>
          <a:xfrm>
            <a:off x="777240" y="685800"/>
            <a:ext cx="475488" cy="475488"/>
          </a:xfrm>
          <a:prstGeom prst="rect">
            <a:avLst/>
          </a:prstGeom>
          <a:solidFill>
            <a:srgbClr val="202CFC"/>
          </a:solidFill>
          <a:ln/>
        </p:spPr>
      </p:sp>
      <p:sp>
        <p:nvSpPr>
          <p:cNvPr id="4" name="Text 2"/>
          <p:cNvSpPr/>
          <p:nvPr/>
        </p:nvSpPr>
        <p:spPr>
          <a:xfrm>
            <a:off x="777240" y="685800"/>
            <a:ext cx="475488" cy="475488"/>
          </a:xfrm>
          <a:prstGeom prst="rect">
            <a:avLst/>
          </a:prstGeom>
          <a:noFill/>
          <a:ln/>
        </p:spPr>
        <p:txBody>
          <a:bodyPr wrap="square" lIns="0" tIns="0" rIns="0" bIns="0" rtlCol="0" anchor="ctr"/>
          <a:lstStyle/>
          <a:p>
            <a:pPr algn="ctr" indent="0" marL="0">
              <a:buNone/>
            </a:pPr>
            <a:r>
              <a:rPr lang="en-US" sz="1768" b="1" dirty="0">
                <a:solidFill>
                  <a:srgbClr val="FFFFFF"/>
                </a:solidFill>
                <a:latin typeface="Arial" pitchFamily="34" charset="0"/>
                <a:ea typeface="Arial" pitchFamily="34" charset="-122"/>
                <a:cs typeface="Arial" pitchFamily="34" charset="-120"/>
              </a:rPr>
              <a:t>BIG</a:t>
            </a:r>
            <a:endParaRPr lang="en-US" sz="1768" dirty="0"/>
          </a:p>
        </p:txBody>
      </p:sp>
      <p:sp>
        <p:nvSpPr>
          <p:cNvPr id="5" name="Text 3"/>
          <p:cNvSpPr/>
          <p:nvPr/>
        </p:nvSpPr>
        <p:spPr>
          <a:xfrm>
            <a:off x="1335024" y="685800"/>
            <a:ext cx="1426464" cy="475488"/>
          </a:xfrm>
          <a:prstGeom prst="rect">
            <a:avLst/>
          </a:prstGeom>
          <a:noFill/>
          <a:ln/>
        </p:spPr>
        <p:txBody>
          <a:bodyPr wrap="square" lIns="0" tIns="0" rIns="0" bIns="0" rtlCol="0" anchor="ctr"/>
          <a:lstStyle/>
          <a:p>
            <a:pPr algn="l" indent="0" marL="0">
              <a:buNone/>
            </a:pPr>
            <a:r>
              <a:rPr lang="en-US" sz="1768" dirty="0">
                <a:solidFill>
                  <a:srgbClr val="1A1C2E"/>
                </a:solidFill>
                <a:latin typeface="Arial" pitchFamily="34" charset="0"/>
                <a:ea typeface="Arial" pitchFamily="34" charset="-122"/>
                <a:cs typeface="Arial" pitchFamily="34" charset="-120"/>
              </a:rPr>
              <a:t>school</a:t>
            </a:r>
            <a:endParaRPr lang="en-US" sz="1768" dirty="0"/>
          </a:p>
        </p:txBody>
      </p:sp>
      <p:sp>
        <p:nvSpPr>
          <p:cNvPr id="6" name="Text 4"/>
          <p:cNvSpPr/>
          <p:nvPr/>
        </p:nvSpPr>
        <p:spPr>
          <a:xfrm>
            <a:off x="777240" y="2148840"/>
            <a:ext cx="5577840" cy="1737360"/>
          </a:xfrm>
          <a:prstGeom prst="rect">
            <a:avLst/>
          </a:prstGeom>
          <a:noFill/>
          <a:ln/>
        </p:spPr>
        <p:txBody>
          <a:bodyPr wrap="square" lIns="0" tIns="0" rIns="0" bIns="0" rtlCol="0" anchor="ctr"/>
          <a:lstStyle/>
          <a:p>
            <a:pPr indent="0" marL="0">
              <a:lnSpc>
                <a:spcPts val="4600"/>
              </a:lnSpc>
              <a:buNone/>
            </a:pPr>
            <a:r>
              <a:rPr lang="en-US" sz="4000" b="1" dirty="0">
                <a:solidFill>
                  <a:srgbClr val="1A1C2E"/>
                </a:solidFill>
                <a:latin typeface="Arial" pitchFamily="34" charset="0"/>
                <a:ea typeface="Arial" pitchFamily="34" charset="-122"/>
                <a:cs typeface="Arial" pitchFamily="34" charset="-120"/>
              </a:rPr>
              <a:t>Intelligent Automotive
</a:t>
            </a:r>
            <a:pPr indent="0" marL="0">
              <a:lnSpc>
                <a:spcPts val="4600"/>
              </a:lnSpc>
              <a:buNone/>
            </a:pPr>
            <a:r>
              <a:rPr lang="en-US" sz="4000" b="1" dirty="0">
                <a:solidFill>
                  <a:srgbClr val="202CFC"/>
                </a:solidFill>
                <a:latin typeface="Arial" pitchFamily="34" charset="0"/>
                <a:ea typeface="Arial" pitchFamily="34" charset="-122"/>
                <a:cs typeface="Arial" pitchFamily="34" charset="-120"/>
              </a:rPr>
              <a:t>Diagnostics</a:t>
            </a:r>
            <a:endParaRPr lang="en-US" sz="4000" dirty="0"/>
          </a:p>
        </p:txBody>
      </p:sp>
      <p:sp>
        <p:nvSpPr>
          <p:cNvPr id="7" name="Text 5"/>
          <p:cNvSpPr/>
          <p:nvPr/>
        </p:nvSpPr>
        <p:spPr>
          <a:xfrm>
            <a:off x="777240" y="3977640"/>
            <a:ext cx="5394960" cy="731520"/>
          </a:xfrm>
          <a:prstGeom prst="rect">
            <a:avLst/>
          </a:prstGeom>
          <a:noFill/>
          <a:ln/>
        </p:spPr>
        <p:txBody>
          <a:bodyPr wrap="square" lIns="0" tIns="0" rIns="0" bIns="0" rtlCol="0" anchor="ctr"/>
          <a:lstStyle/>
          <a:p>
            <a:pPr indent="0" marL="0">
              <a:lnSpc>
                <a:spcPts val="2200"/>
              </a:lnSpc>
              <a:buNone/>
            </a:pPr>
            <a:r>
              <a:rPr lang="en-US" sz="1600" dirty="0">
                <a:solidFill>
                  <a:srgbClr val="5A5F73"/>
                </a:solidFill>
                <a:latin typeface="Calibri" pitchFamily="34" charset="0"/>
                <a:ea typeface="Calibri" pitchFamily="34" charset="-122"/>
                <a:cs typeface="Calibri" pitchFamily="34" charset="-120"/>
              </a:rPr>
              <a:t>Diagnóstico OBD-II asistido por IA agéntica sobre el protocolo MCP</a:t>
            </a:r>
            <a:endParaRPr lang="en-US" sz="1600" dirty="0"/>
          </a:p>
        </p:txBody>
      </p:sp>
      <p:sp>
        <p:nvSpPr>
          <p:cNvPr id="8" name="Text 6"/>
          <p:cNvSpPr/>
          <p:nvPr/>
        </p:nvSpPr>
        <p:spPr>
          <a:xfrm>
            <a:off x="777240" y="5349240"/>
            <a:ext cx="5486400" cy="320040"/>
          </a:xfrm>
          <a:prstGeom prst="rect">
            <a:avLst/>
          </a:prstGeom>
          <a:noFill/>
          <a:ln/>
        </p:spPr>
        <p:txBody>
          <a:bodyPr wrap="square" lIns="0" tIns="0" rIns="0" bIns="0" rtlCol="0" anchor="ctr"/>
          <a:lstStyle/>
          <a:p>
            <a:pPr indent="0" marL="0">
              <a:buNone/>
            </a:pPr>
            <a:r>
              <a:rPr lang="en-US" sz="1500" b="1" dirty="0">
                <a:solidFill>
                  <a:srgbClr val="1A1C2E"/>
                </a:solidFill>
                <a:latin typeface="Arial" pitchFamily="34" charset="0"/>
                <a:ea typeface="Arial" pitchFamily="34" charset="-122"/>
                <a:cs typeface="Arial" pitchFamily="34" charset="-120"/>
              </a:rPr>
              <a:t>Jesús Ángel Novillo Lucas-Vaquero</a:t>
            </a:r>
            <a:endParaRPr lang="en-US" sz="1500" dirty="0"/>
          </a:p>
        </p:txBody>
      </p:sp>
      <p:sp>
        <p:nvSpPr>
          <p:cNvPr id="9" name="Text 7"/>
          <p:cNvSpPr/>
          <p:nvPr/>
        </p:nvSpPr>
        <p:spPr>
          <a:xfrm>
            <a:off x="777240" y="5687568"/>
            <a:ext cx="5486400" cy="32004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Trabajo Fin de Máster  ·  Máster en Desarrollo con IA  ·  BIG school</a:t>
            </a:r>
            <a:endParaRPr lang="en-US" sz="1200" dirty="0"/>
          </a:p>
        </p:txBody>
      </p:sp>
      <p:sp>
        <p:nvSpPr>
          <p:cNvPr id="10" name="Text 8"/>
          <p:cNvSpPr/>
          <p:nvPr/>
        </p:nvSpPr>
        <p:spPr>
          <a:xfrm>
            <a:off x="7114032" y="2148840"/>
            <a:ext cx="4663440" cy="274320"/>
          </a:xfrm>
          <a:prstGeom prst="rect">
            <a:avLst/>
          </a:prstGeom>
          <a:noFill/>
          <a:ln/>
        </p:spPr>
        <p:txBody>
          <a:bodyPr wrap="square" lIns="0" tIns="0" rIns="0" bIns="0" rtlCol="0" anchor="ctr"/>
          <a:lstStyle/>
          <a:p>
            <a:pPr indent="0" marL="0">
              <a:buNone/>
            </a:pPr>
            <a:r>
              <a:rPr lang="en-US" sz="1000" b="1" spc="200" kern="0" dirty="0">
                <a:solidFill>
                  <a:srgbClr val="FFFFFF"/>
                </a:solidFill>
                <a:latin typeface="Calibri" pitchFamily="34" charset="0"/>
                <a:ea typeface="Calibri" pitchFamily="34" charset="-122"/>
                <a:cs typeface="Calibri" pitchFamily="34" charset="-120"/>
              </a:rPr>
              <a:t>LA HERRAMIENTA, EN FUNCIONAMIENTO</a:t>
            </a:r>
            <a:endParaRPr lang="en-US" sz="1000" dirty="0"/>
          </a:p>
        </p:txBody>
      </p:sp>
      <p:pic>
        <p:nvPicPr>
          <p:cNvPr id="11" name="Image 0" descr="/home/user/intelligent-automotive-diagnostics/docs/presentacion/capturas/recortes/03-codigos-dtc.png">    </p:cNvPr>
          <p:cNvPicPr>
            <a:picLocks noChangeAspect="1"/>
          </p:cNvPicPr>
          <p:nvPr/>
        </p:nvPicPr>
        <p:blipFill>
          <a:blip r:embed="rId1"/>
          <a:stretch>
            <a:fillRect/>
          </a:stretch>
        </p:blipFill>
        <p:spPr>
          <a:xfrm>
            <a:off x="7114032" y="2697480"/>
            <a:ext cx="4654296" cy="1453896"/>
          </a:xfrm>
          <a:prstGeom prst="rect">
            <a:avLst/>
          </a:prstGeom>
          <a:effectLst>
            <a:outerShdw sx="100000" sy="100000" kx="0" ky="0" algn="bl" rotWithShape="0" blurRad="254000" dist="63500" dir="8100000">
              <a:srgbClr val="000000">
                <a:alpha val="50000"/>
              </a:srgbClr>
            </a:outerShdw>
          </a:effec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85800"/>
            <a:ext cx="10607040" cy="82296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Lo que te da la máquina</a:t>
            </a:r>
            <a:endParaRPr lang="en-US" sz="3400" dirty="0"/>
          </a:p>
        </p:txBody>
      </p:sp>
      <p:sp>
        <p:nvSpPr>
          <p:cNvPr id="3" name="Text 1"/>
          <p:cNvSpPr/>
          <p:nvPr/>
        </p:nvSpPr>
        <p:spPr>
          <a:xfrm>
            <a:off x="777240" y="201168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Te da</a:t>
            </a:r>
            <a:endParaRPr lang="en-US" sz="2000" dirty="0"/>
          </a:p>
        </p:txBody>
      </p:sp>
      <p:sp>
        <p:nvSpPr>
          <p:cNvPr id="4" name="Text 2"/>
          <p:cNvSpPr/>
          <p:nvPr/>
        </p:nvSpPr>
        <p:spPr>
          <a:xfrm>
            <a:off x="777240" y="2606040"/>
            <a:ext cx="4846320" cy="2377440"/>
          </a:xfrm>
          <a:prstGeom prst="rect">
            <a:avLst/>
          </a:prstGeom>
          <a:noFill/>
          <a:ln/>
        </p:spPr>
        <p:txBody>
          <a:bodyPr wrap="square" lIns="0" tIns="0" rIns="0" bIns="0" rtlCol="0" anchor="t"/>
          <a:lstStyle/>
          <a:p>
            <a:pPr marL="342900" indent="-342900">
              <a:lnSpc>
                <a:spcPts val="2200"/>
              </a:lnSpc>
              <a:spcAft>
                <a:spcPts val="1000"/>
              </a:spcAft>
              <a:buSzPct val="100000"/>
              <a:buChar char="•"/>
            </a:pPr>
            <a:r>
              <a:rPr lang="en-US" sz="1600" dirty="0">
                <a:solidFill>
                  <a:srgbClr val="1A1C2E"/>
                </a:solidFill>
                <a:latin typeface="Calibri" pitchFamily="34" charset="0"/>
                <a:ea typeface="Calibri" pitchFamily="34" charset="-122"/>
                <a:cs typeface="Calibri" pitchFamily="34" charset="-120"/>
              </a:rPr>
              <a:t>P0301   Fallo de encendido en el cilindro 1</a:t>
            </a:r>
            <a:endParaRPr lang="en-US" sz="1600" dirty="0"/>
          </a:p>
          <a:p>
            <a:pPr marL="342900" indent="-342900">
              <a:lnSpc>
                <a:spcPts val="2200"/>
              </a:lnSpc>
              <a:spcAft>
                <a:spcPts val="1000"/>
              </a:spcAft>
              <a:buSzPct val="100000"/>
              <a:buChar char="•"/>
            </a:pPr>
            <a:r>
              <a:rPr lang="en-US" sz="1600" dirty="0">
                <a:solidFill>
                  <a:srgbClr val="1A1C2E"/>
                </a:solidFill>
                <a:latin typeface="Calibri" pitchFamily="34" charset="0"/>
                <a:ea typeface="Calibri" pitchFamily="34" charset="-122"/>
                <a:cs typeface="Calibri" pitchFamily="34" charset="-120"/>
              </a:rPr>
              <a:t>P0401   Válvula EGR obstruida</a:t>
            </a:r>
            <a:endParaRPr lang="en-US" sz="1600" dirty="0"/>
          </a:p>
          <a:p>
            <a:pPr marL="342900" indent="-342900">
              <a:lnSpc>
                <a:spcPts val="2200"/>
              </a:lnSpc>
              <a:spcAft>
                <a:spcPts val="1000"/>
              </a:spcAft>
              <a:buSzPct val="100000"/>
              <a:buChar char="•"/>
            </a:pPr>
            <a:r>
              <a:rPr lang="en-US" sz="1600" dirty="0">
                <a:solidFill>
                  <a:srgbClr val="1A1C2E"/>
                </a:solidFill>
                <a:latin typeface="Calibri" pitchFamily="34" charset="0"/>
                <a:ea typeface="Calibri" pitchFamily="34" charset="-122"/>
                <a:cs typeface="Calibri" pitchFamily="34" charset="-120"/>
              </a:rPr>
              <a:t>P2002   Filtro de partículas lleno</a:t>
            </a:r>
            <a:endParaRPr lang="en-US" sz="1600" dirty="0"/>
          </a:p>
          <a:p>
            <a:pPr marL="342900" indent="-342900">
              <a:lnSpc>
                <a:spcPts val="2200"/>
              </a:lnSpc>
              <a:spcAft>
                <a:spcPts val="1000"/>
              </a:spcAft>
              <a:buSzPct val="100000"/>
              <a:buChar char="•"/>
            </a:pPr>
            <a:r>
              <a:rPr lang="en-US" sz="1600" dirty="0">
                <a:solidFill>
                  <a:srgbClr val="1A1C2E"/>
                </a:solidFill>
                <a:latin typeface="Calibri" pitchFamily="34" charset="0"/>
                <a:ea typeface="Calibri" pitchFamily="34" charset="-122"/>
                <a:cs typeface="Calibri" pitchFamily="34" charset="-120"/>
              </a:rPr>
              <a:t>Y así hasta diez</a:t>
            </a:r>
            <a:endParaRPr lang="en-US" sz="1600" dirty="0"/>
          </a:p>
        </p:txBody>
      </p:sp>
      <p:sp>
        <p:nvSpPr>
          <p:cNvPr id="5" name="Text 3"/>
          <p:cNvSpPr/>
          <p:nvPr/>
        </p:nvSpPr>
        <p:spPr>
          <a:xfrm>
            <a:off x="6537960" y="201168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No te da</a:t>
            </a:r>
            <a:endParaRPr lang="en-US" sz="2000" dirty="0"/>
          </a:p>
        </p:txBody>
      </p:sp>
      <p:sp>
        <p:nvSpPr>
          <p:cNvPr id="6" name="Text 4"/>
          <p:cNvSpPr/>
          <p:nvPr/>
        </p:nvSpPr>
        <p:spPr>
          <a:xfrm>
            <a:off x="6537960" y="2606040"/>
            <a:ext cx="4846320" cy="2377440"/>
          </a:xfrm>
          <a:prstGeom prst="rect">
            <a:avLst/>
          </a:prstGeom>
          <a:noFill/>
          <a:ln/>
        </p:spPr>
        <p:txBody>
          <a:bodyPr wrap="square" lIns="0" tIns="0" rIns="0" bIns="0" rtlCol="0" anchor="t"/>
          <a:lstStyle/>
          <a:p>
            <a:pPr marL="342900" indent="-342900">
              <a:lnSpc>
                <a:spcPts val="2200"/>
              </a:lnSpc>
              <a:spcAft>
                <a:spcPts val="1000"/>
              </a:spcAft>
              <a:buSzPct val="100000"/>
              <a:buChar char="•"/>
            </a:pPr>
            <a:r>
              <a:rPr lang="en-US" sz="1600" dirty="0">
                <a:solidFill>
                  <a:srgbClr val="1A1C2E"/>
                </a:solidFill>
                <a:latin typeface="Calibri" pitchFamily="34" charset="0"/>
                <a:ea typeface="Calibri" pitchFamily="34" charset="-122"/>
                <a:cs typeface="Calibri" pitchFamily="34" charset="-120"/>
              </a:rPr>
              <a:t>Por qué se ha obstruido la válvula</a:t>
            </a:r>
            <a:endParaRPr lang="en-US" sz="1600" dirty="0"/>
          </a:p>
          <a:p>
            <a:pPr marL="342900" indent="-342900">
              <a:lnSpc>
                <a:spcPts val="2200"/>
              </a:lnSpc>
              <a:spcAft>
                <a:spcPts val="1000"/>
              </a:spcAft>
              <a:buSzPct val="100000"/>
              <a:buChar char="•"/>
            </a:pPr>
            <a:r>
              <a:rPr lang="en-US" sz="1600" dirty="0">
                <a:solidFill>
                  <a:srgbClr val="1A1C2E"/>
                </a:solidFill>
                <a:latin typeface="Calibri" pitchFamily="34" charset="0"/>
                <a:ea typeface="Calibri" pitchFamily="34" charset="-122"/>
                <a:cs typeface="Calibri" pitchFamily="34" charset="-120"/>
              </a:rPr>
              <a:t>Por qué se ha llenado el filtro</a:t>
            </a:r>
            <a:endParaRPr lang="en-US" sz="1600" dirty="0"/>
          </a:p>
          <a:p>
            <a:pPr marL="342900" indent="-342900">
              <a:lnSpc>
                <a:spcPts val="2200"/>
              </a:lnSpc>
              <a:spcAft>
                <a:spcPts val="1000"/>
              </a:spcAft>
              <a:buSzPct val="100000"/>
              <a:buChar char="•"/>
            </a:pPr>
            <a:r>
              <a:rPr lang="en-US" sz="1600" dirty="0">
                <a:solidFill>
                  <a:srgbClr val="1A1C2E"/>
                </a:solidFill>
                <a:latin typeface="Calibri" pitchFamily="34" charset="0"/>
                <a:ea typeface="Calibri" pitchFamily="34" charset="-122"/>
                <a:cs typeface="Calibri" pitchFamily="34" charset="-120"/>
              </a:rPr>
              <a:t>Qué tiene que ver un código con otro</a:t>
            </a:r>
            <a:endParaRPr lang="en-US" sz="1600" dirty="0"/>
          </a:p>
          <a:p>
            <a:pPr marL="342900" indent="-342900">
              <a:lnSpc>
                <a:spcPts val="2200"/>
              </a:lnSpc>
              <a:spcAft>
                <a:spcPts val="1000"/>
              </a:spcAft>
              <a:buSzPct val="100000"/>
              <a:buChar char="•"/>
            </a:pPr>
            <a:r>
              <a:rPr lang="en-US" sz="1600" dirty="0">
                <a:solidFill>
                  <a:srgbClr val="1A1C2E"/>
                </a:solidFill>
                <a:latin typeface="Calibri" pitchFamily="34" charset="0"/>
                <a:ea typeface="Calibri" pitchFamily="34" charset="-122"/>
                <a:cs typeface="Calibri" pitchFamily="34" charset="-120"/>
              </a:rPr>
              <a:t>Por dónde empezar a mirar</a:t>
            </a:r>
            <a:endParaRPr lang="en-US" sz="1600" dirty="0"/>
          </a:p>
        </p:txBody>
      </p:sp>
      <p:sp>
        <p:nvSpPr>
          <p:cNvPr id="7" name="Shape 5"/>
          <p:cNvSpPr/>
          <p:nvPr/>
        </p:nvSpPr>
        <p:spPr>
          <a:xfrm>
            <a:off x="777240" y="6263640"/>
            <a:ext cx="219456" cy="219456"/>
          </a:xfrm>
          <a:prstGeom prst="rect">
            <a:avLst/>
          </a:prstGeom>
          <a:solidFill>
            <a:srgbClr val="202CFC"/>
          </a:solidFill>
          <a:ln/>
        </p:spPr>
      </p:sp>
      <p:sp>
        <p:nvSpPr>
          <p:cNvPr id="8" name="Text 6"/>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9" name="Text 7"/>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0" name="Text 8"/>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85800"/>
            <a:ext cx="10607040" cy="82296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Lo que hace la aplicación</a:t>
            </a:r>
            <a:endParaRPr lang="en-US" sz="3400" dirty="0"/>
          </a:p>
        </p:txBody>
      </p:sp>
      <p:sp>
        <p:nvSpPr>
          <p:cNvPr id="3" name="Text 1"/>
          <p:cNvSpPr/>
          <p:nvPr/>
        </p:nvSpPr>
        <p:spPr>
          <a:xfrm>
            <a:off x="777240" y="160020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Con esos mismos códigos y los datos del coche.</a:t>
            </a:r>
            <a:endParaRPr lang="en-US" sz="1700" dirty="0"/>
          </a:p>
        </p:txBody>
      </p:sp>
      <p:sp>
        <p:nvSpPr>
          <p:cNvPr id="4" name="Text 2"/>
          <p:cNvSpPr/>
          <p:nvPr/>
        </p:nvSpPr>
        <p:spPr>
          <a:xfrm>
            <a:off x="777240" y="2606040"/>
            <a:ext cx="10058400" cy="2377440"/>
          </a:xfrm>
          <a:prstGeom prst="rect">
            <a:avLst/>
          </a:prstGeom>
          <a:noFill/>
          <a:ln/>
        </p:spPr>
        <p:txBody>
          <a:bodyPr wrap="square" lIns="0" tIns="0" rIns="0" bIns="0" rtlCol="0" anchor="t"/>
          <a:lstStyle/>
          <a:p>
            <a:pPr marL="342900" indent="-342900">
              <a:lnSpc>
                <a:spcPts val="2800"/>
              </a:lnSpc>
              <a:spcAft>
                <a:spcPts val="2200"/>
              </a:spcAft>
              <a:buSzPct val="100000"/>
              <a:buChar char="•"/>
            </a:pPr>
            <a:r>
              <a:rPr lang="en-US" sz="2000" dirty="0">
                <a:solidFill>
                  <a:srgbClr val="1A1C2E"/>
                </a:solidFill>
                <a:latin typeface="Calibri" pitchFamily="34" charset="0"/>
                <a:ea typeface="Calibri" pitchFamily="34" charset="-122"/>
                <a:cs typeface="Calibri" pitchFamily="34" charset="-120"/>
              </a:rPr>
              <a:t>Investiga por qué puede estar pasando eso</a:t>
            </a:r>
            <a:endParaRPr lang="en-US" sz="2000" dirty="0"/>
          </a:p>
          <a:p>
            <a:pPr marL="342900" indent="-342900">
              <a:lnSpc>
                <a:spcPts val="2800"/>
              </a:lnSpc>
              <a:spcAft>
                <a:spcPts val="2200"/>
              </a:spcAft>
              <a:buSzPct val="100000"/>
              <a:buChar char="•"/>
            </a:pPr>
            <a:r>
              <a:rPr lang="en-US" sz="2000" dirty="0">
                <a:solidFill>
                  <a:srgbClr val="1A1C2E"/>
                </a:solidFill>
                <a:latin typeface="Calibri" pitchFamily="34" charset="0"/>
                <a:ea typeface="Calibri" pitchFamily="34" charset="-122"/>
                <a:cs typeface="Calibri" pitchFamily="34" charset="-120"/>
              </a:rPr>
              <a:t>Le da al mecánico una serie de opciones, no una sola causa</a:t>
            </a:r>
            <a:endParaRPr lang="en-US" sz="2000" dirty="0"/>
          </a:p>
          <a:p>
            <a:pPr marL="342900" indent="-342900">
              <a:lnSpc>
                <a:spcPts val="2800"/>
              </a:lnSpc>
              <a:spcAft>
                <a:spcPts val="2200"/>
              </a:spcAft>
              <a:buSzPct val="100000"/>
              <a:buChar char="•"/>
            </a:pPr>
            <a:r>
              <a:rPr lang="en-US" sz="2000" dirty="0">
                <a:solidFill>
                  <a:srgbClr val="1A1C2E"/>
                </a:solidFill>
                <a:latin typeface="Calibri" pitchFamily="34" charset="0"/>
                <a:ea typeface="Calibri" pitchFamily="34" charset="-122"/>
                <a:cs typeface="Calibri" pitchFamily="34" charset="-120"/>
              </a:rPr>
              <a:t>Y los pasos a seguir para determinar de dónde viene el problema</a:t>
            </a:r>
            <a:endParaRPr lang="en-US" sz="2000" dirty="0"/>
          </a:p>
        </p:txBody>
      </p:sp>
      <p:sp>
        <p:nvSpPr>
          <p:cNvPr id="5" name="Shape 3"/>
          <p:cNvSpPr/>
          <p:nvPr/>
        </p:nvSpPr>
        <p:spPr>
          <a:xfrm>
            <a:off x="777240" y="6263640"/>
            <a:ext cx="219456" cy="219456"/>
          </a:xfrm>
          <a:prstGeom prst="rect">
            <a:avLst/>
          </a:prstGeom>
          <a:solidFill>
            <a:srgbClr val="202CFC"/>
          </a:solidFill>
          <a:ln/>
        </p:spPr>
      </p:sp>
      <p:sp>
        <p:nvSpPr>
          <p:cNvPr id="6" name="Text 4"/>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7" name="Text 5"/>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8" name="Text 6"/>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85800"/>
            <a:ext cx="10607040" cy="82296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Por qué esta arquitectura</a:t>
            </a:r>
            <a:endParaRPr lang="en-US" sz="3400" dirty="0"/>
          </a:p>
        </p:txBody>
      </p:sp>
      <p:sp>
        <p:nvSpPr>
          <p:cNvPr id="3" name="Text 1"/>
          <p:cNvSpPr/>
          <p:nvPr/>
        </p:nvSpPr>
        <p:spPr>
          <a:xfrm>
            <a:off x="777240" y="160020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La herramienta va a seguir cambiando. La pregunta es qué cuesta cada cambio.</a:t>
            </a:r>
            <a:endParaRPr lang="en-US" sz="1700" dirty="0"/>
          </a:p>
        </p:txBody>
      </p:sp>
      <p:sp>
        <p:nvSpPr>
          <p:cNvPr id="4" name="Text 2"/>
          <p:cNvSpPr/>
          <p:nvPr/>
        </p:nvSpPr>
        <p:spPr>
          <a:xfrm>
            <a:off x="777240" y="2331720"/>
            <a:ext cx="4846320" cy="365760"/>
          </a:xfrm>
          <a:prstGeom prst="rect">
            <a:avLst/>
          </a:prstGeom>
          <a:noFill/>
          <a:ln/>
        </p:spPr>
        <p:txBody>
          <a:bodyPr wrap="square" lIns="0" tIns="0" rIns="0" bIns="0" rtlCol="0" anchor="t"/>
          <a:lstStyle/>
          <a:p>
            <a:pPr indent="0" marL="0">
              <a:buNone/>
            </a:pPr>
            <a:r>
              <a:rPr lang="en-US" sz="2000" b="1" dirty="0">
                <a:solidFill>
                  <a:srgbClr val="5A5F73"/>
                </a:solidFill>
                <a:latin typeface="Arial" pitchFamily="34" charset="0"/>
                <a:ea typeface="Arial" pitchFamily="34" charset="-122"/>
                <a:cs typeface="Arial" pitchFamily="34" charset="-120"/>
              </a:rPr>
              <a:t>Con todo junto</a:t>
            </a:r>
            <a:endParaRPr lang="en-US" sz="2000" dirty="0"/>
          </a:p>
        </p:txBody>
      </p:sp>
      <p:sp>
        <p:nvSpPr>
          <p:cNvPr id="5" name="Text 3"/>
          <p:cNvSpPr/>
          <p:nvPr/>
        </p:nvSpPr>
        <p:spPr>
          <a:xfrm>
            <a:off x="777240" y="2926080"/>
            <a:ext cx="4846320" cy="2560320"/>
          </a:xfrm>
          <a:prstGeom prst="rect">
            <a:avLst/>
          </a:prstGeom>
          <a:noFill/>
          <a:ln/>
        </p:spPr>
        <p:txBody>
          <a:bodyPr wrap="square" lIns="0" tIns="0" rIns="0" bIns="0" rtlCol="0" anchor="t"/>
          <a:lstStyle/>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Pasar de SQLite a PostgreSQL toca media aplicación</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Cambiar de proveedor de IA, lo mismo</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Cambiar el framework web, lo mismo</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Para testear hay que levantar servidor y base de datos</a:t>
            </a:r>
            <a:endParaRPr lang="en-US" sz="1600" dirty="0"/>
          </a:p>
        </p:txBody>
      </p:sp>
      <p:sp>
        <p:nvSpPr>
          <p:cNvPr id="6" name="Text 4"/>
          <p:cNvSpPr/>
          <p:nvPr/>
        </p:nvSpPr>
        <p:spPr>
          <a:xfrm>
            <a:off x="6537960" y="233172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Con puertos y adaptadores</a:t>
            </a:r>
            <a:endParaRPr lang="en-US" sz="2000" dirty="0"/>
          </a:p>
        </p:txBody>
      </p:sp>
      <p:sp>
        <p:nvSpPr>
          <p:cNvPr id="7" name="Text 5"/>
          <p:cNvSpPr/>
          <p:nvPr/>
        </p:nvSpPr>
        <p:spPr>
          <a:xfrm>
            <a:off x="6537960" y="2926080"/>
            <a:ext cx="4846320" cy="2560320"/>
          </a:xfrm>
          <a:prstGeom prst="rect">
            <a:avLst/>
          </a:prstGeom>
          <a:noFill/>
          <a:ln/>
        </p:spPr>
        <p:txBody>
          <a:bodyPr wrap="square" lIns="0" tIns="0" rIns="0" bIns="0" rtlCol="0" anchor="t"/>
          <a:lstStyle/>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Pasar de SQLite a PostgreSQL toca un adaptador</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Cambiar de proveedor de IA toca otro</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El framework web se cambia desde un solo punto</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Los tests corren contra el puerto, sin levantar nada</a:t>
            </a:r>
            <a:endParaRPr lang="en-US" sz="1600" dirty="0"/>
          </a:p>
        </p:txBody>
      </p:sp>
      <p:sp>
        <p:nvSpPr>
          <p:cNvPr id="8" name="Text 6"/>
          <p:cNvSpPr/>
          <p:nvPr/>
        </p:nvSpPr>
        <p:spPr>
          <a:xfrm>
            <a:off x="777240" y="5669280"/>
            <a:ext cx="10607040" cy="365760"/>
          </a:xfrm>
          <a:prstGeom prst="rect">
            <a:avLst/>
          </a:prstGeom>
          <a:noFill/>
          <a:ln/>
        </p:spPr>
        <p:txBody>
          <a:bodyPr wrap="square" lIns="0" tIns="0" rIns="0" bIns="0" rtlCol="0" anchor="ctr"/>
          <a:lstStyle/>
          <a:p>
            <a:pPr indent="0" marL="0">
              <a:buNone/>
            </a:pPr>
            <a:r>
              <a:rPr lang="en-US" sz="1500" dirty="0">
                <a:solidFill>
                  <a:srgbClr val="5A5F73"/>
                </a:solidFill>
                <a:latin typeface="Calibri" pitchFamily="34" charset="0"/>
                <a:ea typeface="Calibri" pitchFamily="34" charset="-122"/>
                <a:cs typeface="Calibri" pitchFamily="34" charset="-120"/>
              </a:rPr>
              <a:t>El dominio y los casos de uso no se enteran de ninguno de esos cambios.</a:t>
            </a:r>
            <a:endParaRPr lang="en-US" sz="1500" dirty="0"/>
          </a:p>
        </p:txBody>
      </p:sp>
      <p:sp>
        <p:nvSpPr>
          <p:cNvPr id="9" name="Shape 7"/>
          <p:cNvSpPr/>
          <p:nvPr/>
        </p:nvSpPr>
        <p:spPr>
          <a:xfrm>
            <a:off x="777240" y="6263640"/>
            <a:ext cx="219456" cy="219456"/>
          </a:xfrm>
          <a:prstGeom prst="rect">
            <a:avLst/>
          </a:prstGeom>
          <a:solidFill>
            <a:srgbClr val="202CFC"/>
          </a:solidFill>
          <a:ln/>
        </p:spPr>
      </p:sp>
      <p:sp>
        <p:nvSpPr>
          <p:cNvPr id="10" name="Text 8"/>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1" name="Text 9"/>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2" name="Text 10"/>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Slides>
  <Notes>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Slide 1</vt:lpstr>
      <vt:lpstr>Slide 2</vt:lpstr>
      <vt:lpstr>Slide 3</vt:lpstr>
      <vt:lpstr>Slide 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Intelligent Automotive Diagnostics — TFM</dc:title>
  <dc:subject>PptxGenJS Presentation</dc:subject>
  <dc:creator>Jesús Ángel Novillo Lucas-Vaquero</dc:creator>
  <cp:lastModifiedBy>Jesús Ángel Novillo Lucas-Vaquero</cp:lastModifiedBy>
  <cp:revision>1</cp:revision>
  <dcterms:created xsi:type="dcterms:W3CDTF">2026-08-25T10:23:19Z</dcterms:created>
  <dcterms:modified xsi:type="dcterms:W3CDTF">2026-08-25T10:23:19Z</dcterms:modified>
</cp:coreProperties>
</file>