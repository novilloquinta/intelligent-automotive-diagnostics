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tabla de seguridad. Uso el API Security Top 10 y no el Top 10 de aplicaciones web porque lo que este proyecto expone es una API REST: sus tres primeros riesgos son fallos de autorización a nivel de objeto, de propiedad y de función, que en la lista web ni siquiera aparecen como categorías propias.
No la voy a leer entera, pero quiero que se vea que las diez categorías están cubiertas con una medida concreta y no con una declaración de intenciones.
Destaco cuatro. La primera: cuando pides una sesión de diagnóstico que no es tuya, la API responde 404 y no 403, para no confirmar siquiera que existe.
La cuarta: los límites de peticiones no son uno global, van por familia. El diagnóstico cognitivo, que es el que cuesta dinero porque llama al modelo, tiene el más estricto, cinco por minuto.
La sexta es la que más me importa por lo que hay al otro lado: el borrado de códigos de avería es el único flujo destructivo sobre el coche, así que tiene su propio límite y se puede apagar entero con una variable de entorno. Y además el adaptador valida el modo OBD contra una lista blanca antes de tocar el socket, con un test de invariante que falla si alguien añade un método que emita un servicio de control.
Y la décima: todo lo que viene de fuera —la búsqueda web y los casos previos de otros talleres— llega al modelo etiquetado como material no fiable, y el system prompt le dice que eso es referencia y nunca una orden.
Los riesgos residuales están escritos y asumidos, no escondidos: los tokens en localStorage, la ausencia de MFA, la base sin cifrar en disco y los límites de peticiones en memoria.
[~60 s · acumulado 17:45]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19:25]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Verificaciones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OWASP API Top 10 2023</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backend es una API REST, así que la lista que aplica es la de APIs.</a:t>
            </a:r>
            <a:endParaRPr lang="en-US" sz="1700" dirty="0"/>
          </a:p>
        </p:txBody>
      </p:sp>
      <p:sp>
        <p:nvSpPr>
          <p:cNvPr id="4" name="Text 2"/>
          <p:cNvSpPr/>
          <p:nvPr/>
        </p:nvSpPr>
        <p:spPr>
          <a:xfrm>
            <a:off x="777240" y="208483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a:t>
            </a:r>
            <a:endParaRPr lang="en-US" sz="1100" dirty="0"/>
          </a:p>
        </p:txBody>
      </p:sp>
      <p:sp>
        <p:nvSpPr>
          <p:cNvPr id="5" name="Text 3"/>
          <p:cNvSpPr/>
          <p:nvPr/>
        </p:nvSpPr>
        <p:spPr>
          <a:xfrm>
            <a:off x="1508760" y="208483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API2</a:t>
            </a:r>
            <a:endParaRPr lang="en-US" sz="1100" dirty="0"/>
          </a:p>
        </p:txBody>
      </p:sp>
      <p:sp>
        <p:nvSpPr>
          <p:cNvPr id="8" name="Text 6"/>
          <p:cNvSpPr/>
          <p:nvPr/>
        </p:nvSpPr>
        <p:spPr>
          <a:xfrm>
            <a:off x="1508760" y="248716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rotación de refresh y bloqueo a los 5 fallos</a:t>
            </a:r>
            <a:endParaRPr lang="en-US" sz="1200" dirty="0"/>
          </a:p>
        </p:txBody>
      </p:sp>
      <p:sp>
        <p:nvSpPr>
          <p:cNvPr id="10" name="Text 8"/>
          <p:cNvSpPr/>
          <p:nvPr/>
        </p:nvSpPr>
        <p:spPr>
          <a:xfrm>
            <a:off x="777240" y="288950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API3</a:t>
            </a:r>
            <a:endParaRPr lang="en-US" sz="1100" dirty="0"/>
          </a:p>
        </p:txBody>
      </p:sp>
      <p:sp>
        <p:nvSpPr>
          <p:cNvPr id="11" name="Text 9"/>
          <p:cNvSpPr/>
          <p:nvPr/>
        </p:nvSpPr>
        <p:spPr>
          <a:xfrm>
            <a:off x="1508760" y="288950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API4</a:t>
            </a:r>
            <a:endParaRPr lang="en-US" sz="1100" dirty="0"/>
          </a:p>
        </p:txBody>
      </p:sp>
      <p:sp>
        <p:nvSpPr>
          <p:cNvPr id="14" name="Text 12"/>
          <p:cNvSpPr/>
          <p:nvPr/>
        </p:nvSpPr>
        <p:spPr>
          <a:xfrm>
            <a:off x="1508760" y="329184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login 5/min, diagnóstico 20/min, cognitivo 5/min</a:t>
            </a:r>
            <a:endParaRPr lang="en-US" sz="1200" dirty="0"/>
          </a:p>
        </p:txBody>
      </p:sp>
      <p:sp>
        <p:nvSpPr>
          <p:cNvPr id="16" name="Text 14"/>
          <p:cNvSpPr/>
          <p:nvPr/>
        </p:nvSpPr>
        <p:spPr>
          <a:xfrm>
            <a:off x="777240" y="369417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API5</a:t>
            </a:r>
            <a:endParaRPr lang="en-US" sz="1100" dirty="0"/>
          </a:p>
        </p:txBody>
      </p:sp>
      <p:sp>
        <p:nvSpPr>
          <p:cNvPr id="17" name="Text 15"/>
          <p:cNvSpPr/>
          <p:nvPr/>
        </p:nvSpPr>
        <p:spPr>
          <a:xfrm>
            <a:off x="1508760" y="369417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Todo /api autenticado; administración tras requireAdmin</a:t>
            </a:r>
            <a:endParaRPr lang="en-US" sz="1200" dirty="0"/>
          </a:p>
        </p:txBody>
      </p:sp>
      <p:sp>
        <p:nvSpPr>
          <p:cNvPr id="19" name="Text 17"/>
          <p:cNvSpPr/>
          <p:nvPr/>
        </p:nvSpPr>
        <p:spPr>
          <a:xfrm>
            <a:off x="777240" y="409651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API6</a:t>
            </a:r>
            <a:endParaRPr lang="en-US" sz="1100" dirty="0"/>
          </a:p>
        </p:txBody>
      </p:sp>
      <p:sp>
        <p:nvSpPr>
          <p:cNvPr id="20" name="Text 18"/>
          <p:cNvSpPr/>
          <p:nvPr/>
        </p:nvSpPr>
        <p:spPr>
          <a:xfrm>
            <a:off x="1508760" y="409651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 por entorno</a:t>
            </a:r>
            <a:endParaRPr lang="en-US" sz="1200" dirty="0"/>
          </a:p>
        </p:txBody>
      </p:sp>
      <p:sp>
        <p:nvSpPr>
          <p:cNvPr id="22" name="Text 20"/>
          <p:cNvSpPr/>
          <p:nvPr/>
        </p:nvSpPr>
        <p:spPr>
          <a:xfrm>
            <a:off x="777240" y="449884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API7</a:t>
            </a:r>
            <a:endParaRPr lang="en-US" sz="1100" dirty="0"/>
          </a:p>
        </p:txBody>
      </p:sp>
      <p:sp>
        <p:nvSpPr>
          <p:cNvPr id="23" name="Text 21"/>
          <p:cNvSpPr/>
          <p:nvPr/>
        </p:nvSpPr>
        <p:spPr>
          <a:xfrm>
            <a:off x="1508760" y="449884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El usuario no controla ninguna URL de salida</a:t>
            </a:r>
            <a:endParaRPr lang="en-US" sz="1200" dirty="0"/>
          </a:p>
        </p:txBody>
      </p:sp>
      <p:sp>
        <p:nvSpPr>
          <p:cNvPr id="25" name="Text 23"/>
          <p:cNvSpPr/>
          <p:nvPr/>
        </p:nvSpPr>
        <p:spPr>
          <a:xfrm>
            <a:off x="777240" y="490118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API8</a:t>
            </a:r>
            <a:endParaRPr lang="en-US" sz="1100" dirty="0"/>
          </a:p>
        </p:txBody>
      </p:sp>
      <p:sp>
        <p:nvSpPr>
          <p:cNvPr id="26" name="Text 24"/>
          <p:cNvSpPr/>
          <p:nvPr/>
        </p:nvSpPr>
        <p:spPr>
          <a:xfrm>
            <a:off x="1508760" y="490118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8: CSP, HSTS de un año y allowlist de CORS</a:t>
            </a:r>
            <a:endParaRPr lang="en-US" sz="1200" dirty="0"/>
          </a:p>
        </p:txBody>
      </p:sp>
      <p:sp>
        <p:nvSpPr>
          <p:cNvPr id="28" name="Text 26"/>
          <p:cNvSpPr/>
          <p:nvPr/>
        </p:nvSpPr>
        <p:spPr>
          <a:xfrm>
            <a:off x="777240" y="530352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API9</a:t>
            </a:r>
            <a:endParaRPr lang="en-US" sz="1100" dirty="0"/>
          </a:p>
        </p:txBody>
      </p:sp>
      <p:sp>
        <p:nvSpPr>
          <p:cNvPr id="29" name="Text 27"/>
          <p:cNvSpPr/>
          <p:nvPr/>
        </p:nvSpPr>
        <p:spPr>
          <a:xfrm>
            <a:off x="1508760" y="530352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API</a:t>
            </a:r>
            <a:endParaRPr lang="en-US" sz="1200" dirty="0"/>
          </a:p>
        </p:txBody>
      </p:sp>
      <p:sp>
        <p:nvSpPr>
          <p:cNvPr id="31" name="Text 29"/>
          <p:cNvSpPr/>
          <p:nvPr/>
        </p:nvSpPr>
        <p:spPr>
          <a:xfrm>
            <a:off x="777240" y="570585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API10</a:t>
            </a:r>
            <a:endParaRPr lang="en-US" sz="1100" dirty="0"/>
          </a:p>
        </p:txBody>
      </p:sp>
      <p:sp>
        <p:nvSpPr>
          <p:cNvPr id="32" name="Text 30"/>
          <p:cNvSpPr/>
          <p:nvPr/>
        </p:nvSpPr>
        <p:spPr>
          <a:xfrm>
            <a:off x="1508760" y="570585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Todo automatizado en GitHub Actions: integrar en main publica la nueva versión en producción.</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build y typecheck</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el servidor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la nueva versión</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compilación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la entrega ante una vulnerabilidad crítica</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dispara al integrar en main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en el registro de contenedores de GitHub</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las descarga y levanta la nueva versión, sin intervención manual</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2026-08-26T10:33:01Z</dcterms:created>
  <dcterms:modified xsi:type="dcterms:W3CDTF">2026-08-26T10:33:01Z</dcterms:modified>
</cp:coreProperties>
</file>