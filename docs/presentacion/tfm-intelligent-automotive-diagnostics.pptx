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y son tres colecciones.
La primera son PIDs propietarios. Cada fabricante se inventa los suyos fuera de la norma, y es imposible traerlos todos precargados: cuando el agente descubre uno, lo guarda con su fórmula. La segunda son DTCs específicos de un fabricante, los que no están en el estándar. Y la tercera son casos resueltos: los síntomas, los PIDs que estaban implicados y cómo acabó.
Cada entrada es un texto que se convierte en vector, y lleva pegados el fabricante y el modelo para poder filtrar. Si estoy con un Audi, no quiero que me salgan casos de una Kawasaki.
Y lo importante: cada dato lleva de dónde salió, porque no todas las fuentes valen igual. Si lo encontró el agente buscando en internet, entra con 0,3. Si viene de un diagnóstico anterior, con 0,5. Si lo aportó el mecánico a mano, con 0,8, porque una persona que está delante del coche sabe más que una web. Y si se ha leído del propio coche por OBD, es un hecho: 1,0.
Además, validar contra el coche sube lo de la web a 0,7 y lo del mecánico a 0,9.
Para eso sirve todo esto: para que el agente sepa de qué fiarse cuando le llegan dos respuestas que se contradicen.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700" dirty="0"/>
          </a:p>
        </p:txBody>
      </p:sp>
      <p:sp>
        <p:nvSpPr>
          <p:cNvPr id="4" name="Text 2"/>
          <p:cNvSpPr/>
          <p:nvPr/>
        </p:nvSpPr>
        <p:spPr>
          <a:xfrm>
            <a:off x="777240" y="219456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Tres colecciones</a:t>
            </a:r>
            <a:endParaRPr lang="en-US" sz="1900" dirty="0"/>
          </a:p>
        </p:txBody>
      </p:sp>
      <p:sp>
        <p:nvSpPr>
          <p:cNvPr id="5" name="Text 3"/>
          <p:cNvSpPr/>
          <p:nvPr/>
        </p:nvSpPr>
        <p:spPr>
          <a:xfrm>
            <a:off x="777240" y="2743200"/>
            <a:ext cx="4846320" cy="265176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DTCs específicos de un fabricante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Casos resueltos: síntomas, PIDs implicados y solución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entrada es un texto vectorizado, más fabricante y modelo para filtrar</a:t>
            </a:r>
            <a:endParaRPr lang="en-US" sz="1500" dirty="0"/>
          </a:p>
        </p:txBody>
      </p:sp>
      <p:sp>
        <p:nvSpPr>
          <p:cNvPr id="6" name="Text 4"/>
          <p:cNvSpPr/>
          <p:nvPr/>
        </p:nvSpPr>
        <p:spPr>
          <a:xfrm>
            <a:off x="6537960" y="219456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Cada dato lleva de dónde salió</a:t>
            </a:r>
            <a:endParaRPr lang="en-US" sz="1900" dirty="0"/>
          </a:p>
        </p:txBody>
      </p:sp>
      <p:sp>
        <p:nvSpPr>
          <p:cNvPr id="7" name="Text 5"/>
          <p:cNvSpPr/>
          <p:nvPr/>
        </p:nvSpPr>
        <p:spPr>
          <a:xfrm>
            <a:off x="6537960" y="2788920"/>
            <a:ext cx="685800" cy="347472"/>
          </a:xfrm>
          <a:prstGeom prst="rect">
            <a:avLst/>
          </a:prstGeom>
          <a:noFill/>
          <a:ln/>
        </p:spPr>
        <p:txBody>
          <a:bodyPr wrap="square" lIns="0" tIns="0" rIns="0" bIns="0" rtlCol="0" anchor="ctr"/>
          <a:lstStyle/>
          <a:p>
            <a:pPr indent="0" marL="0">
              <a:buNone/>
            </a:pPr>
            <a:r>
              <a:rPr lang="en-US" sz="1800" b="1" dirty="0">
                <a:solidFill>
                  <a:srgbClr val="1A1C2E"/>
                </a:solidFill>
                <a:latin typeface="Arial" pitchFamily="34" charset="0"/>
                <a:ea typeface="Arial" pitchFamily="34" charset="-122"/>
                <a:cs typeface="Arial" pitchFamily="34" charset="-120"/>
              </a:rPr>
              <a:t>0,3</a:t>
            </a:r>
            <a:endParaRPr lang="en-US" sz="1800" dirty="0"/>
          </a:p>
        </p:txBody>
      </p:sp>
      <p:sp>
        <p:nvSpPr>
          <p:cNvPr id="8" name="Text 6"/>
          <p:cNvSpPr/>
          <p:nvPr/>
        </p:nvSpPr>
        <p:spPr>
          <a:xfrm>
            <a:off x="7315200" y="278892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lo encontró el agente en internet</a:t>
            </a:r>
            <a:endParaRPr lang="en-US" sz="1500" dirty="0"/>
          </a:p>
        </p:txBody>
      </p:sp>
      <p:sp>
        <p:nvSpPr>
          <p:cNvPr id="9" name="Text 7"/>
          <p:cNvSpPr/>
          <p:nvPr/>
        </p:nvSpPr>
        <p:spPr>
          <a:xfrm>
            <a:off x="6537960" y="3264408"/>
            <a:ext cx="685800" cy="347472"/>
          </a:xfrm>
          <a:prstGeom prst="rect">
            <a:avLst/>
          </a:prstGeom>
          <a:noFill/>
          <a:ln/>
        </p:spPr>
        <p:txBody>
          <a:bodyPr wrap="square" lIns="0" tIns="0" rIns="0" bIns="0" rtlCol="0" anchor="ctr"/>
          <a:lstStyle/>
          <a:p>
            <a:pPr indent="0" marL="0">
              <a:buNone/>
            </a:pPr>
            <a:r>
              <a:rPr lang="en-US" sz="1800" b="1" dirty="0">
                <a:solidFill>
                  <a:srgbClr val="1A1C2E"/>
                </a:solidFill>
                <a:latin typeface="Arial" pitchFamily="34" charset="0"/>
                <a:ea typeface="Arial" pitchFamily="34" charset="-122"/>
                <a:cs typeface="Arial" pitchFamily="34" charset="-120"/>
              </a:rPr>
              <a:t>0,5</a:t>
            </a:r>
            <a:endParaRPr lang="en-US" sz="1800" dirty="0"/>
          </a:p>
        </p:txBody>
      </p:sp>
      <p:sp>
        <p:nvSpPr>
          <p:cNvPr id="10" name="Text 8"/>
          <p:cNvSpPr/>
          <p:nvPr/>
        </p:nvSpPr>
        <p:spPr>
          <a:xfrm>
            <a:off x="7315200" y="326440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viene de un diagnóstico anterior</a:t>
            </a:r>
            <a:endParaRPr lang="en-US" sz="1500" dirty="0"/>
          </a:p>
        </p:txBody>
      </p:sp>
      <p:sp>
        <p:nvSpPr>
          <p:cNvPr id="11" name="Text 9"/>
          <p:cNvSpPr/>
          <p:nvPr/>
        </p:nvSpPr>
        <p:spPr>
          <a:xfrm>
            <a:off x="6537960" y="3739896"/>
            <a:ext cx="685800" cy="347472"/>
          </a:xfrm>
          <a:prstGeom prst="rect">
            <a:avLst/>
          </a:prstGeom>
          <a:noFill/>
          <a:ln/>
        </p:spPr>
        <p:txBody>
          <a:bodyPr wrap="square" lIns="0" tIns="0" rIns="0" bIns="0" rtlCol="0" anchor="ctr"/>
          <a:lstStyle/>
          <a:p>
            <a:pPr indent="0" marL="0">
              <a:buNone/>
            </a:pPr>
            <a:r>
              <a:rPr lang="en-US" sz="1800" b="1" dirty="0">
                <a:solidFill>
                  <a:srgbClr val="1A1C2E"/>
                </a:solidFill>
                <a:latin typeface="Arial" pitchFamily="34" charset="0"/>
                <a:ea typeface="Arial" pitchFamily="34" charset="-122"/>
                <a:cs typeface="Arial" pitchFamily="34" charset="-120"/>
              </a:rPr>
              <a:t>0,8</a:t>
            </a:r>
            <a:endParaRPr lang="en-US" sz="1800" dirty="0"/>
          </a:p>
        </p:txBody>
      </p:sp>
      <p:sp>
        <p:nvSpPr>
          <p:cNvPr id="12" name="Text 10"/>
          <p:cNvSpPr/>
          <p:nvPr/>
        </p:nvSpPr>
        <p:spPr>
          <a:xfrm>
            <a:off x="7315200" y="373989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lo aportó el mecánico a mano</a:t>
            </a:r>
            <a:endParaRPr lang="en-US" sz="1500" dirty="0"/>
          </a:p>
        </p:txBody>
      </p:sp>
      <p:sp>
        <p:nvSpPr>
          <p:cNvPr id="13" name="Text 11"/>
          <p:cNvSpPr/>
          <p:nvPr/>
        </p:nvSpPr>
        <p:spPr>
          <a:xfrm>
            <a:off x="6537960" y="4215384"/>
            <a:ext cx="685800" cy="347472"/>
          </a:xfrm>
          <a:prstGeom prst="rect">
            <a:avLst/>
          </a:prstGeom>
          <a:noFill/>
          <a:ln/>
        </p:spPr>
        <p:txBody>
          <a:bodyPr wrap="square" lIns="0" tIns="0" rIns="0" bIns="0" rtlCol="0" anchor="ctr"/>
          <a:lstStyle/>
          <a:p>
            <a:pPr indent="0" marL="0">
              <a:buNone/>
            </a:pPr>
            <a:r>
              <a:rPr lang="en-US" sz="1800" b="1" dirty="0">
                <a:solidFill>
                  <a:srgbClr val="1A1C2E"/>
                </a:solidFill>
                <a:latin typeface="Arial" pitchFamily="34" charset="0"/>
                <a:ea typeface="Arial" pitchFamily="34" charset="-122"/>
                <a:cs typeface="Arial" pitchFamily="34" charset="-120"/>
              </a:rPr>
              <a:t>1,0</a:t>
            </a:r>
            <a:endParaRPr lang="en-US" sz="1800" dirty="0"/>
          </a:p>
        </p:txBody>
      </p:sp>
      <p:sp>
        <p:nvSpPr>
          <p:cNvPr id="14" name="Text 12"/>
          <p:cNvSpPr/>
          <p:nvPr/>
        </p:nvSpPr>
        <p:spPr>
          <a:xfrm>
            <a:off x="7315200" y="4215384"/>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se ha leído del coche por OBD</a:t>
            </a:r>
            <a:endParaRPr lang="en-US" sz="1500" dirty="0"/>
          </a:p>
        </p:txBody>
      </p:sp>
      <p:sp>
        <p:nvSpPr>
          <p:cNvPr id="15" name="Text 13"/>
          <p:cNvSpPr/>
          <p:nvPr/>
        </p:nvSpPr>
        <p:spPr>
          <a:xfrm>
            <a:off x="6537960" y="4846320"/>
            <a:ext cx="4846320" cy="36576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400" dirty="0"/>
          </a:p>
        </p:txBody>
      </p:sp>
      <p:sp>
        <p:nvSpPr>
          <p:cNvPr id="16" name="Text 14"/>
          <p:cNvSpPr/>
          <p:nvPr/>
        </p:nvSpPr>
        <p:spPr>
          <a:xfrm>
            <a:off x="777240" y="56235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Así el agente sabe de qué fiarse: lo que dijo un mecánico pesa más que lo que encontró en una web.</a:t>
            </a:r>
            <a:endParaRPr lang="en-US" sz="15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2026-08-25T12:21:18Z</dcterms:created>
  <dcterms:modified xsi:type="dcterms:W3CDTF">2026-08-25T12:21:18Z</dcterms:modified>
</cp:coreProperties>
</file>