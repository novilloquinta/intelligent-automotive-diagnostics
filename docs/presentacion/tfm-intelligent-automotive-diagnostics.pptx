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el dato que ya se conoce y que es seguro: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Hay dieciséis herramientas. Siete son de diagnóstico: leer el bastidor, leer un PID, pedir los códigos de avería, el freeze frame o la información de las centralitas. Ocho son de conocimiento, y son las que hablan con la base vectorial: buscar casos parecidos e indexar lo que se aprende. Y una es de búsqueda web, que lleva un presupuesto limitado por diagnóstico para que el agente no se vaya a internet sin control.
¿Por qué MCP y no montarme yo las llamadas a medida? Por tres razones. Primero, es un protocolo: el mismo servidor sirve a cualquier cliente que lo hable, no solo al mío. Segundo, cada herramienta declara su esquema, así que los argumentos que manda el modelo se validan antes de ejecutar nada. Y tercero, el servidor MCP vive en la capa de infraestructura: es un adaptador más. El modelo nunca ve el dominio, ve herramientas.
La consecuencia es la de siempre: si mañana cambio de modelo, las herramientas no se tocan.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16 herramientas</a:t>
            </a:r>
            <a:endParaRPr lang="en-US" sz="2000" dirty="0"/>
          </a:p>
        </p:txBody>
      </p:sp>
      <p:sp>
        <p:nvSpPr>
          <p:cNvPr id="5" name="Text 3"/>
          <p:cNvSpPr/>
          <p:nvPr/>
        </p:nvSpPr>
        <p:spPr>
          <a:xfrm>
            <a:off x="777240" y="2788920"/>
            <a:ext cx="548640" cy="365760"/>
          </a:xfrm>
          <a:prstGeom prst="rect">
            <a:avLst/>
          </a:prstGeom>
          <a:noFill/>
          <a:ln/>
        </p:spPr>
        <p:txBody>
          <a:bodyPr wrap="square" lIns="0" tIns="0" rIns="0" bIns="0" rtlCol="0" anchor="t"/>
          <a:lstStyle/>
          <a:p>
            <a:pPr indent="0" marL="0">
              <a:buNone/>
            </a:pPr>
            <a:r>
              <a:rPr lang="en-US" sz="2000" b="1" dirty="0">
                <a:solidFill>
                  <a:srgbClr val="1A1C2E"/>
                </a:solidFill>
                <a:latin typeface="Arial" pitchFamily="34" charset="0"/>
                <a:ea typeface="Arial" pitchFamily="34" charset="-122"/>
                <a:cs typeface="Arial" pitchFamily="34" charset="-120"/>
              </a:rPr>
              <a:t>7</a:t>
            </a:r>
            <a:endParaRPr lang="en-US" sz="2000" dirty="0"/>
          </a:p>
        </p:txBody>
      </p:sp>
      <p:sp>
        <p:nvSpPr>
          <p:cNvPr id="6" name="Text 4"/>
          <p:cNvSpPr/>
          <p:nvPr/>
        </p:nvSpPr>
        <p:spPr>
          <a:xfrm>
            <a:off x="1417320" y="2788920"/>
            <a:ext cx="4206240" cy="731520"/>
          </a:xfrm>
          <a:prstGeom prst="rect">
            <a:avLst/>
          </a:prstGeom>
          <a:noFill/>
          <a:ln/>
        </p:spPr>
        <p:txBody>
          <a:bodyPr wrap="square" lIns="0" tIns="0" rIns="0" bIns="0" rtlCol="0" anchor="t"/>
          <a:lstStyle/>
          <a:p>
            <a:pPr indent="0" marL="0">
              <a:lnSpc>
                <a:spcPts val="2100"/>
              </a:lnSpc>
              <a:buNone/>
            </a:pPr>
            <a:r>
              <a:rPr lang="en-US" sz="1500" dirty="0">
                <a:solidFill>
                  <a:srgbClr val="1A1C2E"/>
                </a:solidFill>
                <a:latin typeface="Calibri" pitchFamily="34" charset="0"/>
                <a:ea typeface="Calibri" pitchFamily="34" charset="-122"/>
                <a:cs typeface="Calibri" pitchFamily="34" charset="-120"/>
              </a:rPr>
              <a:t>de diagnóstico: leer el VIN, un PID, los DTCs, el freeze frame, las ECUs</a:t>
            </a:r>
            <a:endParaRPr lang="en-US" sz="1500" dirty="0"/>
          </a:p>
        </p:txBody>
      </p:sp>
      <p:sp>
        <p:nvSpPr>
          <p:cNvPr id="7" name="Text 5"/>
          <p:cNvSpPr/>
          <p:nvPr/>
        </p:nvSpPr>
        <p:spPr>
          <a:xfrm>
            <a:off x="777240" y="3566160"/>
            <a:ext cx="548640" cy="365760"/>
          </a:xfrm>
          <a:prstGeom prst="rect">
            <a:avLst/>
          </a:prstGeom>
          <a:noFill/>
          <a:ln/>
        </p:spPr>
        <p:txBody>
          <a:bodyPr wrap="square" lIns="0" tIns="0" rIns="0" bIns="0" rtlCol="0" anchor="t"/>
          <a:lstStyle/>
          <a:p>
            <a:pPr indent="0" marL="0">
              <a:buNone/>
            </a:pPr>
            <a:r>
              <a:rPr lang="en-US" sz="2000" b="1" dirty="0">
                <a:solidFill>
                  <a:srgbClr val="1A1C2E"/>
                </a:solidFill>
                <a:latin typeface="Arial" pitchFamily="34" charset="0"/>
                <a:ea typeface="Arial" pitchFamily="34" charset="-122"/>
                <a:cs typeface="Arial" pitchFamily="34" charset="-120"/>
              </a:rPr>
              <a:t>8</a:t>
            </a:r>
            <a:endParaRPr lang="en-US" sz="2000" dirty="0"/>
          </a:p>
        </p:txBody>
      </p:sp>
      <p:sp>
        <p:nvSpPr>
          <p:cNvPr id="8" name="Text 6"/>
          <p:cNvSpPr/>
          <p:nvPr/>
        </p:nvSpPr>
        <p:spPr>
          <a:xfrm>
            <a:off x="1417320" y="3566160"/>
            <a:ext cx="4206240" cy="731520"/>
          </a:xfrm>
          <a:prstGeom prst="rect">
            <a:avLst/>
          </a:prstGeom>
          <a:noFill/>
          <a:ln/>
        </p:spPr>
        <p:txBody>
          <a:bodyPr wrap="square" lIns="0" tIns="0" rIns="0" bIns="0" rtlCol="0" anchor="t"/>
          <a:lstStyle/>
          <a:p>
            <a:pPr indent="0" marL="0">
              <a:lnSpc>
                <a:spcPts val="2100"/>
              </a:lnSpc>
              <a:buNone/>
            </a:pPr>
            <a:r>
              <a:rPr lang="en-US" sz="1500" dirty="0">
                <a:solidFill>
                  <a:srgbClr val="1A1C2E"/>
                </a:solidFill>
                <a:latin typeface="Calibri" pitchFamily="34" charset="0"/>
                <a:ea typeface="Calibri" pitchFamily="34" charset="-122"/>
                <a:cs typeface="Calibri" pitchFamily="34" charset="-120"/>
              </a:rPr>
              <a:t>de conocimiento: buscar parecidos e indexar lo aprendido</a:t>
            </a:r>
            <a:endParaRPr lang="en-US" sz="1500" dirty="0"/>
          </a:p>
        </p:txBody>
      </p:sp>
      <p:sp>
        <p:nvSpPr>
          <p:cNvPr id="9" name="Text 7"/>
          <p:cNvSpPr/>
          <p:nvPr/>
        </p:nvSpPr>
        <p:spPr>
          <a:xfrm>
            <a:off x="777240" y="4343400"/>
            <a:ext cx="548640" cy="365760"/>
          </a:xfrm>
          <a:prstGeom prst="rect">
            <a:avLst/>
          </a:prstGeom>
          <a:noFill/>
          <a:ln/>
        </p:spPr>
        <p:txBody>
          <a:bodyPr wrap="square" lIns="0" tIns="0" rIns="0" bIns="0" rtlCol="0" anchor="t"/>
          <a:lstStyle/>
          <a:p>
            <a:pPr indent="0" marL="0">
              <a:buNone/>
            </a:pPr>
            <a:r>
              <a:rPr lang="en-US" sz="2000" b="1" dirty="0">
                <a:solidFill>
                  <a:srgbClr val="1A1C2E"/>
                </a:solidFill>
                <a:latin typeface="Arial" pitchFamily="34" charset="0"/>
                <a:ea typeface="Arial" pitchFamily="34" charset="-122"/>
                <a:cs typeface="Arial" pitchFamily="34" charset="-120"/>
              </a:rPr>
              <a:t>1</a:t>
            </a:r>
            <a:endParaRPr lang="en-US" sz="2000" dirty="0"/>
          </a:p>
        </p:txBody>
      </p:sp>
      <p:sp>
        <p:nvSpPr>
          <p:cNvPr id="10" name="Text 8"/>
          <p:cNvSpPr/>
          <p:nvPr/>
        </p:nvSpPr>
        <p:spPr>
          <a:xfrm>
            <a:off x="1417320" y="4343400"/>
            <a:ext cx="4206240" cy="731520"/>
          </a:xfrm>
          <a:prstGeom prst="rect">
            <a:avLst/>
          </a:prstGeom>
          <a:noFill/>
          <a:ln/>
        </p:spPr>
        <p:txBody>
          <a:bodyPr wrap="square" lIns="0" tIns="0" rIns="0" bIns="0" rtlCol="0" anchor="t"/>
          <a:lstStyle/>
          <a:p>
            <a:pPr indent="0" marL="0">
              <a:lnSpc>
                <a:spcPts val="2100"/>
              </a:lnSpc>
              <a:buNone/>
            </a:pPr>
            <a:r>
              <a:rPr lang="en-US" sz="1500" dirty="0">
                <a:solidFill>
                  <a:srgbClr val="1A1C2E"/>
                </a:solidFill>
                <a:latin typeface="Calibri" pitchFamily="34" charset="0"/>
                <a:ea typeface="Calibri" pitchFamily="34" charset="-122"/>
                <a:cs typeface="Calibri" pitchFamily="34" charset="-120"/>
              </a:rPr>
              <a:t>de búsqueda web, con presupuesto limitado por diagnóstico</a:t>
            </a:r>
            <a:endParaRPr lang="en-US" sz="1500" dirty="0"/>
          </a:p>
        </p:txBody>
      </p:sp>
      <p:sp>
        <p:nvSpPr>
          <p:cNvPr id="11" name="Text 9"/>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Por qué MCP y no llamadas a medida</a:t>
            </a:r>
            <a:endParaRPr lang="en-US" sz="2000" dirty="0"/>
          </a:p>
        </p:txBody>
      </p:sp>
      <p:sp>
        <p:nvSpPr>
          <p:cNvPr id="12" name="Text 10"/>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un protocolo: el mismo servidor sirve a cualquier cliente que lo hable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 mañana cambio de modelo, las herramientas no se tocan</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2026-08-25T19:08:27Z</dcterms:created>
  <dcterms:modified xsi:type="dcterms:W3CDTF">2026-08-25T19:08:27Z</dcterms:modified>
</cp:coreProperties>
</file>