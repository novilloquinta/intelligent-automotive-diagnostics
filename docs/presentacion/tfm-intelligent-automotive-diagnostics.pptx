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Buenos días. Soy Jesús Ángel Novillo y presento mi Trabajo Fin de Máster del Máster en Desarrollo con IA de BIG school.
El proyecto se llama Intelligent Automotive Diagnostics: una herramienta que se conecta al coche por el puerto OBD-II, lee sus datos reales y razona sobre ellos con un modelo de lenguaje.
Lo de la derecha no es una maqueta: es la aplicación funcionando, mostrando tres averías que acaba de leer de la centralita.
[~15 s · acumulado 0:15]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una herramienta de diagnóstico de averías de coche. Se enchufa al coche, lee sus centralitas y le dice al mecánico qué le pasa y por dónde mirar.
A la izquierda está lo que tienes hoy. Conectas una máquina de diagnosis y te salen códigos: P0301, fallo de encendido en el cilindro uno; P0401, válvula EGR obstruida; P2002, filtro de partículas lleno. Y así hasta diez. Eso es lo que ha registrado la centralita, pero no te dice qué está roto ni por dónde empezar a mirar. Esa válvula se ha obstruido por alguna circunstancia, y esa circunstancia es la avería de verdad.
A la derecha, lo que hace esta. Con esos mismos códigos y con los datos del coche, investiga por qué puede estar pasando. Le propone al mecánico las causas posibles, no una sola, y los pasos a seguir para ir descartándolas.
Y lo último es lo que la hace distinta: el caso resuelto se guarda, y cuando entre otro coche con síntomas parecidos, ese caso aparece como referencia. La herramienta mejora con el uso.
[~60 s · acumulado 1:15]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flujo de trabajo completo.
Arranca arriba a la izquierda, donde arranca de verdad: se enchufa el adaptador al conector del coche y se pulsa iniciar. A partir de ahí va solo. Se lee el bastidor y se identifica el vehículo, se barre el bus para ver qué centralitas responden, se leen los datos en vivo, las averías y el freeze frame, y se calcula la severidad. Todo eso sale en pantalla.
Y llega la decisión: ¿el mecánico pregunta al agente o no?
Si no pregunta, se acaba ahí y la sesión queda guardada. Eso es importante: sin IA de por medio, el mecánico ya tiene un diagnóstico. Si no hay modelo configurado o el taller no tiene internet, la herramienta sigue sirviendo.
Si pregunta, se pasa a la columna de la derecha. Antes de llamar al modelo se buscan casos parecidos de diagnósticos anteriores. El agente va pidiendo lo que le falta: el catálogo, más lecturas del coche o una búsqueda web. Responde con la explicación, la severidad y qué conviene revisar. Y el caso se indexa.
Ese último paso es el que hace que el sistema mejore: queda disponible para el siguiente coche que entre con síntomas parecidos.
[~75 s · acumulado 2:30]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sistema hace dos diagnósticos distintos, y conviven.
El determinista es el de toda la vida. Lee cuatro PIDs fijos —revoluciones, temperatura de refrigerante, velocidad y temperatura de admisión—, los códigos de avería y el freeze frame. Y la criticidad no me la invento: sale de una regla en el dominio, computeSeverity. Si no hay códigos es baja; si hay freeze frame es crítica, porque significa que la centralita congeló el momento del fallo; y si hay códigos sin freeze frame es alta. Solo necesita el coche conectado, responde al momento, y no aprende nada.
El cognitivo es el otro. Ahí no hay una lista fija de PIDs: el agente decide qué le hace falta leer y va llamando a las herramientas según lo que encuentra. A cambio necesita tres cosas: el coche, la API del modelo y los índices vectoriales. Tarda más, con un límite de sesenta segundos. Y es el único que aprende: indexa los PIDs y DTCs nuevos y guarda el caso resuelto.
Por eso conviven. Si no hay modelo configurado, o si no hay internet en el taller, el determinista sigue funcionando.
[~65 s · acumulado 3:35]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qué está hecho, por piezas.
Todo es TypeScript en modo estricto, sobre Node 22, tanto el backend como el frontend.
La API es Express 5, con Zod para validar todo lo que entra, Helmet para las cabeceras de seguridad, JWT para la autenticación y pino para el log estructurado. La persistencia relacional es SQLite con Drizzle, que es un ORM cuyos esquemas son TypeScript, no un fichero aparte. La búsqueda vectorial es LanceDB, con el modelo de embeddings corriendo en local vía transformers.js.
El agente usa el SDK oficial de MCP, y por debajo el de Anthropic o el de OpenAI según lo que esté configurado. El acceso al coche es un ELM327, por puerto serie o por TCP, y para la demo un emulador escrito en Python.
La interfaz es React 19 con Vite y TanStack, y las pruebas son Vitest para unidad, supertest para los endpoints y Playwright para el extremo a extremo. Y la entrega va con GitHub Actions, Docker y Caddy delante.
Lo importante no es la lista: es que todo lo que aparece de la tercera fila para abajo está detrás de un puerto, así que se puede sustituir sin tocar la lógica.
[~55 s · acumulado 4:30]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arquitectura es Clean Architecture con puertos y adaptadores. Tres capas: dominio, aplicación e infraestructura, y las dependencias siempre apuntando hacia dentro. La teoría ya la conocéis, así que os cuento qué me ha dado a mí, en este proyecto concreto.
Lo primero, y es lo más importante: he construido y probado una aplicación de diagnóstico de vehículos sin tener el vehículo delante. Leer del coche es un puerto, y detrás hay dos adaptadores intercambiables: el lector ELM327 y un emulador. Tres vehículos emulados, un Audi, una Kawasaki y un Toyota. La aplicación no distingue cuál tiene delante.
Lo segundo, la conexión física la pude decidir al final. El transporte del lector es otro puerto: hay una implementación por red y otra por puerto serie, con una capa de reintentos por encima. Pasar de una a otra no toca el resto de la aplicación.
Lo tercero. Cuando ya tenía funcionando el diagnóstico determinista, el que aplica las normas, añadí el cognitivo. El servidor MCP entró como un adaptador de infraestructura más, y los casos de uso que ya funcionaban se quedaron exactamente igual.
Y lo cuarto, hay dos clientes de modelo de lenguaje, y el código de diagnóstico es el mismo para los dos. En las pruebas el modelo se sustituye por un doble, así que el flujo cognitivo se verifica entero sin llamar a un modelo real.
Abajo está el ejemplo de arriba dibujado: un caso de uso, un puerto, y dos adaptadores detrás.
La contrapartida está reconocida en el ADR: son más ficheros que un monolito, y el punto donde se cablea todo crece con cada adaptador nuevo. A cambio, dos mil ciento setenta y una pruebas corren sin coche, sin servidor y sin modelo.
[~85 s · acumulado 5:50]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todo lo que hay que entender del OBD-II para seguir el resto de la charla.
La aplicación quiere saber a cuántas revoluciones está el motor. Manda dos bytes: 01 0C. El 01 es el modo, que en la norma significa "dame un dato en vivo", y el 0C es el PID concreto, las revoluciones.
Eso sale por el adaptador ELM327, que es el cachivache que se enchufa al conector del coche, entra en el bus CAN, y llega a la centralita del motor.
La centralita contesta 41 0C 0B B8. El 41 es el 01 más cuarenta, que es como la norma marca que es una respuesta. El 0C confirma qué PID contesta. Y los dos últimos bytes son el dato en crudo.
Ese dato no son revoluciones todavía. Hay que aplicarle la fórmula del PID: A por 256 más B, dividido entre 4. Con 0B y B8, eso da 750 revoluciones.
Esa fórmula la fija la SAE J1979, y por eso está en el dominio y no en el código que habla con el cable.
[~70 s · acumulado 7:00]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proyecto tiene dos bases de datos, y cada una guarda una cosa distinta.
En SQLite va todo lo que se pide por una clave: los usuarios, que pueden ser particulares o talleres, los vehículos, las ECUs que se les han descubierto, las sesiones de diagnóstico, y los catálogos que vienen de la norma. Todo eso se consulta por una clave: dame el vehículo con este VIN, dame las sesiones de este usuario.
En la vectorial va ese mismo conocimiento pero indexado por significado, más los diagnósticos ya resueltos, que solo están ahí. La diferencia no es qué se guarda, es cómo se busca: en SQLite pregunto por una clave, y en la vectorial pido "enséñame algo parecido a esto".
Y no vale con una sola. SQLite tiene buscador de texto, pero busca palabras: si el mecánico escribe "presión de aceite", no encuentra una ficha que ponga "oil pressure". La búsqueda vectorial sí, porque compara significado.
Las dos son embebidas: un fichero y un directorio en disco. Cero servidores.
[~55 s · acumulado 7:55]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SQLite hay trece tablas, y ahí está todo lo que se puede pedir por una clave exacta.
Los usuarios, que pueden ser particulares o talleres, con su rol. Los vehículos, identificados por su VIN, y las ECUs que se le han descubierto a cada uno en el bus. Las sesiones de diagnóstico, y de cada una el informe congelado, tal como salió ese día. Las lecturas de PID, guardando tanto el hexadecimal crudo que devolvió la centralita como el valor ya convertido. Y los logs y la auditoría de cada petición HTTP, que es requisito de OWASP.
Al arrancar, la base se siembra: veinte PIDs de la norma SAE J1979, veintitrés códigos DTC estándar y veintisiete fabricantes por su código WMI, que es lo que permite sacar la marca de un VIN. Pero el catálogo no se queda ahí: cuando el agente lee un PID que no conoce, se inserta solo en esta base con confianza 0,3 y una fórmula asumida, marcado como auto-descubierto. Vale como pista, no como dato confirmado, hasta que se valida contra el coche.
Es un fichero en disco, sin servidor. PostgreSQL se descartó porque a esta escala solo añadía un servicio, una red y un backup que mantener, sin resolver ningún problema que yo tuviera.
[~60 s · acumulado 8:55]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la base vectorial no van los datos del taller: esos están en SQLite. Aquí va solo lo que el sistema aprende. Hay PIDs propietarios, que cada fabricante se inventa fuera de la norma y es imposible traer precargados; DTCs específicos de una marca; y casos resueltos.
A la izquierda tenéis un caso resuelto tal cual se guarda. El campo embeddedText es el texto que se convierte en vector, y es lo que luego permite encontrarlo por parecido. Los síntomas y los PIDs implicados van aparte, y el fabricante y el modelo también, para poder filtrar: si estoy con un Audi no quiero que me salgan casos de una Kawasaki.
Y luego está el índice de confianza, que se lo ponemos nosotros al guardar según de dónde venga el dato. Si lo encontró el agente en internet entra con 0,3. Si viene de un diagnóstico anterior, 0,5. Si lo aportó el mecánico a mano, 0,8, porque una persona delante del coche sabe más que una web cualquiera. Y si se ha leído del propio coche por OBD es un hecho: 1,0. Comprobar un dato contra el coche sube la web a 0,7 y al mecánico a 0,9.
Ese índice no es decorativo: es lo que pondera las búsquedas. Cuando al agente le llegan dos respuestas que se contradicen, gana la que más confianza tiene.
[Si preguntan por el escalado] Hay dos mecanismos distintos y conviene no mezclarlos. Que el mecánico aporte o confirme un dato sube su confianza a 0,8, y validarlo contra el coche lo lleva a 0,9: eso está implementado y funciona. Lo que dejé fuera a propósito es subir la confianza de un caso cada vez que se reutiliza con acierto. La función existe y está testeada, pero no la llamo desde ningún flujo, porque para eso haría falta saber que el diagnóstico acertó de verdad, y nadie le dice al sistema si el coche se arregló. Inventármelo habría degradado el catálogo.
[~70 s · acumulado 10:05]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modelo no toca el coche directamente. Lo que hace es pedir herramientas, y el sistema decide si las ejecuta y con qué argumentos. Ese contrato es el MCP, el Model Context Protocol.
A la izquierda están las dieciséis que he construido, con su nombre. Siete son de diagnóstico: leer el bastidor, leer un PID, preguntar qué PIDs soporta el coche, los códigos de avería, el freeze frame, la información del vehículo y la de las centralitas. Ocho son de conocimiento, y van por parejas: cuatro para buscar parecidos y cuatro para indexar lo aprendido, de PIDs, DTCs, diagnósticos y ECUs. Y una de búsqueda web, con un presupuesto limitado por diagnóstico para que el agente no se vaya a internet sin control.
¿Y por qué MCP? Primero, porque es el estándar que existe hoy para que un modelo pida herramientas. No es un protocolo de propósito general: sirve exactamente para esto.
Y segundo, que para mí es lo importante: el modelo solo puede actuar a través de esas dieciséis. No hay otra puerta. No ejecuta código, no consulta la base de datos por su cuenta, no llama a ningún otro endpoint. Si quiere saber a cuántas revoluciones está el motor, tiene que pedir la herramienta de leer un PID, y ahí decido yo si se ejecuta y con qué argumentos. Eso acota lo que el agente puede hacer, y en un sistema que se conecta a un coche de verdad no es un detalle menor.
Además, cada herramienta declara su esquema, así que los argumentos se validan antes de ejecutar nada. Y el servidor MCP vive en infraestructura: es un adaptador más, el modelo nunca ve el dominio. Como es un protocolo, ese mismo servidor serviría a cualquier otro cliente que lo hable.
[~75 s · acumulado 11:20]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recorrido completo, desde que el mecánico le da al botón.
Lo primero que pasa no lo hace la IA: el flujo determinista lee los PIDs generales del modo 01, los códigos de avería y el freeze frame. Eso está ahí sí o sí.
Cuando el mecánico entra al chat, antes de llamar al modelo el sistema hace una búsqueda en la base vectorial de casos parecidos a este, y los mete en el prompt. Van etiquetados como "muy similar", "similar" o "relacionado", nunca con el número de distancia, porque cuando le pasaba el número el modelo lo repetía en la respuesta y eso es ruido para el mecánico. Y van envueltos en una marca de contenido no fiable, porque ese catálogo lo alimentan otros usuarios.
A partir de ahí empieza el ciclo. El modelo pide herramientas, el sistema las ejecuta y le devuelve el resultado, y el modelo decide qué pedir después. Ese bucle tiene dos topes: diez vueltas como máximo y sesenta segundos.
Cuando termina, devuelve dos cosas: la explicación en lenguaje normal para el mecánico, y un bloque JSON con la severidad, la confianza y las recomendaciones, que es lo que la aplicación pinta en pantalla. Si no hay explicación, se lanza un error a propósito y no se guarda nada: un caso vacío en el catálogo volvería luego como "caso similar" y contaminaría los diagnósticos siguientes.
Y por último el caso se indexa con confianza 0,5, que es la de diagnóstico anterior.
El system prompt tiene once bloques. No es solo decirle "eres un mecánico": hay bloques de exploración, de consultar el catálogo antes de inventar, de aprendizaje para PIDs, DTCs y ECUs, de ámbito, de no revelar sus propias tripas, de contenido no fiable y del formato de salida.
[~80 s · acumulado 12:40]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hay dos modelos, y no hacen lo mismo.
El de lenguaje es el que razona, y es intercambiable: una variable de entorno decide si va contra Anthropic o contra OpenAI. Los dos clientes implementan el mismo puerto, así que la capa de aplicación no se entera de cuál hay detrás. Y el adaptador de OpenAI no vale solo para OpenAI: sirve para cualquier proveedor compatible con su API —DeepSeek, Groq, Mistral, xAI— cambiando la URL base. Si no hay ninguno configurado, el diagnóstico determinista sigue funcionando.
El de embeddings es distinto: no se cambia, va dentro. Es un modelo pequeño que corre en la propia máquina con transformers.js. Coge un texto —la descripción de un PID, la narrativa de un diagnóstico— y lo convierte en 384 números, normalizados, que es lo que se guarda en la base vectorial. Buscar por parecido es comparar esos vectores.
Que corra en local significa tres cosas: no hace falta clave, no hay latencia de red y no se paga por consulta. Y como es multilingüe, español e inglés caen cerca en ese espacio: por eso "presión de aceite" encuentra una ficha que pone "oil pressure", que es justo lo que un buscador de texto no hace.
[~65 s · acumulado 13:45]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la aplicación corriendo contra un Audi A3 2.0 TDI. Y quiero subrayar una cosa: nada de lo que se ve está escrito a mano. Todo sale del bus del coche.
Arriba a la izquierda, la identificación. El sistema no sabe qué coche es: lo pregunta con el modo 09, saca el bastidor, decodifica el WMI y resuelve Audi, fabricado en Alemania. De ahí salen marca, modelo, año y motor.
Al lado, la telemetría en vivo, y debajo los PIDs que este vehículo declara soportar, que no son una lista fija: se leen del bitmask del PID 00.
Abajo a la izquierda, las averías. Tres códigos confirmados, y las tres pestañas son los servicios 03, 07 y 0A del estándar: almacenadas, pendientes y permanentes.
Y a la derecha el informe, que se congela con la sesión: si dentro de seis meses alguien abre ese diagnóstico, ve exactamente lo que se vio ese día.
[~2 min contando la demo. Si hay vídeo del coche real, va aquí. · acumulado 15:45]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proyecto lo he hecho yo solo, así que lo que avisa de las roturas no es un compañero: es el CI.
El código se escribe con TDD, primero el test que falla y luego el código mínimo que lo pasa. Ahora mismo hay 2.171 pruebas en verde repartidas en 209 ficheros, entre el backend y el frontend.
Y la cobertura no se mide de media, que es la trampa habitual: está configurada por fichero. Un fichero sin tests no puede esconderse detrás de otro que esté muy cubierto.
Cada cambio va documentado con OpenSpec antes de escribirse: hay 45 cambios especificados y archivados, con su diseño, sus specs y sus tareas.
En cada push, el CI corre lint, formato, los tests, el build y el typecheck, para las dos aplicaciones en paralelo sobre Node 22. Y pasa una auditoría de dependencias que tumba la build si aparece una vulnerabilidad crítica.
En seguridad, el documento cubre las diez categorías del OWASP API Top 10 de 2023, una a una, con lo que hace el código en cada caso. Incluidos los riesgos residuales, que están escritos y asumidos, no escondidos.
[~60 s · acumulado 16:45]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Todo el ciclo está automatizado con GitHub Actions, y son dos flujos distintos.
El de integración continua se ejecuta en cada push y en cada pull request contra main y develop. Levanta las dos aplicaciones en paralelo sobre Node 22 y pasa lint, formato, las pruebas, la compilación y el typecheck. Y remata con una auditoría de dependencias que detiene la entrega si aparece una vulnerabilidad crítica.
El de despliegue se dispara solo cuando algo entra en main, que es la rama de releases. Construye tres imágenes Docker: la API, la interfaz y el emulador ELM327. Usa caché de la propia plataforma, así que las construcciones sucesivas son rápidas. Las publica en el registro de contenedores de GitHub.
Y después entra por SSH al servidor, descarga las imágenes nuevas, levanta los contenedores con la configuración de producción y limpia las imágenes viejas. Sin que yo toque nada.
La consecuencia práctica es que integrar en main es publicar. La aplicación está desplegada y accesible, no es una demo que solo corre en mi portátil.
[~55 s · acumulado 17:40]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terminar, lo que me llevo de haber hecho esto.
Lo primero, que con IA se pueden construir cosas complejas mucho más rápido. Un proyecto como este, con su arquitectura, su capa de OBD, su base vectorial y su agente, antes habría sido cuestión de meses o de años. Y no solo va más rápido: se aprenden más cosas por el camino, porque te metes en herramientas y frameworks que de otra forma ni habrías tocado.
Pero hay una segunda parte, y la quiero decir igual de claro. La IA también se equivoca, y hay que estar encima de lo que se sube. No vale con fiarse.
Y no lo digo en abstracto: preparando esta misma presentación encontré que el umbral de cobertura del núcleo apuntaba a un fichero que se había renombrado, así que llevaba semanas sin exigir nada. Estaba verde, y no comprobaba lo que decía comprobar. Lo he documentado en la deuda conocida del proyecto.
Así que sí, acelera mucho. Pero no es todo tan bonito como parece: hay que dedicarle tiempo a revisar.
[~45 s · acumulado 18:25]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 hasta aquí. Muchas gracias por la atención.
[Quedarse callado y esperar las preguntas. El backup está detrás.]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720840" y="-91440"/>
            <a:ext cx="5760720" cy="7040880"/>
          </a:xfrm>
          <a:prstGeom prst="rect">
            <a:avLst/>
          </a:prstGeom>
          <a:solidFill>
            <a:srgbClr val="1A1C2E"/>
          </a:solidFill>
          <a:ln/>
        </p:spPr>
      </p:sp>
      <p:sp>
        <p:nvSpPr>
          <p:cNvPr id="3" name="Shape 1"/>
          <p:cNvSpPr/>
          <p:nvPr/>
        </p:nvSpPr>
        <p:spPr>
          <a:xfrm>
            <a:off x="777240" y="685800"/>
            <a:ext cx="475488" cy="475488"/>
          </a:xfrm>
          <a:prstGeom prst="rect">
            <a:avLst/>
          </a:prstGeom>
          <a:solidFill>
            <a:srgbClr val="202CFC"/>
          </a:solidFill>
          <a:ln/>
        </p:spPr>
      </p:sp>
      <p:sp>
        <p:nvSpPr>
          <p:cNvPr id="4" name="Text 2"/>
          <p:cNvSpPr/>
          <p:nvPr/>
        </p:nvSpPr>
        <p:spPr>
          <a:xfrm>
            <a:off x="777240" y="685800"/>
            <a:ext cx="475488" cy="475488"/>
          </a:xfrm>
          <a:prstGeom prst="rect">
            <a:avLst/>
          </a:prstGeom>
          <a:noFill/>
          <a:ln/>
        </p:spPr>
        <p:txBody>
          <a:bodyPr wrap="square" lIns="0" tIns="0" rIns="0" bIns="0" rtlCol="0" anchor="ctr"/>
          <a:lstStyle/>
          <a:p>
            <a:pPr algn="ctr" indent="0" marL="0">
              <a:buNone/>
            </a:pPr>
            <a:r>
              <a:rPr lang="en-US" sz="1768" b="1" dirty="0">
                <a:solidFill>
                  <a:srgbClr val="FFFFFF"/>
                </a:solidFill>
                <a:latin typeface="Arial" pitchFamily="34" charset="0"/>
                <a:ea typeface="Arial" pitchFamily="34" charset="-122"/>
                <a:cs typeface="Arial" pitchFamily="34" charset="-120"/>
              </a:rPr>
              <a:t>BIG</a:t>
            </a:r>
            <a:endParaRPr lang="en-US" sz="1768" dirty="0"/>
          </a:p>
        </p:txBody>
      </p:sp>
      <p:sp>
        <p:nvSpPr>
          <p:cNvPr id="5" name="Text 3"/>
          <p:cNvSpPr/>
          <p:nvPr/>
        </p:nvSpPr>
        <p:spPr>
          <a:xfrm>
            <a:off x="1335024" y="685800"/>
            <a:ext cx="1426464" cy="475488"/>
          </a:xfrm>
          <a:prstGeom prst="rect">
            <a:avLst/>
          </a:prstGeom>
          <a:noFill/>
          <a:ln/>
        </p:spPr>
        <p:txBody>
          <a:bodyPr wrap="square" lIns="0" tIns="0" rIns="0" bIns="0" rtlCol="0" anchor="ctr"/>
          <a:lstStyle/>
          <a:p>
            <a:pPr algn="l" indent="0" marL="0">
              <a:buNone/>
            </a:pPr>
            <a:r>
              <a:rPr lang="en-US" sz="1768" dirty="0">
                <a:solidFill>
                  <a:srgbClr val="1A1C2E"/>
                </a:solidFill>
                <a:latin typeface="Arial" pitchFamily="34" charset="0"/>
                <a:ea typeface="Arial" pitchFamily="34" charset="-122"/>
                <a:cs typeface="Arial" pitchFamily="34" charset="-120"/>
              </a:rPr>
              <a:t>school</a:t>
            </a:r>
            <a:endParaRPr lang="en-US" sz="1768" dirty="0"/>
          </a:p>
        </p:txBody>
      </p:sp>
      <p:sp>
        <p:nvSpPr>
          <p:cNvPr id="6" name="Text 4"/>
          <p:cNvSpPr/>
          <p:nvPr/>
        </p:nvSpPr>
        <p:spPr>
          <a:xfrm>
            <a:off x="777240" y="2148840"/>
            <a:ext cx="5577840" cy="1737360"/>
          </a:xfrm>
          <a:prstGeom prst="rect">
            <a:avLst/>
          </a:prstGeom>
          <a:noFill/>
          <a:ln/>
        </p:spPr>
        <p:txBody>
          <a:bodyPr wrap="square" lIns="0" tIns="0" rIns="0" bIns="0" rtlCol="0" anchor="ctr"/>
          <a:lstStyle/>
          <a:p>
            <a:pPr indent="0" marL="0">
              <a:lnSpc>
                <a:spcPts val="4600"/>
              </a:lnSpc>
              <a:buNone/>
            </a:pPr>
            <a:r>
              <a:rPr lang="en-US" sz="4000" b="1" dirty="0">
                <a:solidFill>
                  <a:srgbClr val="1A1C2E"/>
                </a:solidFill>
                <a:latin typeface="Arial" pitchFamily="34" charset="0"/>
                <a:ea typeface="Arial" pitchFamily="34" charset="-122"/>
                <a:cs typeface="Arial" pitchFamily="34" charset="-120"/>
              </a:rPr>
              <a:t>Intelligent Automotive
</a:t>
            </a:r>
            <a:pPr indent="0" marL="0">
              <a:lnSpc>
                <a:spcPts val="4600"/>
              </a:lnSpc>
              <a:buNone/>
            </a:pPr>
            <a:r>
              <a:rPr lang="en-US" sz="4000" b="1" dirty="0">
                <a:solidFill>
                  <a:srgbClr val="202CFC"/>
                </a:solidFill>
                <a:latin typeface="Arial" pitchFamily="34" charset="0"/>
                <a:ea typeface="Arial" pitchFamily="34" charset="-122"/>
                <a:cs typeface="Arial" pitchFamily="34" charset="-120"/>
              </a:rPr>
              <a:t>Diagnostics</a:t>
            </a:r>
            <a:endParaRPr lang="en-US" sz="4000" dirty="0"/>
          </a:p>
        </p:txBody>
      </p:sp>
      <p:sp>
        <p:nvSpPr>
          <p:cNvPr id="7" name="Text 5"/>
          <p:cNvSpPr/>
          <p:nvPr/>
        </p:nvSpPr>
        <p:spPr>
          <a:xfrm>
            <a:off x="777240" y="3977640"/>
            <a:ext cx="5394960" cy="731520"/>
          </a:xfrm>
          <a:prstGeom prst="rect">
            <a:avLst/>
          </a:prstGeom>
          <a:noFill/>
          <a:ln/>
        </p:spPr>
        <p:txBody>
          <a:bodyPr wrap="square" lIns="0" tIns="0" rIns="0" bIns="0" rtlCol="0" anchor="ctr"/>
          <a:lstStyle/>
          <a:p>
            <a:pPr indent="0" marL="0">
              <a:lnSpc>
                <a:spcPts val="2200"/>
              </a:lnSpc>
              <a:buNone/>
            </a:pPr>
            <a:r>
              <a:rPr lang="en-US" sz="1600" dirty="0">
                <a:solidFill>
                  <a:srgbClr val="5A5F73"/>
                </a:solidFill>
                <a:latin typeface="Calibri" pitchFamily="34" charset="0"/>
                <a:ea typeface="Calibri" pitchFamily="34" charset="-122"/>
                <a:cs typeface="Calibri" pitchFamily="34" charset="-120"/>
              </a:rPr>
              <a:t>Diagnóstico OBD-II asistido por IA agéntica sobre el protocolo MCP</a:t>
            </a:r>
            <a:endParaRPr lang="en-US" sz="1600" dirty="0"/>
          </a:p>
        </p:txBody>
      </p:sp>
      <p:sp>
        <p:nvSpPr>
          <p:cNvPr id="8" name="Text 6"/>
          <p:cNvSpPr/>
          <p:nvPr/>
        </p:nvSpPr>
        <p:spPr>
          <a:xfrm>
            <a:off x="777240" y="5349240"/>
            <a:ext cx="5486400" cy="320040"/>
          </a:xfrm>
          <a:prstGeom prst="rect">
            <a:avLst/>
          </a:prstGeom>
          <a:noFill/>
          <a:ln/>
        </p:spPr>
        <p:txBody>
          <a:bodyPr wrap="square" lIns="0" tIns="0" rIns="0" bIns="0" rtlCol="0" anchor="ctr"/>
          <a:lstStyle/>
          <a:p>
            <a:pPr indent="0" marL="0">
              <a:buNone/>
            </a:pPr>
            <a:r>
              <a:rPr lang="en-US" sz="1500" b="1" dirty="0">
                <a:solidFill>
                  <a:srgbClr val="1A1C2E"/>
                </a:solidFill>
                <a:latin typeface="Arial" pitchFamily="34" charset="0"/>
                <a:ea typeface="Arial" pitchFamily="34" charset="-122"/>
                <a:cs typeface="Arial" pitchFamily="34" charset="-120"/>
              </a:rPr>
              <a:t>Jesús Ángel Novillo Lucas-Vaquero</a:t>
            </a:r>
            <a:endParaRPr lang="en-US" sz="1500" dirty="0"/>
          </a:p>
        </p:txBody>
      </p:sp>
      <p:sp>
        <p:nvSpPr>
          <p:cNvPr id="9" name="Text 7"/>
          <p:cNvSpPr/>
          <p:nvPr/>
        </p:nvSpPr>
        <p:spPr>
          <a:xfrm>
            <a:off x="777240" y="5687568"/>
            <a:ext cx="5486400" cy="32004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Trabajo Fin de Máster  ·  Máster en Desarrollo con IA  ·  BIG school</a:t>
            </a:r>
            <a:endParaRPr lang="en-US" sz="1200" dirty="0"/>
          </a:p>
        </p:txBody>
      </p:sp>
      <p:sp>
        <p:nvSpPr>
          <p:cNvPr id="10" name="Text 8"/>
          <p:cNvSpPr/>
          <p:nvPr/>
        </p:nvSpPr>
        <p:spPr>
          <a:xfrm>
            <a:off x="7114032" y="2148840"/>
            <a:ext cx="4663440" cy="274320"/>
          </a:xfrm>
          <a:prstGeom prst="rect">
            <a:avLst/>
          </a:prstGeom>
          <a:noFill/>
          <a:ln/>
        </p:spPr>
        <p:txBody>
          <a:bodyPr wrap="square" lIns="0" tIns="0" rIns="0" bIns="0" rtlCol="0" anchor="ctr"/>
          <a:lstStyle/>
          <a:p>
            <a:pPr indent="0" marL="0">
              <a:buNone/>
            </a:pPr>
            <a:r>
              <a:rPr lang="en-US" sz="1000" b="1" spc="200" kern="0" dirty="0">
                <a:solidFill>
                  <a:srgbClr val="FFFFFF"/>
                </a:solidFill>
                <a:latin typeface="Calibri" pitchFamily="34" charset="0"/>
                <a:ea typeface="Calibri" pitchFamily="34" charset="-122"/>
                <a:cs typeface="Calibri" pitchFamily="34" charset="-120"/>
              </a:rPr>
              <a:t>LA HERRAMIENTA, EN FUNCIONAMIENTO</a:t>
            </a:r>
            <a:endParaRPr lang="en-US" sz="1000" dirty="0"/>
          </a:p>
        </p:txBody>
      </p:sp>
      <p:pic>
        <p:nvPicPr>
          <p:cNvPr id="11" name="Image 0" descr="/home/user/intelligent-automotive-diagnostics/docs/presentacion/capturas/recortes/03-codigos-dtc.png">    </p:cNvPr>
          <p:cNvPicPr>
            <a:picLocks noChangeAspect="1"/>
          </p:cNvPicPr>
          <p:nvPr/>
        </p:nvPicPr>
        <p:blipFill>
          <a:blip r:embed="rId1"/>
          <a:stretch>
            <a:fillRect/>
          </a:stretch>
        </p:blipFill>
        <p:spPr>
          <a:xfrm>
            <a:off x="7114032" y="2697480"/>
            <a:ext cx="4654296" cy="1453896"/>
          </a:xfrm>
          <a:prstGeom prst="rect">
            <a:avLst/>
          </a:prstGeom>
          <a:effectLst>
            <a:outerShdw sx="100000" sy="100000" kx="0" ky="0" algn="bl" rotWithShape="0" blurRad="254000" dist="63500" dir="8100000">
              <a:srgbClr val="000000">
                <a:alpha val="50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822960"/>
          </a:xfrm>
          <a:prstGeom prst="rect">
            <a:avLst/>
          </a:prstGeom>
          <a:noFill/>
          <a:ln/>
        </p:spPr>
        <p:txBody>
          <a:bodyPr wrap="square" lIns="0" tIns="0" rIns="0" bIns="0" rtlCol="0" anchor="t"/>
          <a:lstStyle/>
          <a:p>
            <a:pPr indent="0" marL="0">
              <a:buNone/>
            </a:pPr>
            <a:r>
              <a:rPr lang="en-US" sz="3200" b="1" dirty="0">
                <a:solidFill>
                  <a:srgbClr val="1A1C2E"/>
                </a:solidFill>
                <a:latin typeface="Arial" pitchFamily="34" charset="0"/>
                <a:ea typeface="Arial" pitchFamily="34" charset="-122"/>
                <a:cs typeface="Arial" pitchFamily="34" charset="-120"/>
              </a:rPr>
              <a:t>Diagnóstico de averías de vehículos asistido por IA</a:t>
            </a:r>
            <a:endParaRPr lang="en-US" sz="3200" dirty="0"/>
          </a:p>
        </p:txBody>
      </p:sp>
      <p:sp>
        <p:nvSpPr>
          <p:cNvPr id="3" name="Text 1"/>
          <p:cNvSpPr/>
          <p:nvPr/>
        </p:nvSpPr>
        <p:spPr>
          <a:xfrm>
            <a:off x="777240" y="155448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Se conecta al vehículo, interpreta los datos de sus centralitas y propone las causas de la avería.</a:t>
            </a:r>
            <a:endParaRPr lang="en-US" sz="1700" dirty="0"/>
          </a:p>
        </p:txBody>
      </p:sp>
      <p:sp>
        <p:nvSpPr>
          <p:cNvPr id="4" name="Text 2"/>
          <p:cNvSpPr/>
          <p:nvPr/>
        </p:nvSpPr>
        <p:spPr>
          <a:xfrm>
            <a:off x="777240" y="2331720"/>
            <a:ext cx="4846320" cy="365760"/>
          </a:xfrm>
          <a:prstGeom prst="rect">
            <a:avLst/>
          </a:prstGeom>
          <a:noFill/>
          <a:ln/>
        </p:spPr>
        <p:txBody>
          <a:bodyPr wrap="square" lIns="0" tIns="0" rIns="0" bIns="0" rtlCol="0" anchor="t"/>
          <a:lstStyle/>
          <a:p>
            <a:pPr indent="0" marL="0">
              <a:buNone/>
            </a:pPr>
            <a:r>
              <a:rPr lang="en-US" sz="1900" b="1" dirty="0">
                <a:solidFill>
                  <a:srgbClr val="5A5F73"/>
                </a:solidFill>
                <a:latin typeface="Arial" pitchFamily="34" charset="0"/>
                <a:ea typeface="Arial" pitchFamily="34" charset="-122"/>
                <a:cs typeface="Arial" pitchFamily="34" charset="-120"/>
              </a:rPr>
              <a:t>Lo que aporta un escáner convencional</a:t>
            </a:r>
            <a:endParaRPr lang="en-US" sz="1900" dirty="0"/>
          </a:p>
        </p:txBody>
      </p:sp>
      <p:sp>
        <p:nvSpPr>
          <p:cNvPr id="5" name="Text 3"/>
          <p:cNvSpPr/>
          <p:nvPr/>
        </p:nvSpPr>
        <p:spPr>
          <a:xfrm>
            <a:off x="777240" y="2971800"/>
            <a:ext cx="1005840" cy="329184"/>
          </a:xfrm>
          <a:prstGeom prst="rect">
            <a:avLst/>
          </a:prstGeom>
          <a:noFill/>
          <a:ln/>
        </p:spPr>
        <p:txBody>
          <a:bodyPr wrap="square" lIns="0" tIns="0" rIns="0" bIns="0" rtlCol="0" anchor="ctr"/>
          <a:lstStyle/>
          <a:p>
            <a:pPr indent="0" marL="0">
              <a:buNone/>
            </a:pPr>
            <a:r>
              <a:rPr lang="en-US" sz="1400" b="1" dirty="0">
                <a:solidFill>
                  <a:srgbClr val="1A1C2E"/>
                </a:solidFill>
                <a:latin typeface="Courier New" pitchFamily="34" charset="0"/>
                <a:ea typeface="Courier New" pitchFamily="34" charset="-122"/>
                <a:cs typeface="Courier New" pitchFamily="34" charset="-120"/>
              </a:rPr>
              <a:t>P0301</a:t>
            </a:r>
            <a:endParaRPr lang="en-US" sz="1400" dirty="0"/>
          </a:p>
        </p:txBody>
      </p:sp>
      <p:sp>
        <p:nvSpPr>
          <p:cNvPr id="6" name="Text 4"/>
          <p:cNvSpPr/>
          <p:nvPr/>
        </p:nvSpPr>
        <p:spPr>
          <a:xfrm>
            <a:off x="1874520" y="2971800"/>
            <a:ext cx="3749040" cy="329184"/>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fallo de encendido en el cilindro 1</a:t>
            </a:r>
            <a:endParaRPr lang="en-US" sz="1500" dirty="0"/>
          </a:p>
        </p:txBody>
      </p:sp>
      <p:sp>
        <p:nvSpPr>
          <p:cNvPr id="7" name="Text 5"/>
          <p:cNvSpPr/>
          <p:nvPr/>
        </p:nvSpPr>
        <p:spPr>
          <a:xfrm>
            <a:off x="777240" y="3429000"/>
            <a:ext cx="1005840" cy="329184"/>
          </a:xfrm>
          <a:prstGeom prst="rect">
            <a:avLst/>
          </a:prstGeom>
          <a:noFill/>
          <a:ln/>
        </p:spPr>
        <p:txBody>
          <a:bodyPr wrap="square" lIns="0" tIns="0" rIns="0" bIns="0" rtlCol="0" anchor="ctr"/>
          <a:lstStyle/>
          <a:p>
            <a:pPr indent="0" marL="0">
              <a:buNone/>
            </a:pPr>
            <a:r>
              <a:rPr lang="en-US" sz="1400" b="1" dirty="0">
                <a:solidFill>
                  <a:srgbClr val="1A1C2E"/>
                </a:solidFill>
                <a:latin typeface="Courier New" pitchFamily="34" charset="0"/>
                <a:ea typeface="Courier New" pitchFamily="34" charset="-122"/>
                <a:cs typeface="Courier New" pitchFamily="34" charset="-120"/>
              </a:rPr>
              <a:t>P0401</a:t>
            </a:r>
            <a:endParaRPr lang="en-US" sz="1400" dirty="0"/>
          </a:p>
        </p:txBody>
      </p:sp>
      <p:sp>
        <p:nvSpPr>
          <p:cNvPr id="8" name="Text 6"/>
          <p:cNvSpPr/>
          <p:nvPr/>
        </p:nvSpPr>
        <p:spPr>
          <a:xfrm>
            <a:off x="1874520" y="3429000"/>
            <a:ext cx="3749040" cy="329184"/>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válvula EGR obstruida</a:t>
            </a:r>
            <a:endParaRPr lang="en-US" sz="1500" dirty="0"/>
          </a:p>
        </p:txBody>
      </p:sp>
      <p:sp>
        <p:nvSpPr>
          <p:cNvPr id="9" name="Text 7"/>
          <p:cNvSpPr/>
          <p:nvPr/>
        </p:nvSpPr>
        <p:spPr>
          <a:xfrm>
            <a:off x="777240" y="3886200"/>
            <a:ext cx="1005840" cy="329184"/>
          </a:xfrm>
          <a:prstGeom prst="rect">
            <a:avLst/>
          </a:prstGeom>
          <a:noFill/>
          <a:ln/>
        </p:spPr>
        <p:txBody>
          <a:bodyPr wrap="square" lIns="0" tIns="0" rIns="0" bIns="0" rtlCol="0" anchor="ctr"/>
          <a:lstStyle/>
          <a:p>
            <a:pPr indent="0" marL="0">
              <a:buNone/>
            </a:pPr>
            <a:r>
              <a:rPr lang="en-US" sz="1400" b="1" dirty="0">
                <a:solidFill>
                  <a:srgbClr val="1A1C2E"/>
                </a:solidFill>
                <a:latin typeface="Courier New" pitchFamily="34" charset="0"/>
                <a:ea typeface="Courier New" pitchFamily="34" charset="-122"/>
                <a:cs typeface="Courier New" pitchFamily="34" charset="-120"/>
              </a:rPr>
              <a:t>P2002</a:t>
            </a:r>
            <a:endParaRPr lang="en-US" sz="1400" dirty="0"/>
          </a:p>
        </p:txBody>
      </p:sp>
      <p:sp>
        <p:nvSpPr>
          <p:cNvPr id="10" name="Text 8"/>
          <p:cNvSpPr/>
          <p:nvPr/>
        </p:nvSpPr>
        <p:spPr>
          <a:xfrm>
            <a:off x="1874520" y="3886200"/>
            <a:ext cx="3749040" cy="329184"/>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filtro de partículas lleno</a:t>
            </a:r>
            <a:endParaRPr lang="en-US" sz="1500" dirty="0"/>
          </a:p>
        </p:txBody>
      </p:sp>
      <p:sp>
        <p:nvSpPr>
          <p:cNvPr id="11" name="Text 9"/>
          <p:cNvSpPr/>
          <p:nvPr/>
        </p:nvSpPr>
        <p:spPr>
          <a:xfrm>
            <a:off x="777240" y="4453128"/>
            <a:ext cx="4846320" cy="731520"/>
          </a:xfrm>
          <a:prstGeom prst="rect">
            <a:avLst/>
          </a:prstGeom>
          <a:noFill/>
          <a:ln/>
        </p:spPr>
        <p:txBody>
          <a:bodyPr wrap="square" lIns="0" tIns="0" rIns="0" bIns="0" rtlCol="0" anchor="t"/>
          <a:lstStyle/>
          <a:p>
            <a:pPr indent="0" marL="0">
              <a:lnSpc>
                <a:spcPts val="2100"/>
              </a:lnSpc>
              <a:buNone/>
            </a:pPr>
            <a:r>
              <a:rPr lang="en-US" sz="1500" dirty="0">
                <a:solidFill>
                  <a:srgbClr val="5A5F73"/>
                </a:solidFill>
                <a:latin typeface="Calibri" pitchFamily="34" charset="0"/>
                <a:ea typeface="Calibri" pitchFamily="34" charset="-122"/>
                <a:cs typeface="Calibri" pitchFamily="34" charset="-120"/>
              </a:rPr>
              <a:t>Hasta diez códigos. Registran el síntoma, no la causa que lo provoca.</a:t>
            </a:r>
            <a:endParaRPr lang="en-US" sz="1500" dirty="0"/>
          </a:p>
        </p:txBody>
      </p:sp>
      <p:sp>
        <p:nvSpPr>
          <p:cNvPr id="12" name="Text 10"/>
          <p:cNvSpPr/>
          <p:nvPr/>
        </p:nvSpPr>
        <p:spPr>
          <a:xfrm>
            <a:off x="6537960" y="233172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Lo que añade esta herramienta</a:t>
            </a:r>
            <a:endParaRPr lang="en-US" sz="1900" dirty="0"/>
          </a:p>
        </p:txBody>
      </p:sp>
      <p:sp>
        <p:nvSpPr>
          <p:cNvPr id="13" name="Text 11"/>
          <p:cNvSpPr/>
          <p:nvPr/>
        </p:nvSpPr>
        <p:spPr>
          <a:xfrm>
            <a:off x="6537960" y="2916936"/>
            <a:ext cx="4846320" cy="2377440"/>
          </a:xfrm>
          <a:prstGeom prst="rect">
            <a:avLst/>
          </a:prstGeom>
          <a:noFill/>
          <a:ln/>
        </p:spPr>
        <p:txBody>
          <a:bodyPr wrap="square" lIns="0" tIns="0" rIns="0" bIns="0" rtlCol="0" anchor="t"/>
          <a:lstStyle/>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Investiga por qué puede estar pasando eso</a:t>
            </a:r>
            <a:endParaRPr lang="en-US" sz="1600" dirty="0"/>
          </a:p>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Propone las causas posibles, no una sola</a:t>
            </a:r>
            <a:endParaRPr lang="en-US" sz="1600" dirty="0"/>
          </a:p>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Y los pasos a seguir para ir descartándolas</a:t>
            </a:r>
            <a:endParaRPr lang="en-US" sz="1600" dirty="0"/>
          </a:p>
          <a:p>
            <a:pPr marL="342900" indent="-342900">
              <a:lnSpc>
                <a:spcPts val="2200"/>
              </a:lnSpc>
              <a:spcAft>
                <a:spcPts val="1400"/>
              </a:spcAft>
              <a:buSzPct val="100000"/>
              <a:buChar char="•"/>
            </a:pPr>
            <a:r>
              <a:rPr lang="en-US" sz="1600" dirty="0">
                <a:solidFill>
                  <a:srgbClr val="1A1C2E"/>
                </a:solidFill>
                <a:latin typeface="Calibri" pitchFamily="34" charset="0"/>
                <a:ea typeface="Calibri" pitchFamily="34" charset="-122"/>
                <a:cs typeface="Calibri" pitchFamily="34" charset="-120"/>
              </a:rPr>
              <a:t>Guarda el caso resuelto: sirve para el siguiente coche</a:t>
            </a:r>
            <a:endParaRPr lang="en-US" sz="1600" dirty="0"/>
          </a:p>
        </p:txBody>
      </p:sp>
      <p:sp>
        <p:nvSpPr>
          <p:cNvPr id="14" name="Shape 12"/>
          <p:cNvSpPr/>
          <p:nvPr/>
        </p:nvSpPr>
        <p:spPr>
          <a:xfrm>
            <a:off x="777240" y="6263640"/>
            <a:ext cx="219456" cy="219456"/>
          </a:xfrm>
          <a:prstGeom prst="rect">
            <a:avLst/>
          </a:prstGeom>
          <a:solidFill>
            <a:srgbClr val="202CFC"/>
          </a:solidFill>
          <a:ln/>
        </p:spPr>
      </p:sp>
      <p:sp>
        <p:nvSpPr>
          <p:cNvPr id="15" name="Text 13"/>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6" name="Text 14"/>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7" name="Text 15"/>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384048"/>
            <a:ext cx="10607040" cy="594360"/>
          </a:xfrm>
          <a:prstGeom prst="rect">
            <a:avLst/>
          </a:prstGeom>
          <a:noFill/>
          <a:ln/>
        </p:spPr>
        <p:txBody>
          <a:bodyPr wrap="square" lIns="0" tIns="0" rIns="0" bIns="0" rtlCol="0" anchor="t"/>
          <a:lstStyle/>
          <a:p>
            <a:pPr indent="0" marL="0">
              <a:buNone/>
            </a:pPr>
            <a:r>
              <a:rPr lang="en-US" sz="3000" b="1" dirty="0">
                <a:solidFill>
                  <a:srgbClr val="1A1C2E"/>
                </a:solidFill>
                <a:latin typeface="Arial" pitchFamily="34" charset="0"/>
                <a:ea typeface="Arial" pitchFamily="34" charset="-122"/>
                <a:cs typeface="Arial" pitchFamily="34" charset="-120"/>
              </a:rPr>
              <a:t>Flujo de trabajo</a:t>
            </a:r>
            <a:endParaRPr lang="en-US" sz="3000" dirty="0"/>
          </a:p>
        </p:txBody>
      </p:sp>
      <p:sp>
        <p:nvSpPr>
          <p:cNvPr id="3" name="Text 1"/>
          <p:cNvSpPr/>
          <p:nvPr/>
        </p:nvSpPr>
        <p:spPr>
          <a:xfrm>
            <a:off x="777240" y="1078992"/>
            <a:ext cx="10607040" cy="274320"/>
          </a:xfrm>
          <a:prstGeom prst="rect">
            <a:avLst/>
          </a:prstGeom>
          <a:noFill/>
          <a:ln/>
        </p:spPr>
        <p:txBody>
          <a:bodyPr wrap="square" lIns="0" tIns="0" rIns="0" bIns="0" rtlCol="0" anchor="t"/>
          <a:lstStyle/>
          <a:p>
            <a:pPr indent="0" marL="0">
              <a:buNone/>
            </a:pPr>
            <a:r>
              <a:rPr lang="en-US" sz="1400" dirty="0">
                <a:solidFill>
                  <a:srgbClr val="5A5F73"/>
                </a:solidFill>
                <a:latin typeface="Calibri" pitchFamily="34" charset="0"/>
                <a:ea typeface="Calibri" pitchFamily="34" charset="-122"/>
                <a:cs typeface="Calibri" pitchFamily="34" charset="-120"/>
              </a:rPr>
              <a:t>Desde la conexión del adaptador hasta el registro del caso resuelto.</a:t>
            </a:r>
            <a:endParaRPr lang="en-US" sz="1400" dirty="0"/>
          </a:p>
        </p:txBody>
      </p:sp>
      <p:sp>
        <p:nvSpPr>
          <p:cNvPr id="4" name="Shape 2"/>
          <p:cNvSpPr/>
          <p:nvPr/>
        </p:nvSpPr>
        <p:spPr>
          <a:xfrm>
            <a:off x="868680" y="1572768"/>
            <a:ext cx="4206240" cy="457200"/>
          </a:xfrm>
          <a:prstGeom prst="roundRect">
            <a:avLst>
              <a:gd name="adj" fmla="val 50000"/>
            </a:avLst>
          </a:prstGeom>
          <a:solidFill>
            <a:srgbClr val="1A1C2E"/>
          </a:solidFill>
          <a:ln w="12700">
            <a:solidFill>
              <a:srgbClr val="1A1C2E"/>
            </a:solidFill>
            <a:prstDash val="solid"/>
          </a:ln>
        </p:spPr>
      </p:sp>
      <p:sp>
        <p:nvSpPr>
          <p:cNvPr id="5" name="Text 3"/>
          <p:cNvSpPr/>
          <p:nvPr/>
        </p:nvSpPr>
        <p:spPr>
          <a:xfrm>
            <a:off x="978408" y="1572768"/>
            <a:ext cx="3986784" cy="457200"/>
          </a:xfrm>
          <a:prstGeom prst="rect">
            <a:avLst/>
          </a:prstGeom>
          <a:noFill/>
          <a:ln/>
        </p:spPr>
        <p:txBody>
          <a:bodyPr wrap="square" lIns="0" tIns="0" rIns="0" bIns="0" rtlCol="0" anchor="ctr"/>
          <a:lstStyle/>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Se conecta el adaptador</a:t>
            </a:r>
            <a:endParaRPr lang="en-US" sz="1200" dirty="0"/>
          </a:p>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y se inicia el diagnóstico</a:t>
            </a:r>
            <a:endParaRPr lang="en-US" sz="1200" dirty="0"/>
          </a:p>
        </p:txBody>
      </p:sp>
      <p:sp>
        <p:nvSpPr>
          <p:cNvPr id="6" name="Shape 4"/>
          <p:cNvSpPr/>
          <p:nvPr/>
        </p:nvSpPr>
        <p:spPr>
          <a:xfrm>
            <a:off x="868680" y="2176272"/>
            <a:ext cx="4206240" cy="457200"/>
          </a:xfrm>
          <a:prstGeom prst="rect">
            <a:avLst>
              <a:gd name="adj" fmla="val 50000"/>
            </a:avLst>
          </a:prstGeom>
          <a:solidFill>
            <a:srgbClr val="FFFFFF"/>
          </a:solidFill>
          <a:ln w="12700">
            <a:solidFill>
              <a:srgbClr val="C9CCD8"/>
            </a:solidFill>
            <a:prstDash val="solid"/>
          </a:ln>
        </p:spPr>
      </p:sp>
      <p:sp>
        <p:nvSpPr>
          <p:cNvPr id="7" name="Text 5"/>
          <p:cNvSpPr/>
          <p:nvPr/>
        </p:nvSpPr>
        <p:spPr>
          <a:xfrm>
            <a:off x="978408" y="2176272"/>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lee el bastidor y se identifica el vehículo</a:t>
            </a:r>
            <a:endParaRPr lang="en-US" sz="1200" dirty="0"/>
          </a:p>
        </p:txBody>
      </p:sp>
      <p:sp>
        <p:nvSpPr>
          <p:cNvPr id="8" name="Shape 6"/>
          <p:cNvSpPr/>
          <p:nvPr/>
        </p:nvSpPr>
        <p:spPr>
          <a:xfrm>
            <a:off x="2971800" y="2029968"/>
            <a:ext cx="0" cy="146304"/>
          </a:xfrm>
          <a:prstGeom prst="line">
            <a:avLst/>
          </a:prstGeom>
          <a:noFill/>
          <a:ln w="15875">
            <a:solidFill>
              <a:srgbClr val="202CFC"/>
            </a:solidFill>
            <a:prstDash val="solid"/>
            <a:tailEnd type="triangle"/>
          </a:ln>
        </p:spPr>
      </p:sp>
      <p:sp>
        <p:nvSpPr>
          <p:cNvPr id="9" name="Shape 7"/>
          <p:cNvSpPr/>
          <p:nvPr/>
        </p:nvSpPr>
        <p:spPr>
          <a:xfrm>
            <a:off x="868680" y="2779776"/>
            <a:ext cx="4206240" cy="457200"/>
          </a:xfrm>
          <a:prstGeom prst="rect">
            <a:avLst>
              <a:gd name="adj" fmla="val 50000"/>
            </a:avLst>
          </a:prstGeom>
          <a:solidFill>
            <a:srgbClr val="FFFFFF"/>
          </a:solidFill>
          <a:ln w="12700">
            <a:solidFill>
              <a:srgbClr val="C9CCD8"/>
            </a:solidFill>
            <a:prstDash val="solid"/>
          </a:ln>
        </p:spPr>
      </p:sp>
      <p:sp>
        <p:nvSpPr>
          <p:cNvPr id="10" name="Text 8"/>
          <p:cNvSpPr/>
          <p:nvPr/>
        </p:nvSpPr>
        <p:spPr>
          <a:xfrm>
            <a:off x="978408" y="2779776"/>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Barrido del bus: centralitas que responden</a:t>
            </a:r>
            <a:endParaRPr lang="en-US" sz="1200" dirty="0"/>
          </a:p>
        </p:txBody>
      </p:sp>
      <p:sp>
        <p:nvSpPr>
          <p:cNvPr id="11" name="Shape 9"/>
          <p:cNvSpPr/>
          <p:nvPr/>
        </p:nvSpPr>
        <p:spPr>
          <a:xfrm>
            <a:off x="2971800" y="2633472"/>
            <a:ext cx="0" cy="146304"/>
          </a:xfrm>
          <a:prstGeom prst="line">
            <a:avLst/>
          </a:prstGeom>
          <a:noFill/>
          <a:ln w="15875">
            <a:solidFill>
              <a:srgbClr val="202CFC"/>
            </a:solidFill>
            <a:prstDash val="solid"/>
            <a:tailEnd type="triangle"/>
          </a:ln>
        </p:spPr>
      </p:sp>
      <p:sp>
        <p:nvSpPr>
          <p:cNvPr id="12" name="Shape 10"/>
          <p:cNvSpPr/>
          <p:nvPr/>
        </p:nvSpPr>
        <p:spPr>
          <a:xfrm>
            <a:off x="868680" y="3383280"/>
            <a:ext cx="4206240" cy="457200"/>
          </a:xfrm>
          <a:prstGeom prst="rect">
            <a:avLst>
              <a:gd name="adj" fmla="val 50000"/>
            </a:avLst>
          </a:prstGeom>
          <a:solidFill>
            <a:srgbClr val="FFFFFF"/>
          </a:solidFill>
          <a:ln w="12700">
            <a:solidFill>
              <a:srgbClr val="C9CCD8"/>
            </a:solidFill>
            <a:prstDash val="solid"/>
          </a:ln>
        </p:spPr>
      </p:sp>
      <p:sp>
        <p:nvSpPr>
          <p:cNvPr id="13" name="Text 11"/>
          <p:cNvSpPr/>
          <p:nvPr/>
        </p:nvSpPr>
        <p:spPr>
          <a:xfrm>
            <a:off x="978408" y="3383280"/>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leen datos en vivo, averías y freeze frame</a:t>
            </a:r>
            <a:endParaRPr lang="en-US" sz="1200" dirty="0"/>
          </a:p>
        </p:txBody>
      </p:sp>
      <p:sp>
        <p:nvSpPr>
          <p:cNvPr id="14" name="Shape 12"/>
          <p:cNvSpPr/>
          <p:nvPr/>
        </p:nvSpPr>
        <p:spPr>
          <a:xfrm>
            <a:off x="2971800" y="3236976"/>
            <a:ext cx="0" cy="146304"/>
          </a:xfrm>
          <a:prstGeom prst="line">
            <a:avLst/>
          </a:prstGeom>
          <a:noFill/>
          <a:ln w="15875">
            <a:solidFill>
              <a:srgbClr val="202CFC"/>
            </a:solidFill>
            <a:prstDash val="solid"/>
            <a:tailEnd type="triangle"/>
          </a:ln>
        </p:spPr>
      </p:sp>
      <p:sp>
        <p:nvSpPr>
          <p:cNvPr id="15" name="Shape 13"/>
          <p:cNvSpPr/>
          <p:nvPr/>
        </p:nvSpPr>
        <p:spPr>
          <a:xfrm>
            <a:off x="868680" y="3986784"/>
            <a:ext cx="4206240" cy="457200"/>
          </a:xfrm>
          <a:prstGeom prst="rect">
            <a:avLst>
              <a:gd name="adj" fmla="val 50000"/>
            </a:avLst>
          </a:prstGeom>
          <a:solidFill>
            <a:srgbClr val="FFFFFF"/>
          </a:solidFill>
          <a:ln w="12700">
            <a:solidFill>
              <a:srgbClr val="C9CCD8"/>
            </a:solidFill>
            <a:prstDash val="solid"/>
          </a:ln>
        </p:spPr>
      </p:sp>
      <p:sp>
        <p:nvSpPr>
          <p:cNvPr id="16" name="Text 14"/>
          <p:cNvSpPr/>
          <p:nvPr/>
        </p:nvSpPr>
        <p:spPr>
          <a:xfrm>
            <a:off x="978408" y="3986784"/>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calcula la severidad y se muestra el resultado</a:t>
            </a:r>
            <a:endParaRPr lang="en-US" sz="1200" dirty="0"/>
          </a:p>
        </p:txBody>
      </p:sp>
      <p:sp>
        <p:nvSpPr>
          <p:cNvPr id="17" name="Shape 15"/>
          <p:cNvSpPr/>
          <p:nvPr/>
        </p:nvSpPr>
        <p:spPr>
          <a:xfrm>
            <a:off x="2971800" y="3840480"/>
            <a:ext cx="0" cy="146304"/>
          </a:xfrm>
          <a:prstGeom prst="line">
            <a:avLst/>
          </a:prstGeom>
          <a:noFill/>
          <a:ln w="15875">
            <a:solidFill>
              <a:srgbClr val="202CFC"/>
            </a:solidFill>
            <a:prstDash val="solid"/>
            <a:tailEnd type="triangle"/>
          </a:ln>
        </p:spPr>
      </p:sp>
      <p:sp>
        <p:nvSpPr>
          <p:cNvPr id="18" name="Shape 16"/>
          <p:cNvSpPr/>
          <p:nvPr/>
        </p:nvSpPr>
        <p:spPr>
          <a:xfrm>
            <a:off x="2971800" y="4443984"/>
            <a:ext cx="0" cy="146304"/>
          </a:xfrm>
          <a:prstGeom prst="line">
            <a:avLst/>
          </a:prstGeom>
          <a:noFill/>
          <a:ln w="15875">
            <a:solidFill>
              <a:srgbClr val="202CFC"/>
            </a:solidFill>
            <a:prstDash val="solid"/>
            <a:tailEnd type="triangle"/>
          </a:ln>
        </p:spPr>
      </p:sp>
      <p:sp>
        <p:nvSpPr>
          <p:cNvPr id="19" name="Shape 17"/>
          <p:cNvSpPr/>
          <p:nvPr/>
        </p:nvSpPr>
        <p:spPr>
          <a:xfrm>
            <a:off x="1371600" y="4590288"/>
            <a:ext cx="3200400" cy="713232"/>
          </a:xfrm>
          <a:prstGeom prst="diamond">
            <a:avLst>
              <a:gd name="adj" fmla="val 32051"/>
            </a:avLst>
          </a:prstGeom>
          <a:solidFill>
            <a:srgbClr val="FFFFFF"/>
          </a:solidFill>
          <a:ln w="12700">
            <a:solidFill>
              <a:srgbClr val="202CFC"/>
            </a:solidFill>
            <a:prstDash val="solid"/>
          </a:ln>
        </p:spPr>
      </p:sp>
      <p:sp>
        <p:nvSpPr>
          <p:cNvPr id="20" name="Text 18"/>
          <p:cNvSpPr/>
          <p:nvPr/>
        </p:nvSpPr>
        <p:spPr>
          <a:xfrm>
            <a:off x="1481328" y="4590288"/>
            <a:ext cx="2980944" cy="713232"/>
          </a:xfrm>
          <a:prstGeom prst="rect">
            <a:avLst/>
          </a:prstGeom>
          <a:noFill/>
          <a:ln/>
        </p:spPr>
        <p:txBody>
          <a:bodyPr wrap="square" lIns="0" tIns="0" rIns="0" bIns="0" rtlCol="0" anchor="ctr"/>
          <a:lstStyle/>
          <a:p>
            <a:pPr algn="ctr" indent="0" marL="0">
              <a:lnSpc>
                <a:spcPts val="1400"/>
              </a:lnSpc>
              <a:buNone/>
            </a:pPr>
            <a:r>
              <a:rPr lang="en-US" sz="1100" dirty="0">
                <a:solidFill>
                  <a:srgbClr val="1A1C2E"/>
                </a:solidFill>
                <a:latin typeface="Calibri" pitchFamily="34" charset="0"/>
                <a:ea typeface="Calibri" pitchFamily="34" charset="-122"/>
                <a:cs typeface="Calibri" pitchFamily="34" charset="-120"/>
              </a:rPr>
              <a:t>¿Se consulta</a:t>
            </a:r>
            <a:endParaRPr lang="en-US" sz="1100" dirty="0"/>
          </a:p>
          <a:p>
            <a:pPr algn="ctr" indent="0" marL="0">
              <a:lnSpc>
                <a:spcPts val="1400"/>
              </a:lnSpc>
              <a:buNone/>
            </a:pPr>
            <a:r>
              <a:rPr lang="en-US" sz="1100" dirty="0">
                <a:solidFill>
                  <a:srgbClr val="1A1C2E"/>
                </a:solidFill>
                <a:latin typeface="Calibri" pitchFamily="34" charset="0"/>
                <a:ea typeface="Calibri" pitchFamily="34" charset="-122"/>
                <a:cs typeface="Calibri" pitchFamily="34" charset="-120"/>
              </a:rPr>
              <a:t>al agente?</a:t>
            </a:r>
            <a:endParaRPr lang="en-US" sz="1100" dirty="0"/>
          </a:p>
        </p:txBody>
      </p:sp>
      <p:sp>
        <p:nvSpPr>
          <p:cNvPr id="21" name="Shape 19"/>
          <p:cNvSpPr/>
          <p:nvPr/>
        </p:nvSpPr>
        <p:spPr>
          <a:xfrm>
            <a:off x="2971800" y="5303520"/>
            <a:ext cx="0" cy="256032"/>
          </a:xfrm>
          <a:prstGeom prst="line">
            <a:avLst/>
          </a:prstGeom>
          <a:noFill/>
          <a:ln w="15875">
            <a:solidFill>
              <a:srgbClr val="202CFC"/>
            </a:solidFill>
            <a:prstDash val="solid"/>
            <a:tailEnd type="triangle"/>
          </a:ln>
        </p:spPr>
      </p:sp>
      <p:sp>
        <p:nvSpPr>
          <p:cNvPr id="22" name="Shape 20"/>
          <p:cNvSpPr/>
          <p:nvPr/>
        </p:nvSpPr>
        <p:spPr>
          <a:xfrm>
            <a:off x="868680" y="5559552"/>
            <a:ext cx="4206240" cy="457200"/>
          </a:xfrm>
          <a:prstGeom prst="roundRect">
            <a:avLst>
              <a:gd name="adj" fmla="val 50000"/>
            </a:avLst>
          </a:prstGeom>
          <a:solidFill>
            <a:srgbClr val="1A1C2E"/>
          </a:solidFill>
          <a:ln w="12700">
            <a:solidFill>
              <a:srgbClr val="1A1C2E"/>
            </a:solidFill>
            <a:prstDash val="solid"/>
          </a:ln>
        </p:spPr>
      </p:sp>
      <p:sp>
        <p:nvSpPr>
          <p:cNvPr id="23" name="Text 21"/>
          <p:cNvSpPr/>
          <p:nvPr/>
        </p:nvSpPr>
        <p:spPr>
          <a:xfrm>
            <a:off x="978408" y="5559552"/>
            <a:ext cx="3986784" cy="457200"/>
          </a:xfrm>
          <a:prstGeom prst="rect">
            <a:avLst/>
          </a:prstGeom>
          <a:noFill/>
          <a:ln/>
        </p:spPr>
        <p:txBody>
          <a:bodyPr wrap="square" lIns="0" tIns="0" rIns="0" bIns="0" rtlCol="0" anchor="ctr"/>
          <a:lstStyle/>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La sesión queda guardada</a:t>
            </a:r>
            <a:endParaRPr lang="en-US" sz="1200" dirty="0"/>
          </a:p>
        </p:txBody>
      </p:sp>
      <p:sp>
        <p:nvSpPr>
          <p:cNvPr id="24" name="Text 22"/>
          <p:cNvSpPr/>
          <p:nvPr/>
        </p:nvSpPr>
        <p:spPr>
          <a:xfrm>
            <a:off x="3063240" y="5312664"/>
            <a:ext cx="457200" cy="228600"/>
          </a:xfrm>
          <a:prstGeom prst="rect">
            <a:avLst/>
          </a:prstGeom>
          <a:noFill/>
          <a:ln/>
        </p:spPr>
        <p:txBody>
          <a:bodyPr wrap="square" lIns="0" tIns="0" rIns="0" bIns="0" rtlCol="0" anchor="ctr"/>
          <a:lstStyle/>
          <a:p>
            <a:pPr indent="0" marL="0">
              <a:buNone/>
            </a:pPr>
            <a:r>
              <a:rPr lang="en-US" sz="1100" i="1" dirty="0">
                <a:solidFill>
                  <a:srgbClr val="5A5F73"/>
                </a:solidFill>
                <a:latin typeface="Calibri" pitchFamily="34" charset="0"/>
                <a:ea typeface="Calibri" pitchFamily="34" charset="-122"/>
                <a:cs typeface="Calibri" pitchFamily="34" charset="-120"/>
              </a:rPr>
              <a:t>no</a:t>
            </a:r>
            <a:endParaRPr lang="en-US" sz="1100" dirty="0"/>
          </a:p>
        </p:txBody>
      </p:sp>
      <p:sp>
        <p:nvSpPr>
          <p:cNvPr id="25" name="Shape 23"/>
          <p:cNvSpPr/>
          <p:nvPr/>
        </p:nvSpPr>
        <p:spPr>
          <a:xfrm>
            <a:off x="4572000" y="4946904"/>
            <a:ext cx="1554480" cy="0"/>
          </a:xfrm>
          <a:prstGeom prst="line">
            <a:avLst/>
          </a:prstGeom>
          <a:noFill/>
          <a:ln w="15875">
            <a:solidFill>
              <a:srgbClr val="202CFC"/>
            </a:solidFill>
            <a:prstDash val="solid"/>
          </a:ln>
        </p:spPr>
      </p:sp>
      <p:sp>
        <p:nvSpPr>
          <p:cNvPr id="26" name="Shape 24"/>
          <p:cNvSpPr/>
          <p:nvPr/>
        </p:nvSpPr>
        <p:spPr>
          <a:xfrm>
            <a:off x="6126480" y="1801368"/>
            <a:ext cx="0" cy="3145536"/>
          </a:xfrm>
          <a:prstGeom prst="line">
            <a:avLst/>
          </a:prstGeom>
          <a:noFill/>
          <a:ln w="15875">
            <a:solidFill>
              <a:srgbClr val="202CFC"/>
            </a:solidFill>
            <a:prstDash val="solid"/>
          </a:ln>
        </p:spPr>
      </p:sp>
      <p:sp>
        <p:nvSpPr>
          <p:cNvPr id="27" name="Shape 25"/>
          <p:cNvSpPr/>
          <p:nvPr/>
        </p:nvSpPr>
        <p:spPr>
          <a:xfrm>
            <a:off x="6126480" y="1801368"/>
            <a:ext cx="960120" cy="0"/>
          </a:xfrm>
          <a:prstGeom prst="line">
            <a:avLst/>
          </a:prstGeom>
          <a:noFill/>
          <a:ln w="15875">
            <a:solidFill>
              <a:srgbClr val="202CFC"/>
            </a:solidFill>
            <a:prstDash val="solid"/>
            <a:tailEnd type="triangle"/>
          </a:ln>
        </p:spPr>
      </p:sp>
      <p:sp>
        <p:nvSpPr>
          <p:cNvPr id="28" name="Text 26"/>
          <p:cNvSpPr/>
          <p:nvPr/>
        </p:nvSpPr>
        <p:spPr>
          <a:xfrm>
            <a:off x="4709160" y="4690872"/>
            <a:ext cx="457200" cy="228600"/>
          </a:xfrm>
          <a:prstGeom prst="rect">
            <a:avLst/>
          </a:prstGeom>
          <a:noFill/>
          <a:ln/>
        </p:spPr>
        <p:txBody>
          <a:bodyPr wrap="square" lIns="0" tIns="0" rIns="0" bIns="0" rtlCol="0" anchor="ctr"/>
          <a:lstStyle/>
          <a:p>
            <a:pPr indent="0" marL="0">
              <a:buNone/>
            </a:pPr>
            <a:r>
              <a:rPr lang="en-US" sz="1100" i="1" dirty="0">
                <a:solidFill>
                  <a:srgbClr val="5A5F73"/>
                </a:solidFill>
                <a:latin typeface="Calibri" pitchFamily="34" charset="0"/>
                <a:ea typeface="Calibri" pitchFamily="34" charset="-122"/>
                <a:cs typeface="Calibri" pitchFamily="34" charset="-120"/>
              </a:rPr>
              <a:t>sí</a:t>
            </a:r>
            <a:endParaRPr lang="en-US" sz="1100" dirty="0"/>
          </a:p>
        </p:txBody>
      </p:sp>
      <p:sp>
        <p:nvSpPr>
          <p:cNvPr id="29" name="Shape 27"/>
          <p:cNvSpPr/>
          <p:nvPr/>
        </p:nvSpPr>
        <p:spPr>
          <a:xfrm>
            <a:off x="7086600" y="1572768"/>
            <a:ext cx="4206240" cy="457200"/>
          </a:xfrm>
          <a:prstGeom prst="rect">
            <a:avLst>
              <a:gd name="adj" fmla="val 50000"/>
            </a:avLst>
          </a:prstGeom>
          <a:solidFill>
            <a:srgbClr val="FFFFFF"/>
          </a:solidFill>
          <a:ln w="12700">
            <a:solidFill>
              <a:srgbClr val="C9CCD8"/>
            </a:solidFill>
            <a:prstDash val="solid"/>
          </a:ln>
        </p:spPr>
      </p:sp>
      <p:sp>
        <p:nvSpPr>
          <p:cNvPr id="30" name="Text 28"/>
          <p:cNvSpPr/>
          <p:nvPr/>
        </p:nvSpPr>
        <p:spPr>
          <a:xfrm>
            <a:off x="7196328" y="1572768"/>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Se buscan casos parecidos de otros diagnósticos</a:t>
            </a:r>
            <a:endParaRPr lang="en-US" sz="1200" dirty="0"/>
          </a:p>
        </p:txBody>
      </p:sp>
      <p:sp>
        <p:nvSpPr>
          <p:cNvPr id="31" name="Shape 29"/>
          <p:cNvSpPr/>
          <p:nvPr/>
        </p:nvSpPr>
        <p:spPr>
          <a:xfrm>
            <a:off x="7086600" y="2176272"/>
            <a:ext cx="4206240" cy="457200"/>
          </a:xfrm>
          <a:prstGeom prst="rect">
            <a:avLst>
              <a:gd name="adj" fmla="val 50000"/>
            </a:avLst>
          </a:prstGeom>
          <a:solidFill>
            <a:srgbClr val="FFFFFF"/>
          </a:solidFill>
          <a:ln w="12700">
            <a:solidFill>
              <a:srgbClr val="C9CCD8"/>
            </a:solidFill>
            <a:prstDash val="solid"/>
          </a:ln>
        </p:spPr>
      </p:sp>
      <p:sp>
        <p:nvSpPr>
          <p:cNvPr id="32" name="Text 30"/>
          <p:cNvSpPr/>
          <p:nvPr/>
        </p:nvSpPr>
        <p:spPr>
          <a:xfrm>
            <a:off x="7196328" y="2176272"/>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El agente solicita la información que necesita</a:t>
            </a:r>
            <a:endParaRPr lang="en-US" sz="1200" dirty="0"/>
          </a:p>
        </p:txBody>
      </p:sp>
      <p:sp>
        <p:nvSpPr>
          <p:cNvPr id="33" name="Shape 31"/>
          <p:cNvSpPr/>
          <p:nvPr/>
        </p:nvSpPr>
        <p:spPr>
          <a:xfrm>
            <a:off x="9189720" y="2029968"/>
            <a:ext cx="0" cy="146304"/>
          </a:xfrm>
          <a:prstGeom prst="line">
            <a:avLst/>
          </a:prstGeom>
          <a:noFill/>
          <a:ln w="15875">
            <a:solidFill>
              <a:srgbClr val="202CFC"/>
            </a:solidFill>
            <a:prstDash val="solid"/>
            <a:tailEnd type="triangle"/>
          </a:ln>
        </p:spPr>
      </p:sp>
      <p:sp>
        <p:nvSpPr>
          <p:cNvPr id="34" name="Shape 32"/>
          <p:cNvSpPr/>
          <p:nvPr/>
        </p:nvSpPr>
        <p:spPr>
          <a:xfrm>
            <a:off x="7086600" y="2779776"/>
            <a:ext cx="4206240" cy="457200"/>
          </a:xfrm>
          <a:prstGeom prst="rect">
            <a:avLst>
              <a:gd name="adj" fmla="val 50000"/>
            </a:avLst>
          </a:prstGeom>
          <a:solidFill>
            <a:srgbClr val="FFFFFF"/>
          </a:solidFill>
          <a:ln w="12700">
            <a:solidFill>
              <a:srgbClr val="C9CCD8"/>
            </a:solidFill>
            <a:prstDash val="solid"/>
          </a:ln>
        </p:spPr>
      </p:sp>
      <p:sp>
        <p:nvSpPr>
          <p:cNvPr id="35" name="Text 33"/>
          <p:cNvSpPr/>
          <p:nvPr/>
        </p:nvSpPr>
        <p:spPr>
          <a:xfrm>
            <a:off x="7196328" y="2779776"/>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Devuelve explicación, severidad y comprobaciones</a:t>
            </a:r>
            <a:endParaRPr lang="en-US" sz="1200" dirty="0"/>
          </a:p>
        </p:txBody>
      </p:sp>
      <p:sp>
        <p:nvSpPr>
          <p:cNvPr id="36" name="Shape 34"/>
          <p:cNvSpPr/>
          <p:nvPr/>
        </p:nvSpPr>
        <p:spPr>
          <a:xfrm>
            <a:off x="9189720" y="2633472"/>
            <a:ext cx="0" cy="146304"/>
          </a:xfrm>
          <a:prstGeom prst="line">
            <a:avLst/>
          </a:prstGeom>
          <a:noFill/>
          <a:ln w="15875">
            <a:solidFill>
              <a:srgbClr val="202CFC"/>
            </a:solidFill>
            <a:prstDash val="solid"/>
            <a:tailEnd type="triangle"/>
          </a:ln>
        </p:spPr>
      </p:sp>
      <p:sp>
        <p:nvSpPr>
          <p:cNvPr id="37" name="Shape 35"/>
          <p:cNvSpPr/>
          <p:nvPr/>
        </p:nvSpPr>
        <p:spPr>
          <a:xfrm>
            <a:off x="7086600" y="3383280"/>
            <a:ext cx="4206240" cy="457200"/>
          </a:xfrm>
          <a:prstGeom prst="rect">
            <a:avLst>
              <a:gd name="adj" fmla="val 50000"/>
            </a:avLst>
          </a:prstGeom>
          <a:solidFill>
            <a:srgbClr val="FFFFFF"/>
          </a:solidFill>
          <a:ln w="12700">
            <a:solidFill>
              <a:srgbClr val="C9CCD8"/>
            </a:solidFill>
            <a:prstDash val="solid"/>
          </a:ln>
        </p:spPr>
      </p:sp>
      <p:sp>
        <p:nvSpPr>
          <p:cNvPr id="38" name="Text 36"/>
          <p:cNvSpPr/>
          <p:nvPr/>
        </p:nvSpPr>
        <p:spPr>
          <a:xfrm>
            <a:off x="7196328" y="3383280"/>
            <a:ext cx="3986784" cy="457200"/>
          </a:xfrm>
          <a:prstGeom prst="rect">
            <a:avLst/>
          </a:prstGeom>
          <a:noFill/>
          <a:ln/>
        </p:spPr>
        <p:txBody>
          <a:bodyPr wrap="square" lIns="0" tIns="0" rIns="0" bIns="0" rtlCol="0" anchor="ctr"/>
          <a:lstStyle/>
          <a:p>
            <a:pPr algn="ctr" indent="0" marL="0">
              <a:lnSpc>
                <a:spcPts val="1400"/>
              </a:lnSpc>
              <a:buNone/>
            </a:pPr>
            <a:r>
              <a:rPr lang="en-US" sz="1200" dirty="0">
                <a:solidFill>
                  <a:srgbClr val="1A1C2E"/>
                </a:solidFill>
                <a:latin typeface="Calibri" pitchFamily="34" charset="0"/>
                <a:ea typeface="Calibri" pitchFamily="34" charset="-122"/>
                <a:cs typeface="Calibri" pitchFamily="34" charset="-120"/>
              </a:rPr>
              <a:t>El caso se indexa en el catálogo</a:t>
            </a:r>
            <a:endParaRPr lang="en-US" sz="1200" dirty="0"/>
          </a:p>
        </p:txBody>
      </p:sp>
      <p:sp>
        <p:nvSpPr>
          <p:cNvPr id="39" name="Shape 37"/>
          <p:cNvSpPr/>
          <p:nvPr/>
        </p:nvSpPr>
        <p:spPr>
          <a:xfrm>
            <a:off x="9189720" y="3236976"/>
            <a:ext cx="0" cy="146304"/>
          </a:xfrm>
          <a:prstGeom prst="line">
            <a:avLst/>
          </a:prstGeom>
          <a:noFill/>
          <a:ln w="15875">
            <a:solidFill>
              <a:srgbClr val="202CFC"/>
            </a:solidFill>
            <a:prstDash val="solid"/>
            <a:tailEnd type="triangle"/>
          </a:ln>
        </p:spPr>
      </p:sp>
      <p:sp>
        <p:nvSpPr>
          <p:cNvPr id="40" name="Shape 38"/>
          <p:cNvSpPr/>
          <p:nvPr/>
        </p:nvSpPr>
        <p:spPr>
          <a:xfrm>
            <a:off x="7086600" y="3986784"/>
            <a:ext cx="4206240" cy="457200"/>
          </a:xfrm>
          <a:prstGeom prst="roundRect">
            <a:avLst>
              <a:gd name="adj" fmla="val 50000"/>
            </a:avLst>
          </a:prstGeom>
          <a:solidFill>
            <a:srgbClr val="1A1C2E"/>
          </a:solidFill>
          <a:ln w="12700">
            <a:solidFill>
              <a:srgbClr val="1A1C2E"/>
            </a:solidFill>
            <a:prstDash val="solid"/>
          </a:ln>
        </p:spPr>
      </p:sp>
      <p:sp>
        <p:nvSpPr>
          <p:cNvPr id="41" name="Text 39"/>
          <p:cNvSpPr/>
          <p:nvPr/>
        </p:nvSpPr>
        <p:spPr>
          <a:xfrm>
            <a:off x="7196328" y="3986784"/>
            <a:ext cx="3986784" cy="457200"/>
          </a:xfrm>
          <a:prstGeom prst="rect">
            <a:avLst/>
          </a:prstGeom>
          <a:noFill/>
          <a:ln/>
        </p:spPr>
        <p:txBody>
          <a:bodyPr wrap="square" lIns="0" tIns="0" rIns="0" bIns="0" rtlCol="0" anchor="ctr"/>
          <a:lstStyle/>
          <a:p>
            <a:pPr algn="ctr" indent="0" marL="0">
              <a:lnSpc>
                <a:spcPts val="1400"/>
              </a:lnSpc>
              <a:buNone/>
            </a:pPr>
            <a:r>
              <a:rPr lang="en-US" sz="1200" b="1" dirty="0">
                <a:solidFill>
                  <a:srgbClr val="FFFFFF"/>
                </a:solidFill>
                <a:latin typeface="Calibri" pitchFamily="34" charset="0"/>
                <a:ea typeface="Calibri" pitchFamily="34" charset="-122"/>
                <a:cs typeface="Calibri" pitchFamily="34" charset="-120"/>
              </a:rPr>
              <a:t>Disponible para diagnósticos posteriores</a:t>
            </a:r>
            <a:endParaRPr lang="en-US" sz="1200" dirty="0"/>
          </a:p>
        </p:txBody>
      </p:sp>
      <p:sp>
        <p:nvSpPr>
          <p:cNvPr id="42" name="Shape 40"/>
          <p:cNvSpPr/>
          <p:nvPr/>
        </p:nvSpPr>
        <p:spPr>
          <a:xfrm>
            <a:off x="9189720" y="3840480"/>
            <a:ext cx="0" cy="146304"/>
          </a:xfrm>
          <a:prstGeom prst="line">
            <a:avLst/>
          </a:prstGeom>
          <a:noFill/>
          <a:ln w="15875">
            <a:solidFill>
              <a:srgbClr val="202CFC"/>
            </a:solidFill>
            <a:prstDash val="solid"/>
            <a:tailEnd type="triangle"/>
          </a:ln>
        </p:spPr>
      </p:sp>
      <p:sp>
        <p:nvSpPr>
          <p:cNvPr id="43" name="Shape 41"/>
          <p:cNvSpPr/>
          <p:nvPr/>
        </p:nvSpPr>
        <p:spPr>
          <a:xfrm>
            <a:off x="777240" y="6263640"/>
            <a:ext cx="219456" cy="219456"/>
          </a:xfrm>
          <a:prstGeom prst="rect">
            <a:avLst/>
          </a:prstGeom>
          <a:solidFill>
            <a:srgbClr val="202CFC"/>
          </a:solidFill>
          <a:ln/>
        </p:spPr>
      </p:sp>
      <p:sp>
        <p:nvSpPr>
          <p:cNvPr id="44" name="Text 4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45" name="Text 4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46" name="Text 4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Diagnóstico determinista y diagnóstico cognitivo</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El determinista siempre está disponible; el cognitivo requiere un modelo configurado.</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Determinista</a:t>
            </a:r>
            <a:endParaRPr lang="en-US" sz="20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Lee cuatro PIDs fijos: revoluciones, refrigerante, velocidad y admisión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Más los DTCs y el freeze frame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 criticidad sale de una regla: sin DTCs es baja, con freeze frame es crítica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Solo necesita el coche, y responde al momento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No aprende nada</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Cognitivo</a:t>
            </a:r>
            <a:endParaRPr lang="en-US" sz="2000" dirty="0"/>
          </a:p>
        </p:txBody>
      </p:sp>
      <p:sp>
        <p:nvSpPr>
          <p:cNvPr id="7" name="Text 5"/>
          <p:cNvSpPr/>
          <p:nvPr/>
        </p:nvSpPr>
        <p:spPr>
          <a:xfrm>
            <a:off x="653796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agente decide qué PIDs le hace falta leer</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Razona sobre lo que va encontrando, llamando a herramientas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Necesita el coche, la API del modelo y los índices vectoriales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Hasta 60 segundos de límite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Y aprende: indexa PIDs, DTCs y el caso resuelto</a:t>
            </a:r>
            <a:endParaRPr lang="en-US" sz="15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48640"/>
            <a:ext cx="10607040" cy="73152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Tecnologías utilizadas</a:t>
            </a:r>
            <a:endParaRPr lang="en-US" sz="3400" dirty="0"/>
          </a:p>
        </p:txBody>
      </p:sp>
      <p:sp>
        <p:nvSpPr>
          <p:cNvPr id="3" name="Text 1"/>
          <p:cNvSpPr/>
          <p:nvPr/>
        </p:nvSpPr>
        <p:spPr>
          <a:xfrm>
            <a:off x="777240" y="1371600"/>
            <a:ext cx="10607040" cy="365760"/>
          </a:xfrm>
          <a:prstGeom prst="rect">
            <a:avLst/>
          </a:prstGeom>
          <a:noFill/>
          <a:ln/>
        </p:spPr>
        <p:txBody>
          <a:bodyPr wrap="square" lIns="0" tIns="0" rIns="0" bIns="0" rtlCol="0" anchor="t"/>
          <a:lstStyle/>
          <a:p>
            <a:pPr indent="0" marL="0">
              <a:buNone/>
            </a:pPr>
            <a:r>
              <a:rPr lang="en-US" sz="1600" dirty="0">
                <a:solidFill>
                  <a:srgbClr val="5A5F73"/>
                </a:solidFill>
                <a:latin typeface="Calibri" pitchFamily="34" charset="0"/>
                <a:ea typeface="Calibri" pitchFamily="34" charset="-122"/>
                <a:cs typeface="Calibri" pitchFamily="34" charset="-120"/>
              </a:rPr>
              <a:t>TypeScript en todo el proyecto, y cada dependencia externa detrás de un puerto.</a:t>
            </a:r>
            <a:endParaRPr lang="en-US" sz="1600" dirty="0"/>
          </a:p>
        </p:txBody>
      </p:sp>
      <p:sp>
        <p:nvSpPr>
          <p:cNvPr id="4" name="Text 2"/>
          <p:cNvSpPr/>
          <p:nvPr/>
        </p:nvSpPr>
        <p:spPr>
          <a:xfrm>
            <a:off x="777240" y="21488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Lenguaje y runtime</a:t>
            </a:r>
            <a:endParaRPr lang="en-US" sz="1400" dirty="0"/>
          </a:p>
        </p:txBody>
      </p:sp>
      <p:sp>
        <p:nvSpPr>
          <p:cNvPr id="5" name="Text 3"/>
          <p:cNvSpPr/>
          <p:nvPr/>
        </p:nvSpPr>
        <p:spPr>
          <a:xfrm>
            <a:off x="3931920" y="21488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TypeScript 5.7 estricto sobre Node 22</a:t>
            </a:r>
            <a:endParaRPr lang="en-US" sz="1400" dirty="0"/>
          </a:p>
        </p:txBody>
      </p:sp>
      <p:sp>
        <p:nvSpPr>
          <p:cNvPr id="6" name="Text 4"/>
          <p:cNvSpPr/>
          <p:nvPr/>
        </p:nvSpPr>
        <p:spPr>
          <a:xfrm>
            <a:off x="777240" y="26060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API</a:t>
            </a:r>
            <a:endParaRPr lang="en-US" sz="1400" dirty="0"/>
          </a:p>
        </p:txBody>
      </p:sp>
      <p:sp>
        <p:nvSpPr>
          <p:cNvPr id="7" name="Text 5"/>
          <p:cNvSpPr/>
          <p:nvPr/>
        </p:nvSpPr>
        <p:spPr>
          <a:xfrm>
            <a:off x="3931920" y="26060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Express 5 · Zod · Helmet 8 · JWT · pino</a:t>
            </a:r>
            <a:endParaRPr lang="en-US" sz="1400" dirty="0"/>
          </a:p>
        </p:txBody>
      </p:sp>
      <p:sp>
        <p:nvSpPr>
          <p:cNvPr id="8" name="Text 6"/>
          <p:cNvSpPr/>
          <p:nvPr/>
        </p:nvSpPr>
        <p:spPr>
          <a:xfrm>
            <a:off x="777240" y="30632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Persistencia</a:t>
            </a:r>
            <a:endParaRPr lang="en-US" sz="1400" dirty="0"/>
          </a:p>
        </p:txBody>
      </p:sp>
      <p:sp>
        <p:nvSpPr>
          <p:cNvPr id="9" name="Text 7"/>
          <p:cNvSpPr/>
          <p:nvPr/>
        </p:nvSpPr>
        <p:spPr>
          <a:xfrm>
            <a:off x="3931920" y="30632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SQLite con Drizzle ORM</a:t>
            </a:r>
            <a:endParaRPr lang="en-US" sz="1400" dirty="0"/>
          </a:p>
        </p:txBody>
      </p:sp>
      <p:sp>
        <p:nvSpPr>
          <p:cNvPr id="10" name="Text 8"/>
          <p:cNvSpPr/>
          <p:nvPr/>
        </p:nvSpPr>
        <p:spPr>
          <a:xfrm>
            <a:off x="777240" y="35204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Búsqueda vectorial</a:t>
            </a:r>
            <a:endParaRPr lang="en-US" sz="1400" dirty="0"/>
          </a:p>
        </p:txBody>
      </p:sp>
      <p:sp>
        <p:nvSpPr>
          <p:cNvPr id="11" name="Text 9"/>
          <p:cNvSpPr/>
          <p:nvPr/>
        </p:nvSpPr>
        <p:spPr>
          <a:xfrm>
            <a:off x="3931920" y="35204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LanceDB · transformers.js en local</a:t>
            </a:r>
            <a:endParaRPr lang="en-US" sz="1400" dirty="0"/>
          </a:p>
        </p:txBody>
      </p:sp>
      <p:sp>
        <p:nvSpPr>
          <p:cNvPr id="12" name="Text 10"/>
          <p:cNvSpPr/>
          <p:nvPr/>
        </p:nvSpPr>
        <p:spPr>
          <a:xfrm>
            <a:off x="777240" y="39776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Agente</a:t>
            </a:r>
            <a:endParaRPr lang="en-US" sz="1400" dirty="0"/>
          </a:p>
        </p:txBody>
      </p:sp>
      <p:sp>
        <p:nvSpPr>
          <p:cNvPr id="13" name="Text 11"/>
          <p:cNvSpPr/>
          <p:nvPr/>
        </p:nvSpPr>
        <p:spPr>
          <a:xfrm>
            <a:off x="3931920" y="39776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MCP SDK · SDK de Anthropic · SDK de OpenAI</a:t>
            </a:r>
            <a:endParaRPr lang="en-US" sz="1400" dirty="0"/>
          </a:p>
        </p:txBody>
      </p:sp>
      <p:sp>
        <p:nvSpPr>
          <p:cNvPr id="14" name="Text 12"/>
          <p:cNvSpPr/>
          <p:nvPr/>
        </p:nvSpPr>
        <p:spPr>
          <a:xfrm>
            <a:off x="777240" y="44348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Acceso al coche</a:t>
            </a:r>
            <a:endParaRPr lang="en-US" sz="1400" dirty="0"/>
          </a:p>
        </p:txBody>
      </p:sp>
      <p:sp>
        <p:nvSpPr>
          <p:cNvPr id="15" name="Text 13"/>
          <p:cNvSpPr/>
          <p:nvPr/>
        </p:nvSpPr>
        <p:spPr>
          <a:xfrm>
            <a:off x="3931920" y="44348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ELM327 por serie o TCP · emulador Python</a:t>
            </a:r>
            <a:endParaRPr lang="en-US" sz="1400" dirty="0"/>
          </a:p>
        </p:txBody>
      </p:sp>
      <p:sp>
        <p:nvSpPr>
          <p:cNvPr id="16" name="Text 14"/>
          <p:cNvSpPr/>
          <p:nvPr/>
        </p:nvSpPr>
        <p:spPr>
          <a:xfrm>
            <a:off x="777240" y="48920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Interfaz</a:t>
            </a:r>
            <a:endParaRPr lang="en-US" sz="1400" dirty="0"/>
          </a:p>
        </p:txBody>
      </p:sp>
      <p:sp>
        <p:nvSpPr>
          <p:cNvPr id="17" name="Text 15"/>
          <p:cNvSpPr/>
          <p:nvPr/>
        </p:nvSpPr>
        <p:spPr>
          <a:xfrm>
            <a:off x="3931920" y="48920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React 19 · Vite · TanStack Router y Query · Tailwind</a:t>
            </a:r>
            <a:endParaRPr lang="en-US" sz="1400" dirty="0"/>
          </a:p>
        </p:txBody>
      </p:sp>
      <p:sp>
        <p:nvSpPr>
          <p:cNvPr id="18" name="Text 16"/>
          <p:cNvSpPr/>
          <p:nvPr/>
        </p:nvSpPr>
        <p:spPr>
          <a:xfrm>
            <a:off x="777240" y="53492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Pruebas</a:t>
            </a:r>
            <a:endParaRPr lang="en-US" sz="1400" dirty="0"/>
          </a:p>
        </p:txBody>
      </p:sp>
      <p:sp>
        <p:nvSpPr>
          <p:cNvPr id="19" name="Text 17"/>
          <p:cNvSpPr/>
          <p:nvPr/>
        </p:nvSpPr>
        <p:spPr>
          <a:xfrm>
            <a:off x="3931920" y="53492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Vitest · supertest · Playwright</a:t>
            </a:r>
            <a:endParaRPr lang="en-US" sz="1400" dirty="0"/>
          </a:p>
        </p:txBody>
      </p:sp>
      <p:sp>
        <p:nvSpPr>
          <p:cNvPr id="20" name="Text 18"/>
          <p:cNvSpPr/>
          <p:nvPr/>
        </p:nvSpPr>
        <p:spPr>
          <a:xfrm>
            <a:off x="777240" y="5806440"/>
            <a:ext cx="3017520" cy="384048"/>
          </a:xfrm>
          <a:prstGeom prst="rect">
            <a:avLst/>
          </a:prstGeom>
          <a:noFill/>
          <a:ln/>
        </p:spPr>
        <p:txBody>
          <a:bodyPr wrap="square" lIns="0" tIns="0" rIns="0" bIns="0" rtlCol="0" anchor="ctr"/>
          <a:lstStyle/>
          <a:p>
            <a:pPr indent="0" marL="0">
              <a:buNone/>
            </a:pPr>
            <a:r>
              <a:rPr lang="en-US" sz="1400" b="1" dirty="0">
                <a:solidFill>
                  <a:srgbClr val="202CFC"/>
                </a:solidFill>
                <a:latin typeface="Arial" pitchFamily="34" charset="0"/>
                <a:ea typeface="Arial" pitchFamily="34" charset="-122"/>
                <a:cs typeface="Arial" pitchFamily="34" charset="-120"/>
              </a:rPr>
              <a:t>Entrega</a:t>
            </a:r>
            <a:endParaRPr lang="en-US" sz="1400" dirty="0"/>
          </a:p>
        </p:txBody>
      </p:sp>
      <p:sp>
        <p:nvSpPr>
          <p:cNvPr id="21" name="Text 19"/>
          <p:cNvSpPr/>
          <p:nvPr/>
        </p:nvSpPr>
        <p:spPr>
          <a:xfrm>
            <a:off x="3931920" y="5806440"/>
            <a:ext cx="7452360" cy="384048"/>
          </a:xfrm>
          <a:prstGeom prst="rect">
            <a:avLst/>
          </a:prstGeom>
          <a:noFill/>
          <a:ln/>
        </p:spPr>
        <p:txBody>
          <a:bodyPr wrap="square" lIns="0" tIns="0" rIns="0" bIns="0" rtlCol="0" anchor="ctr"/>
          <a:lstStyle/>
          <a:p>
            <a:pPr indent="0" marL="0">
              <a:buNone/>
            </a:pPr>
            <a:r>
              <a:rPr lang="en-US" sz="1400" dirty="0">
                <a:solidFill>
                  <a:srgbClr val="1A1C2E"/>
                </a:solidFill>
                <a:latin typeface="Calibri" pitchFamily="34" charset="0"/>
                <a:ea typeface="Calibri" pitchFamily="34" charset="-122"/>
                <a:cs typeface="Calibri" pitchFamily="34" charset="-120"/>
              </a:rPr>
              <a:t>GitHub Actions · Docker · Caddy</a:t>
            </a:r>
            <a:endParaRPr lang="en-US" sz="1400" dirty="0"/>
          </a:p>
        </p:txBody>
      </p:sp>
      <p:sp>
        <p:nvSpPr>
          <p:cNvPr id="22" name="Shape 20"/>
          <p:cNvSpPr/>
          <p:nvPr/>
        </p:nvSpPr>
        <p:spPr>
          <a:xfrm>
            <a:off x="777240" y="6263640"/>
            <a:ext cx="219456" cy="219456"/>
          </a:xfrm>
          <a:prstGeom prst="rect">
            <a:avLst/>
          </a:prstGeom>
          <a:solidFill>
            <a:srgbClr val="202CFC"/>
          </a:solidFill>
          <a:ln/>
        </p:spPr>
      </p:sp>
      <p:sp>
        <p:nvSpPr>
          <p:cNvPr id="23" name="Text 21"/>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4" name="Text 22"/>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5" name="Text 23"/>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Clean Architecture con puertos y adaptadores</a:t>
            </a:r>
            <a:endParaRPr lang="en-US" sz="3400" dirty="0"/>
          </a:p>
        </p:txBody>
      </p:sp>
      <p:sp>
        <p:nvSpPr>
          <p:cNvPr id="3" name="Text 1"/>
          <p:cNvSpPr/>
          <p:nvPr/>
        </p:nvSpPr>
        <p:spPr>
          <a:xfrm>
            <a:off x="777240" y="1481328"/>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Tres capas —dominio, aplicación e infraestructura— con las dependencias siempre hacia dentro.</a:t>
            </a:r>
            <a:endParaRPr lang="en-US" sz="1700" dirty="0"/>
          </a:p>
        </p:txBody>
      </p:sp>
      <p:sp>
        <p:nvSpPr>
          <p:cNvPr id="4" name="Text 2"/>
          <p:cNvSpPr/>
          <p:nvPr/>
        </p:nvSpPr>
        <p:spPr>
          <a:xfrm>
            <a:off x="777240" y="2011680"/>
            <a:ext cx="10607040" cy="2743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Qué ha aportado en este proyecto</a:t>
            </a:r>
            <a:endParaRPr lang="en-US" sz="1500" dirty="0"/>
          </a:p>
        </p:txBody>
      </p:sp>
      <p:sp>
        <p:nvSpPr>
          <p:cNvPr id="5" name="Text 3"/>
          <p:cNvSpPr/>
          <p:nvPr/>
        </p:nvSpPr>
        <p:spPr>
          <a:xfrm>
            <a:off x="777240" y="2450592"/>
            <a:ext cx="457200" cy="292608"/>
          </a:xfrm>
          <a:prstGeom prst="rect">
            <a:avLst/>
          </a:prstGeom>
          <a:noFill/>
          <a:ln/>
        </p:spPr>
        <p:txBody>
          <a:bodyPr wrap="square" lIns="0" tIns="0" rIns="0" bIns="0" rtlCol="0" anchor="t"/>
          <a:lstStyle/>
          <a:p>
            <a:pPr indent="0" marL="0">
              <a:buNone/>
            </a:pPr>
            <a:r>
              <a:rPr lang="en-US" sz="1600" b="1" dirty="0">
                <a:solidFill>
                  <a:srgbClr val="202CFC"/>
                </a:solidFill>
                <a:latin typeface="Arial" pitchFamily="34" charset="0"/>
                <a:ea typeface="Arial" pitchFamily="34" charset="-122"/>
                <a:cs typeface="Arial" pitchFamily="34" charset="-120"/>
              </a:rPr>
              <a:t>01</a:t>
            </a:r>
            <a:endParaRPr lang="en-US" sz="1600" dirty="0"/>
          </a:p>
        </p:txBody>
      </p:sp>
      <p:sp>
        <p:nvSpPr>
          <p:cNvPr id="6" name="Text 4"/>
          <p:cNvSpPr/>
          <p:nvPr/>
        </p:nvSpPr>
        <p:spPr>
          <a:xfrm>
            <a:off x="1325880" y="2450592"/>
            <a:ext cx="10058400" cy="292608"/>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El proyecto se ha desarrollado sin el vehículo</a:t>
            </a:r>
            <a:endParaRPr lang="en-US" sz="1700" dirty="0"/>
          </a:p>
        </p:txBody>
      </p:sp>
      <p:sp>
        <p:nvSpPr>
          <p:cNvPr id="7" name="Text 5"/>
          <p:cNvSpPr/>
          <p:nvPr/>
        </p:nvSpPr>
        <p:spPr>
          <a:xfrm>
            <a:off x="1325880" y="2752344"/>
            <a:ext cx="10058400" cy="292608"/>
          </a:xfrm>
          <a:prstGeom prst="rect">
            <a:avLst/>
          </a:prstGeom>
          <a:noFill/>
          <a:ln/>
        </p:spPr>
        <p:txBody>
          <a:bodyPr wrap="square" lIns="0" tIns="0" rIns="0" bIns="0" rtlCol="0" anchor="t"/>
          <a:lstStyle/>
          <a:p>
            <a:pPr indent="0" marL="0">
              <a:buNone/>
            </a:pPr>
            <a:r>
              <a:rPr lang="en-US" sz="1400" dirty="0">
                <a:solidFill>
                  <a:srgbClr val="5A5F73"/>
                </a:solidFill>
                <a:latin typeface="Calibri" pitchFamily="34" charset="0"/>
                <a:ea typeface="Calibri" pitchFamily="34" charset="-122"/>
                <a:cs typeface="Calibri" pitchFamily="34" charset="-120"/>
              </a:rPr>
              <a:t>Todo el desarrollo y las pruebas se han hecho contra emuladores: Audi, Kawasaki y Toyota.</a:t>
            </a:r>
            <a:endParaRPr lang="en-US" sz="1400" dirty="0"/>
          </a:p>
        </p:txBody>
      </p:sp>
      <p:sp>
        <p:nvSpPr>
          <p:cNvPr id="8" name="Text 6"/>
          <p:cNvSpPr/>
          <p:nvPr/>
        </p:nvSpPr>
        <p:spPr>
          <a:xfrm>
            <a:off x="777240" y="3118104"/>
            <a:ext cx="457200" cy="292608"/>
          </a:xfrm>
          <a:prstGeom prst="rect">
            <a:avLst/>
          </a:prstGeom>
          <a:noFill/>
          <a:ln/>
        </p:spPr>
        <p:txBody>
          <a:bodyPr wrap="square" lIns="0" tIns="0" rIns="0" bIns="0" rtlCol="0" anchor="t"/>
          <a:lstStyle/>
          <a:p>
            <a:pPr indent="0" marL="0">
              <a:buNone/>
            </a:pPr>
            <a:r>
              <a:rPr lang="en-US" sz="1600" b="1" dirty="0">
                <a:solidFill>
                  <a:srgbClr val="202CFC"/>
                </a:solidFill>
                <a:latin typeface="Arial" pitchFamily="34" charset="0"/>
                <a:ea typeface="Arial" pitchFamily="34" charset="-122"/>
                <a:cs typeface="Arial" pitchFamily="34" charset="-120"/>
              </a:rPr>
              <a:t>02</a:t>
            </a:r>
            <a:endParaRPr lang="en-US" sz="1600" dirty="0"/>
          </a:p>
        </p:txBody>
      </p:sp>
      <p:sp>
        <p:nvSpPr>
          <p:cNvPr id="9" name="Text 7"/>
          <p:cNvSpPr/>
          <p:nvPr/>
        </p:nvSpPr>
        <p:spPr>
          <a:xfrm>
            <a:off x="1325880" y="3118104"/>
            <a:ext cx="10058400" cy="292608"/>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La forma de conectarse al coche se decidió al final</a:t>
            </a:r>
            <a:endParaRPr lang="en-US" sz="1700" dirty="0"/>
          </a:p>
        </p:txBody>
      </p:sp>
      <p:sp>
        <p:nvSpPr>
          <p:cNvPr id="10" name="Text 8"/>
          <p:cNvSpPr/>
          <p:nvPr/>
        </p:nvSpPr>
        <p:spPr>
          <a:xfrm>
            <a:off x="1325880" y="3419856"/>
            <a:ext cx="10058400" cy="292608"/>
          </a:xfrm>
          <a:prstGeom prst="rect">
            <a:avLst/>
          </a:prstGeom>
          <a:noFill/>
          <a:ln/>
        </p:spPr>
        <p:txBody>
          <a:bodyPr wrap="square" lIns="0" tIns="0" rIns="0" bIns="0" rtlCol="0" anchor="t"/>
          <a:lstStyle/>
          <a:p>
            <a:pPr indent="0" marL="0">
              <a:buNone/>
            </a:pPr>
            <a:r>
              <a:rPr lang="en-US" sz="1400" dirty="0">
                <a:solidFill>
                  <a:srgbClr val="5A5F73"/>
                </a:solidFill>
                <a:latin typeface="Calibri" pitchFamily="34" charset="0"/>
                <a:ea typeface="Calibri" pitchFamily="34" charset="-122"/>
                <a:cs typeface="Calibri" pitchFamily="34" charset="-120"/>
              </a:rPr>
              <a:t>El transporte del lector es otro puerto: por red o por puerto serie, con reintentos por encima.</a:t>
            </a:r>
            <a:endParaRPr lang="en-US" sz="1400" dirty="0"/>
          </a:p>
        </p:txBody>
      </p:sp>
      <p:sp>
        <p:nvSpPr>
          <p:cNvPr id="11" name="Text 9"/>
          <p:cNvSpPr/>
          <p:nvPr/>
        </p:nvSpPr>
        <p:spPr>
          <a:xfrm>
            <a:off x="777240" y="3785616"/>
            <a:ext cx="457200" cy="292608"/>
          </a:xfrm>
          <a:prstGeom prst="rect">
            <a:avLst/>
          </a:prstGeom>
          <a:noFill/>
          <a:ln/>
        </p:spPr>
        <p:txBody>
          <a:bodyPr wrap="square" lIns="0" tIns="0" rIns="0" bIns="0" rtlCol="0" anchor="t"/>
          <a:lstStyle/>
          <a:p>
            <a:pPr indent="0" marL="0">
              <a:buNone/>
            </a:pPr>
            <a:r>
              <a:rPr lang="en-US" sz="1600" b="1" dirty="0">
                <a:solidFill>
                  <a:srgbClr val="202CFC"/>
                </a:solidFill>
                <a:latin typeface="Arial" pitchFamily="34" charset="0"/>
                <a:ea typeface="Arial" pitchFamily="34" charset="-122"/>
                <a:cs typeface="Arial" pitchFamily="34" charset="-120"/>
              </a:rPr>
              <a:t>03</a:t>
            </a:r>
            <a:endParaRPr lang="en-US" sz="1600" dirty="0"/>
          </a:p>
        </p:txBody>
      </p:sp>
      <p:sp>
        <p:nvSpPr>
          <p:cNvPr id="12" name="Text 10"/>
          <p:cNvSpPr/>
          <p:nvPr/>
        </p:nvSpPr>
        <p:spPr>
          <a:xfrm>
            <a:off x="1325880" y="3785616"/>
            <a:ext cx="10058400" cy="292608"/>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El diagnóstico cognitivo se añadió sin tocar el determinista</a:t>
            </a:r>
            <a:endParaRPr lang="en-US" sz="1700" dirty="0"/>
          </a:p>
        </p:txBody>
      </p:sp>
      <p:sp>
        <p:nvSpPr>
          <p:cNvPr id="13" name="Text 11"/>
          <p:cNvSpPr/>
          <p:nvPr/>
        </p:nvSpPr>
        <p:spPr>
          <a:xfrm>
            <a:off x="1325880" y="4087368"/>
            <a:ext cx="10058400" cy="292608"/>
          </a:xfrm>
          <a:prstGeom prst="rect">
            <a:avLst/>
          </a:prstGeom>
          <a:noFill/>
          <a:ln/>
        </p:spPr>
        <p:txBody>
          <a:bodyPr wrap="square" lIns="0" tIns="0" rIns="0" bIns="0" rtlCol="0" anchor="t"/>
          <a:lstStyle/>
          <a:p>
            <a:pPr indent="0" marL="0">
              <a:buNone/>
            </a:pPr>
            <a:r>
              <a:rPr lang="en-US" sz="1400" dirty="0">
                <a:solidFill>
                  <a:srgbClr val="5A5F73"/>
                </a:solidFill>
                <a:latin typeface="Calibri" pitchFamily="34" charset="0"/>
                <a:ea typeface="Calibri" pitchFamily="34" charset="-122"/>
                <a:cs typeface="Calibri" pitchFamily="34" charset="-120"/>
              </a:rPr>
              <a:t>El servidor MCP entró como un adaptador más. Los casos de uso que ya funcionaban no se modificaron.</a:t>
            </a:r>
            <a:endParaRPr lang="en-US" sz="1400" dirty="0"/>
          </a:p>
        </p:txBody>
      </p:sp>
      <p:sp>
        <p:nvSpPr>
          <p:cNvPr id="14" name="Text 12"/>
          <p:cNvSpPr/>
          <p:nvPr/>
        </p:nvSpPr>
        <p:spPr>
          <a:xfrm>
            <a:off x="777240" y="4453128"/>
            <a:ext cx="457200" cy="292608"/>
          </a:xfrm>
          <a:prstGeom prst="rect">
            <a:avLst/>
          </a:prstGeom>
          <a:noFill/>
          <a:ln/>
        </p:spPr>
        <p:txBody>
          <a:bodyPr wrap="square" lIns="0" tIns="0" rIns="0" bIns="0" rtlCol="0" anchor="t"/>
          <a:lstStyle/>
          <a:p>
            <a:pPr indent="0" marL="0">
              <a:buNone/>
            </a:pPr>
            <a:r>
              <a:rPr lang="en-US" sz="1600" b="1" dirty="0">
                <a:solidFill>
                  <a:srgbClr val="202CFC"/>
                </a:solidFill>
                <a:latin typeface="Arial" pitchFamily="34" charset="0"/>
                <a:ea typeface="Arial" pitchFamily="34" charset="-122"/>
                <a:cs typeface="Arial" pitchFamily="34" charset="-120"/>
              </a:rPr>
              <a:t>04</a:t>
            </a:r>
            <a:endParaRPr lang="en-US" sz="1600" dirty="0"/>
          </a:p>
        </p:txBody>
      </p:sp>
      <p:sp>
        <p:nvSpPr>
          <p:cNvPr id="15" name="Text 13"/>
          <p:cNvSpPr/>
          <p:nvPr/>
        </p:nvSpPr>
        <p:spPr>
          <a:xfrm>
            <a:off x="1325880" y="4453128"/>
            <a:ext cx="10058400" cy="292608"/>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Dos proveedores de modelo con el mismo código de diagnóstico</a:t>
            </a:r>
            <a:endParaRPr lang="en-US" sz="1700" dirty="0"/>
          </a:p>
        </p:txBody>
      </p:sp>
      <p:sp>
        <p:nvSpPr>
          <p:cNvPr id="16" name="Text 14"/>
          <p:cNvSpPr/>
          <p:nvPr/>
        </p:nvSpPr>
        <p:spPr>
          <a:xfrm>
            <a:off x="1325880" y="4754880"/>
            <a:ext cx="10058400" cy="292608"/>
          </a:xfrm>
          <a:prstGeom prst="rect">
            <a:avLst/>
          </a:prstGeom>
          <a:noFill/>
          <a:ln/>
        </p:spPr>
        <p:txBody>
          <a:bodyPr wrap="square" lIns="0" tIns="0" rIns="0" bIns="0" rtlCol="0" anchor="t"/>
          <a:lstStyle/>
          <a:p>
            <a:pPr indent="0" marL="0">
              <a:buNone/>
            </a:pPr>
            <a:r>
              <a:rPr lang="en-US" sz="1400" dirty="0">
                <a:solidFill>
                  <a:srgbClr val="5A5F73"/>
                </a:solidFill>
                <a:latin typeface="Calibri" pitchFamily="34" charset="0"/>
                <a:ea typeface="Calibri" pitchFamily="34" charset="-122"/>
                <a:cs typeface="Calibri" pitchFamily="34" charset="-120"/>
              </a:rPr>
              <a:t>En las pruebas el modelo se sustituye por un doble: el flujo se verifica sin llamar a uno real.</a:t>
            </a:r>
            <a:endParaRPr lang="en-US" sz="1400" dirty="0"/>
          </a:p>
        </p:txBody>
      </p:sp>
      <p:sp>
        <p:nvSpPr>
          <p:cNvPr id="17" name="Text 15"/>
          <p:cNvSpPr/>
          <p:nvPr/>
        </p:nvSpPr>
        <p:spPr>
          <a:xfrm>
            <a:off x="777240" y="5175504"/>
            <a:ext cx="10607040" cy="274320"/>
          </a:xfrm>
          <a:prstGeom prst="rect">
            <a:avLst/>
          </a:prstGeom>
          <a:noFill/>
          <a:ln/>
        </p:spPr>
        <p:txBody>
          <a:bodyPr wrap="square" lIns="0" tIns="0" rIns="0" bIns="0" rtlCol="0" anchor="t"/>
          <a:lstStyle/>
          <a:p>
            <a:pPr indent="0" marL="0">
              <a:buNone/>
            </a:pPr>
            <a:r>
              <a:rPr lang="en-US" sz="1500" b="1" dirty="0">
                <a:solidFill>
                  <a:srgbClr val="1A1C2E"/>
                </a:solidFill>
                <a:latin typeface="Arial" pitchFamily="34" charset="0"/>
                <a:ea typeface="Arial" pitchFamily="34" charset="-122"/>
                <a:cs typeface="Arial" pitchFamily="34" charset="-120"/>
              </a:rPr>
              <a:t>Un ejemplo</a:t>
            </a:r>
            <a:endParaRPr lang="en-US" sz="1500" dirty="0"/>
          </a:p>
        </p:txBody>
      </p:sp>
      <p:sp>
        <p:nvSpPr>
          <p:cNvPr id="18" name="Text 16"/>
          <p:cNvSpPr/>
          <p:nvPr/>
        </p:nvSpPr>
        <p:spPr>
          <a:xfrm>
            <a:off x="777240" y="5559552"/>
            <a:ext cx="2651760" cy="329184"/>
          </a:xfrm>
          <a:prstGeom prst="rect">
            <a:avLst/>
          </a:prstGeom>
          <a:noFill/>
          <a:ln/>
        </p:spPr>
        <p:txBody>
          <a:bodyPr wrap="square" lIns="0" tIns="0" rIns="0" bIns="0" rtlCol="0" anchor="ctr"/>
          <a:lstStyle/>
          <a:p>
            <a:pPr algn="l" indent="0" marL="0">
              <a:buNone/>
            </a:pPr>
            <a:r>
              <a:rPr lang="en-US" sz="1300" dirty="0">
                <a:solidFill>
                  <a:srgbClr val="1A1C2E"/>
                </a:solidFill>
                <a:latin typeface="Calibri" pitchFamily="34" charset="0"/>
                <a:ea typeface="Calibri" pitchFamily="34" charset="-122"/>
                <a:cs typeface="Calibri" pitchFamily="34" charset="-120"/>
              </a:rPr>
              <a:t>Caso de uso de diagnóstico</a:t>
            </a:r>
            <a:endParaRPr lang="en-US" sz="1300" dirty="0"/>
          </a:p>
        </p:txBody>
      </p:sp>
      <p:sp>
        <p:nvSpPr>
          <p:cNvPr id="19" name="Text 17"/>
          <p:cNvSpPr/>
          <p:nvPr/>
        </p:nvSpPr>
        <p:spPr>
          <a:xfrm>
            <a:off x="3429000" y="5559552"/>
            <a:ext cx="457200" cy="329184"/>
          </a:xfrm>
          <a:prstGeom prst="rect">
            <a:avLst/>
          </a:prstGeom>
          <a:noFill/>
          <a:ln/>
        </p:spPr>
        <p:txBody>
          <a:bodyPr wrap="square" lIns="0" tIns="0" rIns="0" bIns="0" rtlCol="0" anchor="ctr"/>
          <a:lstStyle/>
          <a:p>
            <a:pPr algn="ctr" indent="0" marL="0">
              <a:buNone/>
            </a:pPr>
            <a:r>
              <a:rPr lang="en-US" sz="1600" b="1" dirty="0">
                <a:solidFill>
                  <a:srgbClr val="8A93FF"/>
                </a:solidFill>
                <a:latin typeface="Calibri" pitchFamily="34" charset="0"/>
                <a:ea typeface="Calibri" pitchFamily="34" charset="-122"/>
                <a:cs typeface="Calibri" pitchFamily="34" charset="-120"/>
              </a:rPr>
              <a:t>→</a:t>
            </a:r>
            <a:endParaRPr lang="en-US" sz="1600" dirty="0"/>
          </a:p>
        </p:txBody>
      </p:sp>
      <p:sp>
        <p:nvSpPr>
          <p:cNvPr id="20" name="Text 18"/>
          <p:cNvSpPr/>
          <p:nvPr/>
        </p:nvSpPr>
        <p:spPr>
          <a:xfrm>
            <a:off x="4023360" y="5559552"/>
            <a:ext cx="2834640" cy="329184"/>
          </a:xfrm>
          <a:prstGeom prst="rect">
            <a:avLst/>
          </a:prstGeom>
          <a:noFill/>
          <a:ln/>
        </p:spPr>
        <p:txBody>
          <a:bodyPr wrap="square" lIns="0" tIns="0" rIns="0" bIns="0" rtlCol="0" anchor="ctr"/>
          <a:lstStyle/>
          <a:p>
            <a:pPr algn="l" indent="0" marL="0">
              <a:buNone/>
            </a:pPr>
            <a:r>
              <a:rPr lang="en-US" sz="1300" dirty="0">
                <a:solidFill>
                  <a:srgbClr val="1A1C2E"/>
                </a:solidFill>
                <a:latin typeface="Calibri" pitchFamily="34" charset="0"/>
                <a:ea typeface="Calibri" pitchFamily="34" charset="-122"/>
                <a:cs typeface="Calibri" pitchFamily="34" charset="-120"/>
              </a:rPr>
              <a:t>Puerto de lectura del vehículo</a:t>
            </a:r>
            <a:endParaRPr lang="en-US" sz="1300" dirty="0"/>
          </a:p>
        </p:txBody>
      </p:sp>
      <p:sp>
        <p:nvSpPr>
          <p:cNvPr id="21" name="Text 19"/>
          <p:cNvSpPr/>
          <p:nvPr/>
        </p:nvSpPr>
        <p:spPr>
          <a:xfrm>
            <a:off x="6858000" y="5358384"/>
            <a:ext cx="457200" cy="329184"/>
          </a:xfrm>
          <a:prstGeom prst="rect">
            <a:avLst/>
          </a:prstGeom>
          <a:noFill/>
          <a:ln/>
        </p:spPr>
        <p:txBody>
          <a:bodyPr wrap="square" lIns="0" tIns="0" rIns="0" bIns="0" rtlCol="0" anchor="ctr"/>
          <a:lstStyle/>
          <a:p>
            <a:pPr algn="ctr" indent="0" marL="0">
              <a:buNone/>
            </a:pPr>
            <a:r>
              <a:rPr lang="en-US" sz="1600" b="1" dirty="0">
                <a:solidFill>
                  <a:srgbClr val="8A93FF"/>
                </a:solidFill>
                <a:latin typeface="Calibri" pitchFamily="34" charset="0"/>
                <a:ea typeface="Calibri" pitchFamily="34" charset="-122"/>
                <a:cs typeface="Calibri" pitchFamily="34" charset="-120"/>
              </a:rPr>
              <a:t>→</a:t>
            </a:r>
            <a:endParaRPr lang="en-US" sz="1600" dirty="0"/>
          </a:p>
        </p:txBody>
      </p:sp>
      <p:sp>
        <p:nvSpPr>
          <p:cNvPr id="22" name="Text 20"/>
          <p:cNvSpPr/>
          <p:nvPr/>
        </p:nvSpPr>
        <p:spPr>
          <a:xfrm>
            <a:off x="6858000" y="5760720"/>
            <a:ext cx="457200" cy="329184"/>
          </a:xfrm>
          <a:prstGeom prst="rect">
            <a:avLst/>
          </a:prstGeom>
          <a:noFill/>
          <a:ln/>
        </p:spPr>
        <p:txBody>
          <a:bodyPr wrap="square" lIns="0" tIns="0" rIns="0" bIns="0" rtlCol="0" anchor="ctr"/>
          <a:lstStyle/>
          <a:p>
            <a:pPr algn="ctr" indent="0" marL="0">
              <a:buNone/>
            </a:pPr>
            <a:r>
              <a:rPr lang="en-US" sz="1600" b="1" dirty="0">
                <a:solidFill>
                  <a:srgbClr val="8A93FF"/>
                </a:solidFill>
                <a:latin typeface="Calibri" pitchFamily="34" charset="0"/>
                <a:ea typeface="Calibri" pitchFamily="34" charset="-122"/>
                <a:cs typeface="Calibri" pitchFamily="34" charset="-120"/>
              </a:rPr>
              <a:t>→</a:t>
            </a:r>
            <a:endParaRPr lang="en-US" sz="1600" dirty="0"/>
          </a:p>
        </p:txBody>
      </p:sp>
      <p:sp>
        <p:nvSpPr>
          <p:cNvPr id="23" name="Text 21"/>
          <p:cNvSpPr/>
          <p:nvPr/>
        </p:nvSpPr>
        <p:spPr>
          <a:xfrm>
            <a:off x="7452360" y="5358384"/>
            <a:ext cx="3840480" cy="329184"/>
          </a:xfrm>
          <a:prstGeom prst="rect">
            <a:avLst/>
          </a:prstGeom>
          <a:noFill/>
          <a:ln/>
        </p:spPr>
        <p:txBody>
          <a:bodyPr wrap="square" lIns="0" tIns="0" rIns="0" bIns="0" rtlCol="0" anchor="ctr"/>
          <a:lstStyle/>
          <a:p>
            <a:pPr algn="l" indent="0" marL="0">
              <a:buNone/>
            </a:pPr>
            <a:r>
              <a:rPr lang="en-US" sz="1300" dirty="0">
                <a:solidFill>
                  <a:srgbClr val="5A5F73"/>
                </a:solidFill>
                <a:latin typeface="Calibri" pitchFamily="34" charset="0"/>
                <a:ea typeface="Calibri" pitchFamily="34" charset="-122"/>
                <a:cs typeface="Calibri" pitchFamily="34" charset="-120"/>
              </a:rPr>
              <a:t>Lector ELM327 conectado al coche</a:t>
            </a:r>
            <a:endParaRPr lang="en-US" sz="1300" dirty="0"/>
          </a:p>
        </p:txBody>
      </p:sp>
      <p:sp>
        <p:nvSpPr>
          <p:cNvPr id="24" name="Text 22"/>
          <p:cNvSpPr/>
          <p:nvPr/>
        </p:nvSpPr>
        <p:spPr>
          <a:xfrm>
            <a:off x="7452360" y="5760720"/>
            <a:ext cx="3840480" cy="329184"/>
          </a:xfrm>
          <a:prstGeom prst="rect">
            <a:avLst/>
          </a:prstGeom>
          <a:noFill/>
          <a:ln/>
        </p:spPr>
        <p:txBody>
          <a:bodyPr wrap="square" lIns="0" tIns="0" rIns="0" bIns="0" rtlCol="0" anchor="ctr"/>
          <a:lstStyle/>
          <a:p>
            <a:pPr algn="l" indent="0" marL="0">
              <a:buNone/>
            </a:pPr>
            <a:r>
              <a:rPr lang="en-US" sz="1300" dirty="0">
                <a:solidFill>
                  <a:srgbClr val="5A5F73"/>
                </a:solidFill>
                <a:latin typeface="Calibri" pitchFamily="34" charset="0"/>
                <a:ea typeface="Calibri" pitchFamily="34" charset="-122"/>
                <a:cs typeface="Calibri" pitchFamily="34" charset="-120"/>
              </a:rPr>
              <a:t>Emulador en el portátil</a:t>
            </a:r>
            <a:endParaRPr lang="en-US" sz="1300" dirty="0"/>
          </a:p>
        </p:txBody>
      </p:sp>
      <p:sp>
        <p:nvSpPr>
          <p:cNvPr id="25" name="Shape 23"/>
          <p:cNvSpPr/>
          <p:nvPr/>
        </p:nvSpPr>
        <p:spPr>
          <a:xfrm>
            <a:off x="777240" y="6263640"/>
            <a:ext cx="219456" cy="219456"/>
          </a:xfrm>
          <a:prstGeom prst="rect">
            <a:avLst/>
          </a:prstGeom>
          <a:solidFill>
            <a:srgbClr val="202CFC"/>
          </a:solidFill>
          <a:ln/>
        </p:spPr>
      </p:sp>
      <p:sp>
        <p:nvSpPr>
          <p:cNvPr id="26" name="Text 24"/>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7" name="Text 25"/>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8" name="Text 26"/>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Adquisición de datos mediante OBD-II</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Ejemplo: lectura del régimen de giro del motor.</a:t>
            </a:r>
            <a:endParaRPr lang="en-US" sz="1700" dirty="0"/>
          </a:p>
        </p:txBody>
      </p:sp>
      <p:sp>
        <p:nvSpPr>
          <p:cNvPr id="4" name="Shape 2"/>
          <p:cNvSpPr/>
          <p:nvPr/>
        </p:nvSpPr>
        <p:spPr>
          <a:xfrm>
            <a:off x="777240" y="2331720"/>
            <a:ext cx="2194560" cy="1051560"/>
          </a:xfrm>
          <a:prstGeom prst="roundRect">
            <a:avLst>
              <a:gd name="adj" fmla="val 5217"/>
            </a:avLst>
          </a:prstGeom>
          <a:solidFill>
            <a:srgbClr val="FFFFFF"/>
          </a:solidFill>
          <a:ln w="12700">
            <a:solidFill>
              <a:srgbClr val="C9CCD8"/>
            </a:solidFill>
            <a:prstDash val="solid"/>
          </a:ln>
        </p:spPr>
      </p:sp>
      <p:sp>
        <p:nvSpPr>
          <p:cNvPr id="5" name="Text 3"/>
          <p:cNvSpPr/>
          <p:nvPr/>
        </p:nvSpPr>
        <p:spPr>
          <a:xfrm>
            <a:off x="77724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La aplicación</a:t>
            </a:r>
            <a:endParaRPr lang="en-US" sz="1500" dirty="0"/>
          </a:p>
        </p:txBody>
      </p:sp>
      <p:sp>
        <p:nvSpPr>
          <p:cNvPr id="6" name="Shape 4"/>
          <p:cNvSpPr/>
          <p:nvPr/>
        </p:nvSpPr>
        <p:spPr>
          <a:xfrm>
            <a:off x="3081528" y="2857500"/>
            <a:ext cx="374904" cy="0"/>
          </a:xfrm>
          <a:prstGeom prst="line">
            <a:avLst/>
          </a:prstGeom>
          <a:noFill/>
          <a:ln w="19050">
            <a:solidFill>
              <a:srgbClr val="202CFC"/>
            </a:solidFill>
            <a:prstDash val="solid"/>
            <a:tailEnd type="triangle"/>
          </a:ln>
        </p:spPr>
      </p:sp>
      <p:sp>
        <p:nvSpPr>
          <p:cNvPr id="7" name="Shape 5"/>
          <p:cNvSpPr/>
          <p:nvPr/>
        </p:nvSpPr>
        <p:spPr>
          <a:xfrm>
            <a:off x="3566160" y="2331720"/>
            <a:ext cx="2194560" cy="1051560"/>
          </a:xfrm>
          <a:prstGeom prst="roundRect">
            <a:avLst>
              <a:gd name="adj" fmla="val 5217"/>
            </a:avLst>
          </a:prstGeom>
          <a:solidFill>
            <a:srgbClr val="FFFFFF"/>
          </a:solidFill>
          <a:ln w="12700">
            <a:solidFill>
              <a:srgbClr val="C9CCD8"/>
            </a:solidFill>
            <a:prstDash val="solid"/>
          </a:ln>
        </p:spPr>
      </p:sp>
      <p:sp>
        <p:nvSpPr>
          <p:cNvPr id="8" name="Text 6"/>
          <p:cNvSpPr/>
          <p:nvPr/>
        </p:nvSpPr>
        <p:spPr>
          <a:xfrm>
            <a:off x="356616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Adaptador</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ELM327</a:t>
            </a:r>
            <a:endParaRPr lang="en-US" sz="1500" dirty="0"/>
          </a:p>
        </p:txBody>
      </p:sp>
      <p:sp>
        <p:nvSpPr>
          <p:cNvPr id="9" name="Shape 7"/>
          <p:cNvSpPr/>
          <p:nvPr/>
        </p:nvSpPr>
        <p:spPr>
          <a:xfrm>
            <a:off x="5870448" y="2857500"/>
            <a:ext cx="374904" cy="0"/>
          </a:xfrm>
          <a:prstGeom prst="line">
            <a:avLst/>
          </a:prstGeom>
          <a:noFill/>
          <a:ln w="19050">
            <a:solidFill>
              <a:srgbClr val="202CFC"/>
            </a:solidFill>
            <a:prstDash val="solid"/>
            <a:tailEnd type="triangle"/>
          </a:ln>
        </p:spPr>
      </p:sp>
      <p:sp>
        <p:nvSpPr>
          <p:cNvPr id="10" name="Shape 8"/>
          <p:cNvSpPr/>
          <p:nvPr/>
        </p:nvSpPr>
        <p:spPr>
          <a:xfrm>
            <a:off x="6355080" y="2331720"/>
            <a:ext cx="2194560" cy="1051560"/>
          </a:xfrm>
          <a:prstGeom prst="roundRect">
            <a:avLst>
              <a:gd name="adj" fmla="val 5217"/>
            </a:avLst>
          </a:prstGeom>
          <a:solidFill>
            <a:srgbClr val="FFFFFF"/>
          </a:solidFill>
          <a:ln w="12700">
            <a:solidFill>
              <a:srgbClr val="C9CCD8"/>
            </a:solidFill>
            <a:prstDash val="solid"/>
          </a:ln>
        </p:spPr>
      </p:sp>
      <p:sp>
        <p:nvSpPr>
          <p:cNvPr id="11" name="Text 9"/>
          <p:cNvSpPr/>
          <p:nvPr/>
        </p:nvSpPr>
        <p:spPr>
          <a:xfrm>
            <a:off x="635508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Bus CAN</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coche</a:t>
            </a:r>
            <a:endParaRPr lang="en-US" sz="1500" dirty="0"/>
          </a:p>
        </p:txBody>
      </p:sp>
      <p:sp>
        <p:nvSpPr>
          <p:cNvPr id="12" name="Shape 10"/>
          <p:cNvSpPr/>
          <p:nvPr/>
        </p:nvSpPr>
        <p:spPr>
          <a:xfrm>
            <a:off x="8659368" y="2857500"/>
            <a:ext cx="374904" cy="0"/>
          </a:xfrm>
          <a:prstGeom prst="line">
            <a:avLst/>
          </a:prstGeom>
          <a:noFill/>
          <a:ln w="19050">
            <a:solidFill>
              <a:srgbClr val="202CFC"/>
            </a:solidFill>
            <a:prstDash val="solid"/>
            <a:tailEnd type="triangle"/>
          </a:ln>
        </p:spPr>
      </p:sp>
      <p:sp>
        <p:nvSpPr>
          <p:cNvPr id="13" name="Shape 11"/>
          <p:cNvSpPr/>
          <p:nvPr/>
        </p:nvSpPr>
        <p:spPr>
          <a:xfrm>
            <a:off x="9144000" y="2331720"/>
            <a:ext cx="2194560" cy="1051560"/>
          </a:xfrm>
          <a:prstGeom prst="roundRect">
            <a:avLst>
              <a:gd name="adj" fmla="val 5217"/>
            </a:avLst>
          </a:prstGeom>
          <a:solidFill>
            <a:srgbClr val="FFFFFF"/>
          </a:solidFill>
          <a:ln w="12700">
            <a:solidFill>
              <a:srgbClr val="C9CCD8"/>
            </a:solidFill>
            <a:prstDash val="solid"/>
          </a:ln>
        </p:spPr>
      </p:sp>
      <p:sp>
        <p:nvSpPr>
          <p:cNvPr id="14" name="Text 12"/>
          <p:cNvSpPr/>
          <p:nvPr/>
        </p:nvSpPr>
        <p:spPr>
          <a:xfrm>
            <a:off x="914400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Centralita</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motor</a:t>
            </a:r>
            <a:endParaRPr lang="en-US" sz="1500" dirty="0"/>
          </a:p>
        </p:txBody>
      </p:sp>
      <p:sp>
        <p:nvSpPr>
          <p:cNvPr id="15" name="Text 13"/>
          <p:cNvSpPr/>
          <p:nvPr/>
        </p:nvSpPr>
        <p:spPr>
          <a:xfrm>
            <a:off x="777240" y="39776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Va</a:t>
            </a:r>
            <a:endParaRPr lang="en-US" sz="1400" dirty="0"/>
          </a:p>
        </p:txBody>
      </p:sp>
      <p:sp>
        <p:nvSpPr>
          <p:cNvPr id="16" name="Text 14"/>
          <p:cNvSpPr/>
          <p:nvPr/>
        </p:nvSpPr>
        <p:spPr>
          <a:xfrm>
            <a:off x="1828800" y="39776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01 0C</a:t>
            </a:r>
            <a:endParaRPr lang="en-US" sz="1600" dirty="0"/>
          </a:p>
        </p:txBody>
      </p:sp>
      <p:sp>
        <p:nvSpPr>
          <p:cNvPr id="17" name="Text 15"/>
          <p:cNvSpPr/>
          <p:nvPr/>
        </p:nvSpPr>
        <p:spPr>
          <a:xfrm>
            <a:off x="4206240" y="39776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modo 01, PID 0C — revoluciones</a:t>
            </a:r>
            <a:endParaRPr lang="en-US" sz="1400" dirty="0"/>
          </a:p>
        </p:txBody>
      </p:sp>
      <p:sp>
        <p:nvSpPr>
          <p:cNvPr id="18" name="Text 16"/>
          <p:cNvSpPr/>
          <p:nvPr/>
        </p:nvSpPr>
        <p:spPr>
          <a:xfrm>
            <a:off x="777240" y="44348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Vuelve</a:t>
            </a:r>
            <a:endParaRPr lang="en-US" sz="1400" dirty="0"/>
          </a:p>
        </p:txBody>
      </p:sp>
      <p:sp>
        <p:nvSpPr>
          <p:cNvPr id="19" name="Text 17"/>
          <p:cNvSpPr/>
          <p:nvPr/>
        </p:nvSpPr>
        <p:spPr>
          <a:xfrm>
            <a:off x="1828800" y="44348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41 0C 0B B8</a:t>
            </a:r>
            <a:endParaRPr lang="en-US" sz="1600" dirty="0"/>
          </a:p>
        </p:txBody>
      </p:sp>
      <p:sp>
        <p:nvSpPr>
          <p:cNvPr id="20" name="Text 18"/>
          <p:cNvSpPr/>
          <p:nvPr/>
        </p:nvSpPr>
        <p:spPr>
          <a:xfrm>
            <a:off x="4206240" y="44348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los dos bytes de datos son A = 0B y B = B8</a:t>
            </a:r>
            <a:endParaRPr lang="en-US" sz="1400" dirty="0"/>
          </a:p>
        </p:txBody>
      </p:sp>
      <p:sp>
        <p:nvSpPr>
          <p:cNvPr id="21" name="Text 19"/>
          <p:cNvSpPr/>
          <p:nvPr/>
        </p:nvSpPr>
        <p:spPr>
          <a:xfrm>
            <a:off x="777240" y="5166360"/>
            <a:ext cx="10607040" cy="411480"/>
          </a:xfrm>
          <a:prstGeom prst="rect">
            <a:avLst/>
          </a:prstGeom>
          <a:noFill/>
          <a:ln/>
        </p:spPr>
        <p:txBody>
          <a:bodyPr wrap="square" lIns="0" tIns="0" rIns="0" bIns="0" rtlCol="0" anchor="ctr"/>
          <a:lstStyle/>
          <a:p>
            <a:pPr indent="0" marL="0">
              <a:buNone/>
            </a:pPr>
            <a:r>
              <a:rPr lang="en-US" sz="1900" b="1" dirty="0">
                <a:solidFill>
                  <a:srgbClr val="1A1C2E"/>
                </a:solidFill>
                <a:latin typeface="Arial" pitchFamily="34" charset="0"/>
                <a:ea typeface="Arial" pitchFamily="34" charset="-122"/>
                <a:cs typeface="Arial" pitchFamily="34" charset="-120"/>
              </a:rPr>
              <a:t>(A × 256 + B) / 4   =   (11 × 256 + 184) / 4   =   </a:t>
            </a:r>
            <a:pPr indent="0" marL="0">
              <a:buNone/>
            </a:pPr>
            <a:r>
              <a:rPr lang="en-US" sz="1900" b="1" dirty="0">
                <a:solidFill>
                  <a:srgbClr val="202CFC"/>
                </a:solidFill>
                <a:latin typeface="Arial" pitchFamily="34" charset="0"/>
                <a:ea typeface="Arial" pitchFamily="34" charset="-122"/>
                <a:cs typeface="Arial" pitchFamily="34" charset="-120"/>
              </a:rPr>
              <a:t>750 rpm</a:t>
            </a:r>
            <a:endParaRPr lang="en-US" sz="1900" dirty="0"/>
          </a:p>
        </p:txBody>
      </p:sp>
      <p:sp>
        <p:nvSpPr>
          <p:cNvPr id="22" name="Shape 20"/>
          <p:cNvSpPr/>
          <p:nvPr/>
        </p:nvSpPr>
        <p:spPr>
          <a:xfrm>
            <a:off x="777240" y="6263640"/>
            <a:ext cx="219456" cy="219456"/>
          </a:xfrm>
          <a:prstGeom prst="rect">
            <a:avLst/>
          </a:prstGeom>
          <a:solidFill>
            <a:srgbClr val="202CFC"/>
          </a:solidFill>
          <a:ln/>
        </p:spPr>
      </p:sp>
      <p:sp>
        <p:nvSpPr>
          <p:cNvPr id="23" name="Text 21"/>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4" name="Text 22"/>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5" name="Text 23"/>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Persistencia: modelo relacional y modelo vectorial</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Una responde por clave exacta; la otra, por similitud semántica.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SQLite</a:t>
            </a:r>
            <a:endParaRPr lang="en-US" sz="2000" dirty="0"/>
          </a:p>
        </p:txBody>
      </p:sp>
      <p:sp>
        <p:nvSpPr>
          <p:cNvPr id="5" name="Text 3"/>
          <p:cNvSpPr/>
          <p:nvPr/>
        </p:nvSpPr>
        <p:spPr>
          <a:xfrm>
            <a:off x="777240" y="2834640"/>
            <a:ext cx="4846320" cy="1737360"/>
          </a:xfrm>
          <a:prstGeom prst="rect">
            <a:avLst/>
          </a:prstGeom>
          <a:noFill/>
          <a:ln/>
        </p:spPr>
        <p:txBody>
          <a:bodyPr wrap="square" lIns="0" tIns="0" rIns="0" bIns="0" rtlCol="0" anchor="t"/>
          <a:lstStyle/>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Usuarios, talleres, vehículos, ECUs y sesiones</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Los catálogos de PID, DTC y ECU: los de la norma y los que se descubren</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Se consulta por clave: este VIN, este PID</a:t>
            </a:r>
            <a:endParaRPr lang="en-US" sz="16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LanceDB, vectorial</a:t>
            </a:r>
            <a:endParaRPr lang="en-US" sz="2000" dirty="0"/>
          </a:p>
        </p:txBody>
      </p:sp>
      <p:sp>
        <p:nvSpPr>
          <p:cNvPr id="7" name="Text 5"/>
          <p:cNvSpPr/>
          <p:nvPr/>
        </p:nvSpPr>
        <p:spPr>
          <a:xfrm>
            <a:off x="6537960" y="2834640"/>
            <a:ext cx="4846320" cy="1737360"/>
          </a:xfrm>
          <a:prstGeom prst="rect">
            <a:avLst/>
          </a:prstGeom>
          <a:noFill/>
          <a:ln/>
        </p:spPr>
        <p:txBody>
          <a:bodyPr wrap="square" lIns="0" tIns="0" rIns="0" bIns="0" rtlCol="0" anchor="t"/>
          <a:lstStyle/>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Ese mismo conocimiento, indexado por significado</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Y los diagnósticos ya resueltos, que aquí no están</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Se consulta por parecido, no por clave</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El buscador de texto de SQLite no llega: «presión de aceite» no encuentra «oil pressure»</a:t>
            </a:r>
            <a:endParaRPr lang="en-US" sz="16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Base de datos relacional</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13 tablas: todo aquello que se consulta por una clave conocida.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Qué guarda</a:t>
            </a:r>
            <a:endParaRPr lang="en-US" sz="1900" dirty="0"/>
          </a:p>
        </p:txBody>
      </p:sp>
      <p:sp>
        <p:nvSpPr>
          <p:cNvPr id="5" name="Text 3"/>
          <p:cNvSpPr/>
          <p:nvPr/>
        </p:nvSpPr>
        <p:spPr>
          <a:xfrm>
            <a:off x="777240" y="2834640"/>
            <a:ext cx="4846320" cy="274320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Usuarios: particulares o talleres, con su rol</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Vehículos por VIN y las ECUs de cada uno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Sesiones de diagnóstico, con el informe congelado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Lecturas de PID: el hexadecimal crudo y el valor ya convertido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Logs y auditoría de cada petición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Y crece solo: un PID leído que no esté en el catálogo se inserta con confianza 0,3</a:t>
            </a:r>
            <a:endParaRPr lang="en-US" sz="15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Lo que viene sembrado al arrancar</a:t>
            </a:r>
            <a:endParaRPr lang="en-US" sz="1900" dirty="0"/>
          </a:p>
        </p:txBody>
      </p:sp>
      <p:sp>
        <p:nvSpPr>
          <p:cNvPr id="7" name="Text 5"/>
          <p:cNvSpPr/>
          <p:nvPr/>
        </p:nvSpPr>
        <p:spPr>
          <a:xfrm>
            <a:off x="6537960" y="2880360"/>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20</a:t>
            </a:r>
            <a:endParaRPr lang="en-US" sz="2000" dirty="0"/>
          </a:p>
        </p:txBody>
      </p:sp>
      <p:sp>
        <p:nvSpPr>
          <p:cNvPr id="8" name="Text 6"/>
          <p:cNvSpPr/>
          <p:nvPr/>
        </p:nvSpPr>
        <p:spPr>
          <a:xfrm>
            <a:off x="7315200" y="2880360"/>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PIDs de la norma SAE J1979</a:t>
            </a:r>
            <a:endParaRPr lang="en-US" sz="1500" dirty="0"/>
          </a:p>
        </p:txBody>
      </p:sp>
      <p:sp>
        <p:nvSpPr>
          <p:cNvPr id="9" name="Text 7"/>
          <p:cNvSpPr/>
          <p:nvPr/>
        </p:nvSpPr>
        <p:spPr>
          <a:xfrm>
            <a:off x="6537960" y="3447288"/>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23</a:t>
            </a:r>
            <a:endParaRPr lang="en-US" sz="2000" dirty="0"/>
          </a:p>
        </p:txBody>
      </p:sp>
      <p:sp>
        <p:nvSpPr>
          <p:cNvPr id="10" name="Text 8"/>
          <p:cNvSpPr/>
          <p:nvPr/>
        </p:nvSpPr>
        <p:spPr>
          <a:xfrm>
            <a:off x="7315200" y="3447288"/>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códigos DTC estándar</a:t>
            </a:r>
            <a:endParaRPr lang="en-US" sz="1500" dirty="0"/>
          </a:p>
        </p:txBody>
      </p:sp>
      <p:sp>
        <p:nvSpPr>
          <p:cNvPr id="11" name="Text 9"/>
          <p:cNvSpPr/>
          <p:nvPr/>
        </p:nvSpPr>
        <p:spPr>
          <a:xfrm>
            <a:off x="6537960" y="4014216"/>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27</a:t>
            </a:r>
            <a:endParaRPr lang="en-US" sz="2000" dirty="0"/>
          </a:p>
        </p:txBody>
      </p:sp>
      <p:sp>
        <p:nvSpPr>
          <p:cNvPr id="12" name="Text 10"/>
          <p:cNvSpPr/>
          <p:nvPr/>
        </p:nvSpPr>
        <p:spPr>
          <a:xfrm>
            <a:off x="7315200" y="4014216"/>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fabricantes, por su código WMI</a:t>
            </a:r>
            <a:endParaRPr lang="en-US" sz="1500" dirty="0"/>
          </a:p>
        </p:txBody>
      </p:sp>
      <p:sp>
        <p:nvSpPr>
          <p:cNvPr id="13" name="Shape 11"/>
          <p:cNvSpPr/>
          <p:nvPr/>
        </p:nvSpPr>
        <p:spPr>
          <a:xfrm>
            <a:off x="777240" y="6263640"/>
            <a:ext cx="219456" cy="219456"/>
          </a:xfrm>
          <a:prstGeom prst="rect">
            <a:avLst/>
          </a:prstGeom>
          <a:solidFill>
            <a:srgbClr val="202CFC"/>
          </a:solidFill>
          <a:ln/>
        </p:spPr>
      </p:sp>
      <p:sp>
        <p:nvSpPr>
          <p:cNvPr id="14" name="Text 1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5" name="Text 1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6" name="Text 1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94360"/>
            <a:ext cx="10607040" cy="73152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Base de datos vectorial e índice de confianza</a:t>
            </a:r>
            <a:endParaRPr lang="en-US" sz="3400" dirty="0"/>
          </a:p>
        </p:txBody>
      </p:sp>
      <p:sp>
        <p:nvSpPr>
          <p:cNvPr id="3" name="Text 1"/>
          <p:cNvSpPr/>
          <p:nvPr/>
        </p:nvSpPr>
        <p:spPr>
          <a:xfrm>
            <a:off x="777240" y="1417320"/>
            <a:ext cx="10607040" cy="365760"/>
          </a:xfrm>
          <a:prstGeom prst="rect">
            <a:avLst/>
          </a:prstGeom>
          <a:noFill/>
          <a:ln/>
        </p:spPr>
        <p:txBody>
          <a:bodyPr wrap="square" lIns="0" tIns="0" rIns="0" bIns="0" rtlCol="0" anchor="t"/>
          <a:lstStyle/>
          <a:p>
            <a:pPr indent="0" marL="0">
              <a:buNone/>
            </a:pPr>
            <a:r>
              <a:rPr lang="en-US" sz="1600" dirty="0">
                <a:solidFill>
                  <a:srgbClr val="5A5F73"/>
                </a:solidFill>
                <a:latin typeface="Calibri" pitchFamily="34" charset="0"/>
                <a:ea typeface="Calibri" pitchFamily="34" charset="-122"/>
                <a:cs typeface="Calibri" pitchFamily="34" charset="-120"/>
              </a:rPr>
              <a:t>Almacena el conocimiento que el sistema adquiere durante los diagnósticos.</a:t>
            </a:r>
            <a:endParaRPr lang="en-US" sz="1600" dirty="0"/>
          </a:p>
        </p:txBody>
      </p:sp>
      <p:sp>
        <p:nvSpPr>
          <p:cNvPr id="4" name="Text 2"/>
          <p:cNvSpPr/>
          <p:nvPr/>
        </p:nvSpPr>
        <p:spPr>
          <a:xfrm>
            <a:off x="777240" y="2057400"/>
            <a:ext cx="6492240" cy="320040"/>
          </a:xfrm>
          <a:prstGeom prst="rect">
            <a:avLst/>
          </a:prstGeom>
          <a:noFill/>
          <a:ln/>
        </p:spPr>
        <p:txBody>
          <a:bodyPr wrap="square" lIns="0" tIns="0" rIns="0" bIns="0" rtlCol="0" anchor="t"/>
          <a:lstStyle/>
          <a:p>
            <a:pPr indent="0" marL="0">
              <a:buNone/>
            </a:pPr>
            <a:r>
              <a:rPr lang="en-US" sz="1800" b="1" dirty="0">
                <a:solidFill>
                  <a:srgbClr val="202CFC"/>
                </a:solidFill>
                <a:latin typeface="Arial" pitchFamily="34" charset="0"/>
                <a:ea typeface="Arial" pitchFamily="34" charset="-122"/>
                <a:cs typeface="Arial" pitchFamily="34" charset="-120"/>
              </a:rPr>
              <a:t>Colecciones</a:t>
            </a:r>
            <a:endParaRPr lang="en-US" sz="1800" dirty="0"/>
          </a:p>
        </p:txBody>
      </p:sp>
      <p:sp>
        <p:nvSpPr>
          <p:cNvPr id="5" name="Text 3"/>
          <p:cNvSpPr/>
          <p:nvPr/>
        </p:nvSpPr>
        <p:spPr>
          <a:xfrm>
            <a:off x="777240" y="2487168"/>
            <a:ext cx="6492240" cy="1051560"/>
          </a:xfrm>
          <a:prstGeom prst="rect">
            <a:avLst/>
          </a:prstGeom>
          <a:noFill/>
          <a:ln/>
        </p:spPr>
        <p:txBody>
          <a:bodyPr wrap="square" lIns="0" tIns="0" rIns="0" bIns="0" rtlCol="0" anchor="t"/>
          <a:lstStyle/>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PIDs propietarios que no están en la norma, con su fórmula</a:t>
            </a:r>
            <a:endParaRPr lang="en-US" sz="1400" dirty="0"/>
          </a:p>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DTCs específicos de un fabricante</a:t>
            </a:r>
            <a:endParaRPr lang="en-US" sz="1400" dirty="0"/>
          </a:p>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Casos resueltos: síntomas, PIDs implicados y solución</a:t>
            </a:r>
            <a:endParaRPr lang="en-US" sz="1400" dirty="0"/>
          </a:p>
        </p:txBody>
      </p:sp>
      <p:sp>
        <p:nvSpPr>
          <p:cNvPr id="6" name="Text 4"/>
          <p:cNvSpPr/>
          <p:nvPr/>
        </p:nvSpPr>
        <p:spPr>
          <a:xfrm>
            <a:off x="777240" y="3703320"/>
            <a:ext cx="6492240" cy="320040"/>
          </a:xfrm>
          <a:prstGeom prst="rect">
            <a:avLst/>
          </a:prstGeom>
          <a:noFill/>
          <a:ln/>
        </p:spPr>
        <p:txBody>
          <a:bodyPr wrap="square" lIns="0" tIns="0" rIns="0" bIns="0" rtlCol="0" anchor="t"/>
          <a:lstStyle/>
          <a:p>
            <a:pPr indent="0" marL="0">
              <a:buNone/>
            </a:pPr>
            <a:r>
              <a:rPr lang="en-US" sz="1500" b="1" dirty="0">
                <a:solidFill>
                  <a:srgbClr val="1A1C2E"/>
                </a:solidFill>
                <a:latin typeface="Arial" pitchFamily="34" charset="0"/>
                <a:ea typeface="Arial" pitchFamily="34" charset="-122"/>
                <a:cs typeface="Arial" pitchFamily="34" charset="-120"/>
              </a:rPr>
              <a:t>Ejemplo de entrada indexada</a:t>
            </a:r>
            <a:endParaRPr lang="en-US" sz="1500" dirty="0"/>
          </a:p>
        </p:txBody>
      </p:sp>
      <p:sp>
        <p:nvSpPr>
          <p:cNvPr id="7" name="Text 5"/>
          <p:cNvSpPr/>
          <p:nvPr/>
        </p:nvSpPr>
        <p:spPr>
          <a:xfrm>
            <a:off x="777240" y="4069080"/>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embeddedText</a:t>
            </a:r>
            <a:endParaRPr lang="en-US" sz="1200" dirty="0"/>
          </a:p>
        </p:txBody>
      </p:sp>
      <p:sp>
        <p:nvSpPr>
          <p:cNvPr id="8" name="Text 6"/>
          <p:cNvSpPr/>
          <p:nvPr/>
        </p:nvSpPr>
        <p:spPr>
          <a:xfrm>
            <a:off x="2468880" y="4069080"/>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"Audi A3 2.0 TDI con P0401 y P2002: EGR obstruida</a:t>
            </a:r>
            <a:endParaRPr lang="en-US" sz="1200" dirty="0"/>
          </a:p>
        </p:txBody>
      </p:sp>
      <p:sp>
        <p:nvSpPr>
          <p:cNvPr id="9" name="Text 7"/>
          <p:cNvSpPr/>
          <p:nvPr/>
        </p:nvSpPr>
        <p:spPr>
          <a:xfrm>
            <a:off x="2468880" y="4370832"/>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 por carbonilla de un motor que consume aceite"</a:t>
            </a:r>
            <a:endParaRPr lang="en-US" sz="1200" dirty="0"/>
          </a:p>
        </p:txBody>
      </p:sp>
      <p:sp>
        <p:nvSpPr>
          <p:cNvPr id="10" name="Text 8"/>
          <p:cNvSpPr/>
          <p:nvPr/>
        </p:nvSpPr>
        <p:spPr>
          <a:xfrm>
            <a:off x="777240" y="4672584"/>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symptoms</a:t>
            </a:r>
            <a:endParaRPr lang="en-US" sz="1200" dirty="0"/>
          </a:p>
        </p:txBody>
      </p:sp>
      <p:sp>
        <p:nvSpPr>
          <p:cNvPr id="11" name="Text 9"/>
          <p:cNvSpPr/>
          <p:nvPr/>
        </p:nvSpPr>
        <p:spPr>
          <a:xfrm>
            <a:off x="2468880" y="4672584"/>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ralentí inestable · pérdida de potencia</a:t>
            </a:r>
            <a:endParaRPr lang="en-US" sz="1200" dirty="0"/>
          </a:p>
        </p:txBody>
      </p:sp>
      <p:sp>
        <p:nvSpPr>
          <p:cNvPr id="12" name="Text 10"/>
          <p:cNvSpPr/>
          <p:nvPr/>
        </p:nvSpPr>
        <p:spPr>
          <a:xfrm>
            <a:off x="777240" y="4974336"/>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pidsInvolved</a:t>
            </a:r>
            <a:endParaRPr lang="en-US" sz="1200" dirty="0"/>
          </a:p>
        </p:txBody>
      </p:sp>
      <p:sp>
        <p:nvSpPr>
          <p:cNvPr id="13" name="Text 11"/>
          <p:cNvSpPr/>
          <p:nvPr/>
        </p:nvSpPr>
        <p:spPr>
          <a:xfrm>
            <a:off x="2468880" y="4974336"/>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010C · 0105 · 22F40C</a:t>
            </a:r>
            <a:endParaRPr lang="en-US" sz="1200" dirty="0"/>
          </a:p>
        </p:txBody>
      </p:sp>
      <p:sp>
        <p:nvSpPr>
          <p:cNvPr id="14" name="Text 12"/>
          <p:cNvSpPr/>
          <p:nvPr/>
        </p:nvSpPr>
        <p:spPr>
          <a:xfrm>
            <a:off x="777240" y="5276088"/>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confidence</a:t>
            </a:r>
            <a:endParaRPr lang="en-US" sz="1200" dirty="0"/>
          </a:p>
        </p:txBody>
      </p:sp>
      <p:sp>
        <p:nvSpPr>
          <p:cNvPr id="15" name="Text 13"/>
          <p:cNvSpPr/>
          <p:nvPr/>
        </p:nvSpPr>
        <p:spPr>
          <a:xfrm>
            <a:off x="2468880" y="5276088"/>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0,5   ·   manufacturer Audi · model A3</a:t>
            </a:r>
            <a:endParaRPr lang="en-US" sz="1200" dirty="0"/>
          </a:p>
        </p:txBody>
      </p:sp>
      <p:sp>
        <p:nvSpPr>
          <p:cNvPr id="16" name="Text 14"/>
          <p:cNvSpPr/>
          <p:nvPr/>
        </p:nvSpPr>
        <p:spPr>
          <a:xfrm>
            <a:off x="7635240" y="2057400"/>
            <a:ext cx="3749040" cy="320040"/>
          </a:xfrm>
          <a:prstGeom prst="rect">
            <a:avLst/>
          </a:prstGeom>
          <a:noFill/>
          <a:ln/>
        </p:spPr>
        <p:txBody>
          <a:bodyPr wrap="square" lIns="0" tIns="0" rIns="0" bIns="0" rtlCol="0" anchor="t"/>
          <a:lstStyle/>
          <a:p>
            <a:pPr indent="0" marL="0">
              <a:buNone/>
            </a:pPr>
            <a:r>
              <a:rPr lang="en-US" sz="1800" b="1" dirty="0">
                <a:solidFill>
                  <a:srgbClr val="202CFC"/>
                </a:solidFill>
                <a:latin typeface="Arial" pitchFamily="34" charset="0"/>
                <a:ea typeface="Arial" pitchFamily="34" charset="-122"/>
                <a:cs typeface="Arial" pitchFamily="34" charset="-120"/>
              </a:rPr>
              <a:t>Índice de confianza</a:t>
            </a:r>
            <a:endParaRPr lang="en-US" sz="1800" dirty="0"/>
          </a:p>
        </p:txBody>
      </p:sp>
      <p:sp>
        <p:nvSpPr>
          <p:cNvPr id="17" name="Text 15"/>
          <p:cNvSpPr/>
          <p:nvPr/>
        </p:nvSpPr>
        <p:spPr>
          <a:xfrm>
            <a:off x="7635240" y="2450592"/>
            <a:ext cx="3749040" cy="502920"/>
          </a:xfrm>
          <a:prstGeom prst="rect">
            <a:avLst/>
          </a:prstGeom>
          <a:noFill/>
          <a:ln/>
        </p:spPr>
        <p:txBody>
          <a:bodyPr wrap="square" lIns="0" tIns="0" rIns="0" bIns="0" rtlCol="0" anchor="t"/>
          <a:lstStyle/>
          <a:p>
            <a:pPr indent="0" marL="0">
              <a:lnSpc>
                <a:spcPts val="1800"/>
              </a:lnSpc>
              <a:buNone/>
            </a:pPr>
            <a:r>
              <a:rPr lang="en-US" sz="1300" dirty="0">
                <a:solidFill>
                  <a:srgbClr val="5A5F73"/>
                </a:solidFill>
                <a:latin typeface="Calibri" pitchFamily="34" charset="0"/>
                <a:ea typeface="Calibri" pitchFamily="34" charset="-122"/>
                <a:cs typeface="Calibri" pitchFamily="34" charset="-120"/>
              </a:rPr>
              <a:t>Se asigna al indexar, según la procedencia del dato. Es lo que pondera las búsquedas.</a:t>
            </a:r>
            <a:endParaRPr lang="en-US" sz="1300" dirty="0"/>
          </a:p>
        </p:txBody>
      </p:sp>
      <p:sp>
        <p:nvSpPr>
          <p:cNvPr id="18" name="Text 16"/>
          <p:cNvSpPr/>
          <p:nvPr/>
        </p:nvSpPr>
        <p:spPr>
          <a:xfrm>
            <a:off x="7635240" y="3108960"/>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0,3</a:t>
            </a:r>
            <a:endParaRPr lang="en-US" sz="1700" dirty="0"/>
          </a:p>
        </p:txBody>
      </p:sp>
      <p:sp>
        <p:nvSpPr>
          <p:cNvPr id="19" name="Text 17"/>
          <p:cNvSpPr/>
          <p:nvPr/>
        </p:nvSpPr>
        <p:spPr>
          <a:xfrm>
            <a:off x="8321040" y="3108960"/>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lo encontró el agente en internet</a:t>
            </a:r>
            <a:endParaRPr lang="en-US" sz="1300" dirty="0"/>
          </a:p>
        </p:txBody>
      </p:sp>
      <p:sp>
        <p:nvSpPr>
          <p:cNvPr id="20" name="Text 18"/>
          <p:cNvSpPr/>
          <p:nvPr/>
        </p:nvSpPr>
        <p:spPr>
          <a:xfrm>
            <a:off x="7635240" y="3675888"/>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0,5</a:t>
            </a:r>
            <a:endParaRPr lang="en-US" sz="1700" dirty="0"/>
          </a:p>
        </p:txBody>
      </p:sp>
      <p:sp>
        <p:nvSpPr>
          <p:cNvPr id="21" name="Text 19"/>
          <p:cNvSpPr/>
          <p:nvPr/>
        </p:nvSpPr>
        <p:spPr>
          <a:xfrm>
            <a:off x="8321040" y="3675888"/>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viene de un diagnóstico anterior</a:t>
            </a:r>
            <a:endParaRPr lang="en-US" sz="1300" dirty="0"/>
          </a:p>
        </p:txBody>
      </p:sp>
      <p:sp>
        <p:nvSpPr>
          <p:cNvPr id="22" name="Text 20"/>
          <p:cNvSpPr/>
          <p:nvPr/>
        </p:nvSpPr>
        <p:spPr>
          <a:xfrm>
            <a:off x="7635240" y="4242816"/>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0,8</a:t>
            </a:r>
            <a:endParaRPr lang="en-US" sz="1700" dirty="0"/>
          </a:p>
        </p:txBody>
      </p:sp>
      <p:sp>
        <p:nvSpPr>
          <p:cNvPr id="23" name="Text 21"/>
          <p:cNvSpPr/>
          <p:nvPr/>
        </p:nvSpPr>
        <p:spPr>
          <a:xfrm>
            <a:off x="8321040" y="4242816"/>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lo aportó el mecánico a mano</a:t>
            </a:r>
            <a:endParaRPr lang="en-US" sz="1300" dirty="0"/>
          </a:p>
        </p:txBody>
      </p:sp>
      <p:sp>
        <p:nvSpPr>
          <p:cNvPr id="24" name="Text 22"/>
          <p:cNvSpPr/>
          <p:nvPr/>
        </p:nvSpPr>
        <p:spPr>
          <a:xfrm>
            <a:off x="7635240" y="4809744"/>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1,0</a:t>
            </a:r>
            <a:endParaRPr lang="en-US" sz="1700" dirty="0"/>
          </a:p>
        </p:txBody>
      </p:sp>
      <p:sp>
        <p:nvSpPr>
          <p:cNvPr id="25" name="Text 23"/>
          <p:cNvSpPr/>
          <p:nvPr/>
        </p:nvSpPr>
        <p:spPr>
          <a:xfrm>
            <a:off x="8321040" y="4809744"/>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se ha leído del coche por OBD</a:t>
            </a:r>
            <a:endParaRPr lang="en-US" sz="1300" dirty="0"/>
          </a:p>
        </p:txBody>
      </p:sp>
      <p:sp>
        <p:nvSpPr>
          <p:cNvPr id="26" name="Text 24"/>
          <p:cNvSpPr/>
          <p:nvPr/>
        </p:nvSpPr>
        <p:spPr>
          <a:xfrm>
            <a:off x="7635240" y="5440680"/>
            <a:ext cx="3749040" cy="457200"/>
          </a:xfrm>
          <a:prstGeom prst="rect">
            <a:avLst/>
          </a:prstGeom>
          <a:noFill/>
          <a:ln/>
        </p:spPr>
        <p:txBody>
          <a:bodyPr wrap="square" lIns="0" tIns="0" rIns="0" bIns="0" rtlCol="0" anchor="t"/>
          <a:lstStyle/>
          <a:p>
            <a:pPr indent="0" marL="0">
              <a:lnSpc>
                <a:spcPts val="1700"/>
              </a:lnSpc>
              <a:buNone/>
            </a:pPr>
            <a:r>
              <a:rPr lang="en-US" sz="1300" dirty="0">
                <a:solidFill>
                  <a:srgbClr val="5A5F73"/>
                </a:solidFill>
                <a:latin typeface="Calibri" pitchFamily="34" charset="0"/>
                <a:ea typeface="Calibri" pitchFamily="34" charset="-122"/>
                <a:cs typeface="Calibri" pitchFamily="34" charset="-120"/>
              </a:rPr>
              <a:t>Validar contra el coche sube la web a 0,7 y al mecánico a 0,9.</a:t>
            </a:r>
            <a:endParaRPr lang="en-US" sz="1300" dirty="0"/>
          </a:p>
        </p:txBody>
      </p:sp>
      <p:sp>
        <p:nvSpPr>
          <p:cNvPr id="27" name="Shape 25"/>
          <p:cNvSpPr/>
          <p:nvPr/>
        </p:nvSpPr>
        <p:spPr>
          <a:xfrm>
            <a:off x="777240" y="6263640"/>
            <a:ext cx="219456" cy="219456"/>
          </a:xfrm>
          <a:prstGeom prst="rect">
            <a:avLst/>
          </a:prstGeom>
          <a:solidFill>
            <a:srgbClr val="202CFC"/>
          </a:solidFill>
          <a:ln/>
        </p:spPr>
      </p:sp>
      <p:sp>
        <p:nvSpPr>
          <p:cNvPr id="28" name="Text 2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9" name="Text 2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30" name="Text 2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Model Context Protocol: herramientas del agente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El modelo no accede al vehículo: solicita herramientas y el sistema decide si se ejecutan.</a:t>
            </a:r>
            <a:endParaRPr lang="en-US" sz="1700" dirty="0"/>
          </a:p>
        </p:txBody>
      </p:sp>
      <p:sp>
        <p:nvSpPr>
          <p:cNvPr id="4" name="Text 2"/>
          <p:cNvSpPr/>
          <p:nvPr/>
        </p:nvSpPr>
        <p:spPr>
          <a:xfrm>
            <a:off x="777240" y="2194560"/>
            <a:ext cx="594360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Las 16 herramientas</a:t>
            </a:r>
            <a:endParaRPr lang="en-US" sz="1900" dirty="0"/>
          </a:p>
        </p:txBody>
      </p:sp>
      <p:sp>
        <p:nvSpPr>
          <p:cNvPr id="5" name="Text 3"/>
          <p:cNvSpPr/>
          <p:nvPr/>
        </p:nvSpPr>
        <p:spPr>
          <a:xfrm>
            <a:off x="777240" y="2697480"/>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Diagnóstico · 7</a:t>
            </a:r>
            <a:endParaRPr lang="en-US" sz="1300" dirty="0"/>
          </a:p>
        </p:txBody>
      </p:sp>
      <p:sp>
        <p:nvSpPr>
          <p:cNvPr id="6" name="Text 4"/>
          <p:cNvSpPr/>
          <p:nvPr/>
        </p:nvSpPr>
        <p:spPr>
          <a:xfrm>
            <a:off x="914400" y="3008376"/>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read_vin   read_pid   get_available_pids</a:t>
            </a:r>
            <a:endParaRPr lang="en-US" sz="1100" dirty="0"/>
          </a:p>
        </p:txBody>
      </p:sp>
      <p:sp>
        <p:nvSpPr>
          <p:cNvPr id="7" name="Text 5"/>
          <p:cNvSpPr/>
          <p:nvPr/>
        </p:nvSpPr>
        <p:spPr>
          <a:xfrm>
            <a:off x="914400" y="3273552"/>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get_dtc_codes   get_freeze_frame</a:t>
            </a:r>
            <a:endParaRPr lang="en-US" sz="1100" dirty="0"/>
          </a:p>
        </p:txBody>
      </p:sp>
      <p:sp>
        <p:nvSpPr>
          <p:cNvPr id="8" name="Text 6"/>
          <p:cNvSpPr/>
          <p:nvPr/>
        </p:nvSpPr>
        <p:spPr>
          <a:xfrm>
            <a:off x="914400" y="353872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get_vehicle_info   get_ecu_info</a:t>
            </a:r>
            <a:endParaRPr lang="en-US" sz="1100" dirty="0"/>
          </a:p>
        </p:txBody>
      </p:sp>
      <p:sp>
        <p:nvSpPr>
          <p:cNvPr id="9" name="Text 7"/>
          <p:cNvSpPr/>
          <p:nvPr/>
        </p:nvSpPr>
        <p:spPr>
          <a:xfrm>
            <a:off x="777240" y="3968496"/>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Conocimiento · 8</a:t>
            </a:r>
            <a:endParaRPr lang="en-US" sz="1300" dirty="0"/>
          </a:p>
        </p:txBody>
      </p:sp>
      <p:sp>
        <p:nvSpPr>
          <p:cNvPr id="10" name="Text 8"/>
          <p:cNvSpPr/>
          <p:nvPr/>
        </p:nvSpPr>
        <p:spPr>
          <a:xfrm>
            <a:off x="914400" y="4279392"/>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search_similar_pids   search_similar_dtcs</a:t>
            </a:r>
            <a:endParaRPr lang="en-US" sz="1100" dirty="0"/>
          </a:p>
        </p:txBody>
      </p:sp>
      <p:sp>
        <p:nvSpPr>
          <p:cNvPr id="11" name="Text 9"/>
          <p:cNvSpPr/>
          <p:nvPr/>
        </p:nvSpPr>
        <p:spPr>
          <a:xfrm>
            <a:off x="914400" y="454456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search_similar_diagnoses   search_similar_ecus</a:t>
            </a:r>
            <a:endParaRPr lang="en-US" sz="1100" dirty="0"/>
          </a:p>
        </p:txBody>
      </p:sp>
      <p:sp>
        <p:nvSpPr>
          <p:cNvPr id="12" name="Text 10"/>
          <p:cNvSpPr/>
          <p:nvPr/>
        </p:nvSpPr>
        <p:spPr>
          <a:xfrm>
            <a:off x="914400" y="4809744"/>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index_pid   index_dtc   index_diagnosis   index_ecu</a:t>
            </a:r>
            <a:endParaRPr lang="en-US" sz="1100" dirty="0"/>
          </a:p>
        </p:txBody>
      </p:sp>
      <p:sp>
        <p:nvSpPr>
          <p:cNvPr id="13" name="Text 11"/>
          <p:cNvSpPr/>
          <p:nvPr/>
        </p:nvSpPr>
        <p:spPr>
          <a:xfrm>
            <a:off x="777240" y="5239512"/>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Web · 1</a:t>
            </a:r>
            <a:endParaRPr lang="en-US" sz="1300" dirty="0"/>
          </a:p>
        </p:txBody>
      </p:sp>
      <p:sp>
        <p:nvSpPr>
          <p:cNvPr id="14" name="Text 12"/>
          <p:cNvSpPr/>
          <p:nvPr/>
        </p:nvSpPr>
        <p:spPr>
          <a:xfrm>
            <a:off x="914400" y="555040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web_search</a:t>
            </a:r>
            <a:endParaRPr lang="en-US" sz="1100" dirty="0"/>
          </a:p>
        </p:txBody>
      </p:sp>
      <p:sp>
        <p:nvSpPr>
          <p:cNvPr id="15" name="Text 13"/>
          <p:cNvSpPr/>
          <p:nvPr/>
        </p:nvSpPr>
        <p:spPr>
          <a:xfrm>
            <a:off x="7086600" y="2194560"/>
            <a:ext cx="429768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Por qué MCP</a:t>
            </a:r>
            <a:endParaRPr lang="en-US" sz="1900" dirty="0"/>
          </a:p>
        </p:txBody>
      </p:sp>
      <p:sp>
        <p:nvSpPr>
          <p:cNvPr id="16" name="Text 14"/>
          <p:cNvSpPr/>
          <p:nvPr/>
        </p:nvSpPr>
        <p:spPr>
          <a:xfrm>
            <a:off x="7086600" y="2697480"/>
            <a:ext cx="4297680" cy="3200400"/>
          </a:xfrm>
          <a:prstGeom prst="rect">
            <a:avLst/>
          </a:prstGeom>
          <a:noFill/>
          <a:ln/>
        </p:spPr>
        <p:txBody>
          <a:bodyPr wrap="square" lIns="0" tIns="0" rIns="0" bIns="0" rtlCol="0" anchor="t"/>
          <a:lstStyle/>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Es el estándar con el que un modelo pide herramientas, y solo sirve para eso</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El modelo solo actúa por ahí: no hay otra puerta al sistema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Cada herramienta declara su esquema, y los argumentos se validan antes de ejecutarla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El servidor vive en infraestructura: el modelo nunca ve el dominio</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Cambiar de modelo no toca las herramientas</a:t>
            </a:r>
            <a:endParaRPr lang="en-US" sz="1400" dirty="0"/>
          </a:p>
        </p:txBody>
      </p:sp>
      <p:sp>
        <p:nvSpPr>
          <p:cNvPr id="17" name="Shape 15"/>
          <p:cNvSpPr/>
          <p:nvPr/>
        </p:nvSpPr>
        <p:spPr>
          <a:xfrm>
            <a:off x="777240" y="6263640"/>
            <a:ext cx="219456" cy="219456"/>
          </a:xfrm>
          <a:prstGeom prst="rect">
            <a:avLst/>
          </a:prstGeom>
          <a:solidFill>
            <a:srgbClr val="202CFC"/>
          </a:solidFill>
          <a:ln/>
        </p:spPr>
      </p:sp>
      <p:sp>
        <p:nvSpPr>
          <p:cNvPr id="18" name="Text 1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9" name="Text 1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0" name="Text 1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Ciclo de razonamiento del agente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Del inicio del diagnóstico hasta la respuesta que recibe el mecánico.</a:t>
            </a:r>
            <a:endParaRPr lang="en-US" sz="1700" dirty="0"/>
          </a:p>
        </p:txBody>
      </p:sp>
      <p:sp>
        <p:nvSpPr>
          <p:cNvPr id="4" name="Text 2"/>
          <p:cNvSpPr/>
          <p:nvPr/>
        </p:nvSpPr>
        <p:spPr>
          <a:xfrm>
            <a:off x="777240" y="2194560"/>
            <a:ext cx="594360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Ciclo de ejecución</a:t>
            </a:r>
            <a:endParaRPr lang="en-US" sz="1900" dirty="0"/>
          </a:p>
        </p:txBody>
      </p:sp>
      <p:sp>
        <p:nvSpPr>
          <p:cNvPr id="5" name="Text 3"/>
          <p:cNvSpPr/>
          <p:nvPr/>
        </p:nvSpPr>
        <p:spPr>
          <a:xfrm>
            <a:off x="777240" y="2651760"/>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1</a:t>
            </a:r>
            <a:endParaRPr lang="en-US" sz="1500" dirty="0"/>
          </a:p>
        </p:txBody>
      </p:sp>
      <p:sp>
        <p:nvSpPr>
          <p:cNvPr id="6" name="Text 4"/>
          <p:cNvSpPr/>
          <p:nvPr/>
        </p:nvSpPr>
        <p:spPr>
          <a:xfrm>
            <a:off x="1188720" y="2651760"/>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Al iniciar el diagnóstico se leen los PIDs generales, los DTCs y el freeze frame</a:t>
            </a:r>
            <a:endParaRPr lang="en-US" sz="1400" dirty="0"/>
          </a:p>
        </p:txBody>
      </p:sp>
      <p:sp>
        <p:nvSpPr>
          <p:cNvPr id="7" name="Text 5"/>
          <p:cNvSpPr/>
          <p:nvPr/>
        </p:nvSpPr>
        <p:spPr>
          <a:xfrm>
            <a:off x="777240" y="3218688"/>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2</a:t>
            </a:r>
            <a:endParaRPr lang="en-US" sz="1500" dirty="0"/>
          </a:p>
        </p:txBody>
      </p:sp>
      <p:sp>
        <p:nvSpPr>
          <p:cNvPr id="8" name="Text 6"/>
          <p:cNvSpPr/>
          <p:nvPr/>
        </p:nvSpPr>
        <p:spPr>
          <a:xfrm>
            <a:off x="1188720" y="3218688"/>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Antes de llamar al modelo se buscan casos parecidos en la vectorial, y entran en el prompt</a:t>
            </a:r>
            <a:endParaRPr lang="en-US" sz="1400" dirty="0"/>
          </a:p>
        </p:txBody>
      </p:sp>
      <p:sp>
        <p:nvSpPr>
          <p:cNvPr id="9" name="Text 7"/>
          <p:cNvSpPr/>
          <p:nvPr/>
        </p:nvSpPr>
        <p:spPr>
          <a:xfrm>
            <a:off x="777240" y="3785616"/>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3</a:t>
            </a:r>
            <a:endParaRPr lang="en-US" sz="1500" dirty="0"/>
          </a:p>
        </p:txBody>
      </p:sp>
      <p:sp>
        <p:nvSpPr>
          <p:cNvPr id="10" name="Text 8"/>
          <p:cNvSpPr/>
          <p:nvPr/>
        </p:nvSpPr>
        <p:spPr>
          <a:xfrm>
            <a:off x="1188720" y="3785616"/>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El modelo pide herramientas: mira el catálogo, lee más PIDs, busca lo que no conoce</a:t>
            </a:r>
            <a:endParaRPr lang="en-US" sz="1400" dirty="0"/>
          </a:p>
        </p:txBody>
      </p:sp>
      <p:sp>
        <p:nvSpPr>
          <p:cNvPr id="11" name="Text 9"/>
          <p:cNvSpPr/>
          <p:nvPr/>
        </p:nvSpPr>
        <p:spPr>
          <a:xfrm>
            <a:off x="777240" y="4352544"/>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4</a:t>
            </a:r>
            <a:endParaRPr lang="en-US" sz="1500" dirty="0"/>
          </a:p>
        </p:txBody>
      </p:sp>
      <p:sp>
        <p:nvSpPr>
          <p:cNvPr id="12" name="Text 10"/>
          <p:cNvSpPr/>
          <p:nvPr/>
        </p:nvSpPr>
        <p:spPr>
          <a:xfrm>
            <a:off x="1188720" y="4352544"/>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Máximo 10 vueltas de ese ciclo, y 60 segundos de límite</a:t>
            </a:r>
            <a:endParaRPr lang="en-US" sz="1400" dirty="0"/>
          </a:p>
        </p:txBody>
      </p:sp>
      <p:sp>
        <p:nvSpPr>
          <p:cNvPr id="13" name="Text 11"/>
          <p:cNvSpPr/>
          <p:nvPr/>
        </p:nvSpPr>
        <p:spPr>
          <a:xfrm>
            <a:off x="777240" y="4919472"/>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5</a:t>
            </a:r>
            <a:endParaRPr lang="en-US" sz="1500" dirty="0"/>
          </a:p>
        </p:txBody>
      </p:sp>
      <p:sp>
        <p:nvSpPr>
          <p:cNvPr id="14" name="Text 12"/>
          <p:cNvSpPr/>
          <p:nvPr/>
        </p:nvSpPr>
        <p:spPr>
          <a:xfrm>
            <a:off x="1188720" y="4919472"/>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Devuelve la explicación para el mecánico y un bloque JSON con severidad, confianza y recomendaciones</a:t>
            </a:r>
            <a:endParaRPr lang="en-US" sz="1400" dirty="0"/>
          </a:p>
        </p:txBody>
      </p:sp>
      <p:sp>
        <p:nvSpPr>
          <p:cNvPr id="15" name="Text 13"/>
          <p:cNvSpPr/>
          <p:nvPr/>
        </p:nvSpPr>
        <p:spPr>
          <a:xfrm>
            <a:off x="777240" y="5486400"/>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6</a:t>
            </a:r>
            <a:endParaRPr lang="en-US" sz="1500" dirty="0"/>
          </a:p>
        </p:txBody>
      </p:sp>
      <p:sp>
        <p:nvSpPr>
          <p:cNvPr id="16" name="Text 14"/>
          <p:cNvSpPr/>
          <p:nvPr/>
        </p:nvSpPr>
        <p:spPr>
          <a:xfrm>
            <a:off x="1188720" y="5486400"/>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El caso resuelto se indexa con confianza 0,5, y la conversación sigue desde ahí</a:t>
            </a:r>
            <a:endParaRPr lang="en-US" sz="1400" dirty="0"/>
          </a:p>
        </p:txBody>
      </p:sp>
      <p:sp>
        <p:nvSpPr>
          <p:cNvPr id="17" name="Text 15"/>
          <p:cNvSpPr/>
          <p:nvPr/>
        </p:nvSpPr>
        <p:spPr>
          <a:xfrm>
            <a:off x="7086600" y="2194560"/>
            <a:ext cx="429768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System prompt: 11 bloques</a:t>
            </a:r>
            <a:endParaRPr lang="en-US" sz="1900" dirty="0"/>
          </a:p>
        </p:txBody>
      </p:sp>
      <p:sp>
        <p:nvSpPr>
          <p:cNvPr id="18" name="Text 16"/>
          <p:cNvSpPr/>
          <p:nvPr/>
        </p:nvSpPr>
        <p:spPr>
          <a:xfrm>
            <a:off x="7086600" y="2651760"/>
            <a:ext cx="4297680" cy="3291840"/>
          </a:xfrm>
          <a:prstGeom prst="rect">
            <a:avLst/>
          </a:prstGeom>
          <a:noFill/>
          <a:ln/>
        </p:spPr>
        <p:txBody>
          <a:bodyPr wrap="square" lIns="0" tIns="0" rIns="0" bIns="0" rtlCol="0" anchor="t"/>
          <a:lstStyle/>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explorar el coche y en qué orden</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Consultar el catálogo antes de inventarse nada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aprender un PID, un DTC o una ECU nuevos</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Qué queda fuera de su ámbito y no debe contestar</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Que lo que llega de la web y del catálogo no es de fiar</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hablarle a un mecánico, y cómo rematar en JSON</a:t>
            </a:r>
            <a:endParaRPr lang="en-US" sz="1400" dirty="0"/>
          </a:p>
        </p:txBody>
      </p:sp>
      <p:sp>
        <p:nvSpPr>
          <p:cNvPr id="19" name="Shape 17"/>
          <p:cNvSpPr/>
          <p:nvPr/>
        </p:nvSpPr>
        <p:spPr>
          <a:xfrm>
            <a:off x="777240" y="6263640"/>
            <a:ext cx="219456" cy="219456"/>
          </a:xfrm>
          <a:prstGeom prst="rect">
            <a:avLst/>
          </a:prstGeom>
          <a:solidFill>
            <a:srgbClr val="202CFC"/>
          </a:solidFill>
          <a:ln/>
        </p:spPr>
      </p:sp>
      <p:sp>
        <p:nvSpPr>
          <p:cNvPr id="20" name="Text 18"/>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1" name="Text 19"/>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2" name="Text 20"/>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Modelos empleados: lenguaje y embeddings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Uno razona y es intercambiable; el otro genera los vectores y se ejecuta en local.</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modelo de lenguaje</a:t>
            </a:r>
            <a:endParaRPr lang="en-US" sz="19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Una variable de entorno: LLM_PROVIDER = anthropic u openai</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Los dos clientes implementan el mismo puerto, LlmClientPort</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adaptador de OpenAI sirve también para DeepSeek, Groq, Mistral o xAI</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Sin proveedor configurado, el diagnóstico determinista sigue funcionando</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modelo de embeddings</a:t>
            </a:r>
            <a:endParaRPr lang="en-US" sz="1900" dirty="0"/>
          </a:p>
        </p:txBody>
      </p:sp>
      <p:sp>
        <p:nvSpPr>
          <p:cNvPr id="7" name="Text 5"/>
          <p:cNvSpPr/>
          <p:nvPr/>
        </p:nvSpPr>
        <p:spPr>
          <a:xfrm>
            <a:off x="6537960" y="2788920"/>
            <a:ext cx="4846320" cy="274320"/>
          </a:xfrm>
          <a:prstGeom prst="rect">
            <a:avLst/>
          </a:prstGeom>
          <a:noFill/>
          <a:ln/>
        </p:spPr>
        <p:txBody>
          <a:bodyPr wrap="square" lIns="0" tIns="0" rIns="0" bIns="0" rtlCol="0" anchor="t"/>
          <a:lstStyle/>
          <a:p>
            <a:pPr indent="0" marL="0">
              <a:buNone/>
            </a:pPr>
            <a:r>
              <a:rPr lang="en-US" sz="1200" b="1" dirty="0">
                <a:solidFill>
                  <a:srgbClr val="1A1C2E"/>
                </a:solidFill>
                <a:latin typeface="Courier New" pitchFamily="34" charset="0"/>
                <a:ea typeface="Courier New" pitchFamily="34" charset="-122"/>
                <a:cs typeface="Courier New" pitchFamily="34" charset="-120"/>
              </a:rPr>
              <a:t>paraphrase-multilingual-MiniLM-L12-v2</a:t>
            </a:r>
            <a:endParaRPr lang="en-US" sz="1200" dirty="0"/>
          </a:p>
        </p:txBody>
      </p:sp>
      <p:sp>
        <p:nvSpPr>
          <p:cNvPr id="8" name="Text 6"/>
          <p:cNvSpPr/>
          <p:nvPr/>
        </p:nvSpPr>
        <p:spPr>
          <a:xfrm>
            <a:off x="6537960" y="3200400"/>
            <a:ext cx="4846320" cy="256032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Corre en la propia máquina, con transformers.js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Sin clave, sin red y sin coste por consulta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Convierte cada texto en 384 números, normalizados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Es multilingüe: por eso «presión de aceite» encuentra «oil pressure»</a:t>
            </a:r>
            <a:endParaRPr lang="en-US" sz="1500" dirty="0"/>
          </a:p>
        </p:txBody>
      </p:sp>
      <p:sp>
        <p:nvSpPr>
          <p:cNvPr id="9" name="Shape 7"/>
          <p:cNvSpPr/>
          <p:nvPr/>
        </p:nvSpPr>
        <p:spPr>
          <a:xfrm>
            <a:off x="777240" y="6263640"/>
            <a:ext cx="219456" cy="219456"/>
          </a:xfrm>
          <a:prstGeom prst="rect">
            <a:avLst/>
          </a:prstGeom>
          <a:solidFill>
            <a:srgbClr val="202CFC"/>
          </a:solidFill>
          <a:ln/>
        </p:spPr>
      </p:sp>
      <p:sp>
        <p:nvSpPr>
          <p:cNvPr id="10" name="Text 8"/>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1" name="Text 9"/>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2" name="Text 10"/>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02920"/>
            <a:ext cx="10607040" cy="685800"/>
          </a:xfrm>
          <a:prstGeom prst="rect">
            <a:avLst/>
          </a:prstGeom>
          <a:noFill/>
          <a:ln/>
        </p:spPr>
        <p:txBody>
          <a:bodyPr wrap="square" lIns="0" tIns="0" rIns="0" bIns="0" rtlCol="0" anchor="t"/>
          <a:lstStyle/>
          <a:p>
            <a:pPr indent="0" marL="0">
              <a:buNone/>
            </a:pPr>
            <a:r>
              <a:rPr lang="en-US" sz="3200" b="1" dirty="0">
                <a:solidFill>
                  <a:srgbClr val="1A1C2E"/>
                </a:solidFill>
                <a:latin typeface="Arial" pitchFamily="34" charset="0"/>
                <a:ea typeface="Arial" pitchFamily="34" charset="-122"/>
                <a:cs typeface="Arial" pitchFamily="34" charset="-120"/>
              </a:rPr>
              <a:t>Resultados: la aplicación en funcionamiento</a:t>
            </a:r>
            <a:endParaRPr lang="en-US" sz="3200" dirty="0"/>
          </a:p>
        </p:txBody>
      </p:sp>
      <p:sp>
        <p:nvSpPr>
          <p:cNvPr id="3" name="Text 1"/>
          <p:cNvSpPr/>
          <p:nvPr/>
        </p:nvSpPr>
        <p:spPr>
          <a:xfrm>
            <a:off x="777240" y="1261872"/>
            <a:ext cx="10607040" cy="320040"/>
          </a:xfrm>
          <a:prstGeom prst="rect">
            <a:avLst/>
          </a:prstGeom>
          <a:noFill/>
          <a:ln/>
        </p:spPr>
        <p:txBody>
          <a:bodyPr wrap="square" lIns="0" tIns="0" rIns="0" bIns="0" rtlCol="0" anchor="t"/>
          <a:lstStyle/>
          <a:p>
            <a:pPr indent="0" marL="0">
              <a:buNone/>
            </a:pPr>
            <a:r>
              <a:rPr lang="en-US" sz="1500" dirty="0">
                <a:solidFill>
                  <a:srgbClr val="5A5F73"/>
                </a:solidFill>
                <a:latin typeface="Calibri" pitchFamily="34" charset="0"/>
                <a:ea typeface="Calibri" pitchFamily="34" charset="-122"/>
                <a:cs typeface="Calibri" pitchFamily="34" charset="-120"/>
              </a:rPr>
              <a:t>Audi A3 2.0 TDI. Todos los datos proceden del bus del vehículo.</a:t>
            </a:r>
            <a:endParaRPr lang="en-US" sz="1500" dirty="0"/>
          </a:p>
        </p:txBody>
      </p:sp>
      <p:sp>
        <p:nvSpPr>
          <p:cNvPr id="4" name="Text 2"/>
          <p:cNvSpPr/>
          <p:nvPr/>
        </p:nvSpPr>
        <p:spPr>
          <a:xfrm>
            <a:off x="777240" y="187452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Lee el VIN del bus y saca marca, modelo y motor</a:t>
            </a:r>
            <a:endParaRPr lang="en-US" sz="1200" dirty="0"/>
          </a:p>
        </p:txBody>
      </p:sp>
      <p:pic>
        <p:nvPicPr>
          <p:cNvPr id="5" name="Image 0" descr="/home/user/intelligent-automotive-diagnostics/docs/presentacion/capturas/demo/01-identificacion-vin.png">    </p:cNvPr>
          <p:cNvPicPr>
            <a:picLocks noChangeAspect="1"/>
          </p:cNvPicPr>
          <p:nvPr/>
        </p:nvPicPr>
        <p:blipFill>
          <a:blip r:embed="rId1"/>
          <a:stretch>
            <a:fillRect/>
          </a:stretch>
        </p:blipFill>
        <p:spPr>
          <a:xfrm>
            <a:off x="777240" y="2176272"/>
            <a:ext cx="4572000" cy="1714500"/>
          </a:xfrm>
          <a:prstGeom prst="rect">
            <a:avLst/>
          </a:prstGeom>
          <a:effectLst>
            <a:outerShdw sx="100000" sy="100000" kx="0" ky="0" algn="bl" rotWithShape="0" blurRad="152400" dist="38100" dir="5400000">
              <a:srgbClr val="000000">
                <a:alpha val="28000"/>
              </a:srgbClr>
            </a:outerShdw>
          </a:effectLst>
        </p:spPr>
      </p:pic>
      <p:sp>
        <p:nvSpPr>
          <p:cNvPr id="6" name="Text 3"/>
          <p:cNvSpPr/>
          <p:nvPr/>
        </p:nvSpPr>
        <p:spPr>
          <a:xfrm>
            <a:off x="6812280" y="187452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Telemetría en vivo y los PIDs que soporta</a:t>
            </a:r>
            <a:endParaRPr lang="en-US" sz="1200" dirty="0"/>
          </a:p>
        </p:txBody>
      </p:sp>
      <p:pic>
        <p:nvPicPr>
          <p:cNvPr id="7" name="Image 1" descr="/home/user/intelligent-automotive-diagnostics/docs/presentacion/capturas/demo/02-datos-vivo.png">    </p:cNvPr>
          <p:cNvPicPr>
            <a:picLocks noChangeAspect="1"/>
          </p:cNvPicPr>
          <p:nvPr/>
        </p:nvPicPr>
        <p:blipFill>
          <a:blip r:embed="rId2"/>
          <a:stretch>
            <a:fillRect/>
          </a:stretch>
        </p:blipFill>
        <p:spPr>
          <a:xfrm>
            <a:off x="6812280" y="2176272"/>
            <a:ext cx="4572000" cy="1714500"/>
          </a:xfrm>
          <a:prstGeom prst="rect">
            <a:avLst/>
          </a:prstGeom>
          <a:effectLst>
            <a:outerShdw sx="100000" sy="100000" kx="0" ky="0" algn="bl" rotWithShape="0" blurRad="152400" dist="38100" dir="5400000">
              <a:srgbClr val="000000">
                <a:alpha val="28000"/>
              </a:srgbClr>
            </a:outerShdw>
          </a:effectLst>
        </p:spPr>
      </p:pic>
      <p:sp>
        <p:nvSpPr>
          <p:cNvPr id="8" name="Text 4"/>
          <p:cNvSpPr/>
          <p:nvPr/>
        </p:nvSpPr>
        <p:spPr>
          <a:xfrm>
            <a:off x="777240" y="402336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Las averías: modos 03, 07 y 0A</a:t>
            </a:r>
            <a:endParaRPr lang="en-US" sz="1200" dirty="0"/>
          </a:p>
        </p:txBody>
      </p:sp>
      <p:pic>
        <p:nvPicPr>
          <p:cNvPr id="9" name="Image 2" descr="/home/user/intelligent-automotive-diagnostics/docs/presentacion/capturas/demo/03-codigos-dtc.png">    </p:cNvPr>
          <p:cNvPicPr>
            <a:picLocks noChangeAspect="1"/>
          </p:cNvPicPr>
          <p:nvPr/>
        </p:nvPicPr>
        <p:blipFill>
          <a:blip r:embed="rId3"/>
          <a:stretch>
            <a:fillRect/>
          </a:stretch>
        </p:blipFill>
        <p:spPr>
          <a:xfrm>
            <a:off x="777240" y="4325112"/>
            <a:ext cx="4572000" cy="1714500"/>
          </a:xfrm>
          <a:prstGeom prst="rect">
            <a:avLst/>
          </a:prstGeom>
          <a:effectLst>
            <a:outerShdw sx="100000" sy="100000" kx="0" ky="0" algn="bl" rotWithShape="0" blurRad="152400" dist="38100" dir="5400000">
              <a:srgbClr val="000000">
                <a:alpha val="28000"/>
              </a:srgbClr>
            </a:outerShdw>
          </a:effectLst>
        </p:spPr>
      </p:pic>
      <p:sp>
        <p:nvSpPr>
          <p:cNvPr id="10" name="Text 5"/>
          <p:cNvSpPr/>
          <p:nvPr/>
        </p:nvSpPr>
        <p:spPr>
          <a:xfrm>
            <a:off x="6812280" y="4023360"/>
            <a:ext cx="4572000" cy="256032"/>
          </a:xfrm>
          <a:prstGeom prst="rect">
            <a:avLst/>
          </a:prstGeom>
          <a:noFill/>
          <a:ln/>
        </p:spPr>
        <p:txBody>
          <a:bodyPr wrap="square" lIns="0" tIns="0" rIns="0" bIns="0" rtlCol="0" anchor="t"/>
          <a:lstStyle/>
          <a:p>
            <a:pPr indent="0" marL="0">
              <a:buNone/>
            </a:pPr>
            <a:r>
              <a:rPr lang="en-US" sz="1200" dirty="0">
                <a:solidFill>
                  <a:srgbClr val="1A1C2E"/>
                </a:solidFill>
                <a:latin typeface="Calibri" pitchFamily="34" charset="0"/>
                <a:ea typeface="Calibri" pitchFamily="34" charset="-122"/>
                <a:cs typeface="Calibri" pitchFamily="34" charset="-120"/>
              </a:rPr>
              <a:t>El informe que se congela con la sesión</a:t>
            </a:r>
            <a:endParaRPr lang="en-US" sz="1200" dirty="0"/>
          </a:p>
        </p:txBody>
      </p:sp>
      <p:pic>
        <p:nvPicPr>
          <p:cNvPr id="11" name="Image 3" descr="/home/user/intelligent-automotive-diagnostics/docs/presentacion/capturas/demo/08-informe.png">    </p:cNvPr>
          <p:cNvPicPr>
            <a:picLocks noChangeAspect="1"/>
          </p:cNvPicPr>
          <p:nvPr/>
        </p:nvPicPr>
        <p:blipFill>
          <a:blip r:embed="rId4"/>
          <a:stretch>
            <a:fillRect/>
          </a:stretch>
        </p:blipFill>
        <p:spPr>
          <a:xfrm>
            <a:off x="6812280" y="4325112"/>
            <a:ext cx="4572000" cy="1714500"/>
          </a:xfrm>
          <a:prstGeom prst="rect">
            <a:avLst/>
          </a:prstGeom>
          <a:effectLst>
            <a:outerShdw sx="100000" sy="100000" kx="0" ky="0" algn="bl" rotWithShape="0" blurRad="152400" dist="38100" dir="5400000">
              <a:srgbClr val="000000">
                <a:alpha val="28000"/>
              </a:srgbClr>
            </a:outerShdw>
          </a:effectLst>
        </p:spPr>
      </p:pic>
      <p:sp>
        <p:nvSpPr>
          <p:cNvPr id="12" name="Shape 6"/>
          <p:cNvSpPr/>
          <p:nvPr/>
        </p:nvSpPr>
        <p:spPr>
          <a:xfrm>
            <a:off x="777240" y="6263640"/>
            <a:ext cx="219456" cy="219456"/>
          </a:xfrm>
          <a:prstGeom prst="rect">
            <a:avLst/>
          </a:prstGeom>
          <a:solidFill>
            <a:srgbClr val="202CFC"/>
          </a:solidFill>
          <a:ln/>
        </p:spPr>
      </p:sp>
      <p:sp>
        <p:nvSpPr>
          <p:cNvPr id="13"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4"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5"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Calidad del código y seguridad</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 único desarrollador: las comprobaciones automáticas son la red de seguridad.</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Desarrollo</a:t>
            </a:r>
            <a:endParaRPr lang="en-US" sz="19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TDD: primero el test que falla, luego el código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2.171 pruebas en verde, en 209 ficheros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 cobertura se exige fichero a fichero, no de media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45 cambios especificados y archivados con OpenSpec</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Verificaciones en cada push</a:t>
            </a:r>
            <a:endParaRPr lang="en-US" sz="1900" dirty="0"/>
          </a:p>
        </p:txBody>
      </p:sp>
      <p:sp>
        <p:nvSpPr>
          <p:cNvPr id="7" name="Text 5"/>
          <p:cNvSpPr/>
          <p:nvPr/>
        </p:nvSpPr>
        <p:spPr>
          <a:xfrm>
            <a:off x="653796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Lint, formato, tests, build y typecheck</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Las dos apps en paralelo, sobre Node 22</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Auditoría de dependencias que rompe si hay algo crítico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OWASP API Top 10 2023: las diez categorías, documentadas</a:t>
            </a:r>
            <a:endParaRPr lang="en-US" sz="15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02920"/>
            <a:ext cx="10607040" cy="685800"/>
          </a:xfrm>
          <a:prstGeom prst="rect">
            <a:avLst/>
          </a:prstGeom>
          <a:noFill/>
          <a:ln/>
        </p:spPr>
        <p:txBody>
          <a:bodyPr wrap="square" lIns="0" tIns="0" rIns="0" bIns="0" rtlCol="0" anchor="t"/>
          <a:lstStyle/>
          <a:p>
            <a:pPr indent="0" marL="0">
              <a:buNone/>
            </a:pPr>
            <a:r>
              <a:rPr lang="en-US" sz="3200" b="1" dirty="0">
                <a:solidFill>
                  <a:srgbClr val="1A1C2E"/>
                </a:solidFill>
                <a:latin typeface="Arial" pitchFamily="34" charset="0"/>
                <a:ea typeface="Arial" pitchFamily="34" charset="-122"/>
                <a:cs typeface="Arial" pitchFamily="34" charset="-120"/>
              </a:rPr>
              <a:t>Integración y despliegue continuos</a:t>
            </a:r>
            <a:endParaRPr lang="en-US" sz="3200" dirty="0"/>
          </a:p>
        </p:txBody>
      </p:sp>
      <p:sp>
        <p:nvSpPr>
          <p:cNvPr id="3" name="Text 1"/>
          <p:cNvSpPr/>
          <p:nvPr/>
        </p:nvSpPr>
        <p:spPr>
          <a:xfrm>
            <a:off x="777240" y="1261872"/>
            <a:ext cx="10607040" cy="320040"/>
          </a:xfrm>
          <a:prstGeom prst="rect">
            <a:avLst/>
          </a:prstGeom>
          <a:noFill/>
          <a:ln/>
        </p:spPr>
        <p:txBody>
          <a:bodyPr wrap="square" lIns="0" tIns="0" rIns="0" bIns="0" rtlCol="0" anchor="t"/>
          <a:lstStyle/>
          <a:p>
            <a:pPr indent="0" marL="0">
              <a:buNone/>
            </a:pPr>
            <a:r>
              <a:rPr lang="en-US" sz="1500" dirty="0">
                <a:solidFill>
                  <a:srgbClr val="5A5F73"/>
                </a:solidFill>
                <a:latin typeface="Calibri" pitchFamily="34" charset="0"/>
                <a:ea typeface="Calibri" pitchFamily="34" charset="-122"/>
                <a:cs typeface="Calibri" pitchFamily="34" charset="-120"/>
              </a:rPr>
              <a:t>Todo automatizado en GitHub Actions: integrar en main publica la nueva versión en producción.</a:t>
            </a:r>
            <a:endParaRPr lang="en-US" sz="1500" dirty="0"/>
          </a:p>
        </p:txBody>
      </p:sp>
      <p:sp>
        <p:nvSpPr>
          <p:cNvPr id="4" name="Shape 2"/>
          <p:cNvSpPr/>
          <p:nvPr/>
        </p:nvSpPr>
        <p:spPr>
          <a:xfrm>
            <a:off x="777240" y="1874520"/>
            <a:ext cx="1828800" cy="868680"/>
          </a:xfrm>
          <a:prstGeom prst="roundRect">
            <a:avLst>
              <a:gd name="adj" fmla="val 6316"/>
            </a:avLst>
          </a:prstGeom>
          <a:solidFill>
            <a:srgbClr val="FFFFFF"/>
          </a:solidFill>
          <a:ln w="12700">
            <a:solidFill>
              <a:srgbClr val="C9CCD8"/>
            </a:solidFill>
            <a:prstDash val="solid"/>
          </a:ln>
        </p:spPr>
      </p:sp>
      <p:sp>
        <p:nvSpPr>
          <p:cNvPr id="5" name="Text 3"/>
          <p:cNvSpPr/>
          <p:nvPr/>
        </p:nvSpPr>
        <p:spPr>
          <a:xfrm>
            <a:off x="85039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Integración en main</a:t>
            </a:r>
            <a:endParaRPr lang="en-US" sz="1100" dirty="0"/>
          </a:p>
        </p:txBody>
      </p:sp>
      <p:sp>
        <p:nvSpPr>
          <p:cNvPr id="6" name="Text 4"/>
          <p:cNvSpPr/>
          <p:nvPr/>
        </p:nvSpPr>
        <p:spPr>
          <a:xfrm>
            <a:off x="85039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push o merge</a:t>
            </a:r>
            <a:endParaRPr lang="en-US" sz="950" dirty="0"/>
          </a:p>
        </p:txBody>
      </p:sp>
      <p:sp>
        <p:nvSpPr>
          <p:cNvPr id="7" name="Shape 5"/>
          <p:cNvSpPr/>
          <p:nvPr/>
        </p:nvSpPr>
        <p:spPr>
          <a:xfrm>
            <a:off x="2679192" y="2308860"/>
            <a:ext cx="219456" cy="0"/>
          </a:xfrm>
          <a:prstGeom prst="line">
            <a:avLst/>
          </a:prstGeom>
          <a:noFill/>
          <a:ln w="19050">
            <a:solidFill>
              <a:srgbClr val="202CFC"/>
            </a:solidFill>
            <a:prstDash val="solid"/>
            <a:tailEnd type="triangle"/>
          </a:ln>
        </p:spPr>
      </p:sp>
      <p:sp>
        <p:nvSpPr>
          <p:cNvPr id="8" name="Shape 6"/>
          <p:cNvSpPr/>
          <p:nvPr/>
        </p:nvSpPr>
        <p:spPr>
          <a:xfrm>
            <a:off x="2971800" y="1874520"/>
            <a:ext cx="1828800" cy="868680"/>
          </a:xfrm>
          <a:prstGeom prst="roundRect">
            <a:avLst>
              <a:gd name="adj" fmla="val 6316"/>
            </a:avLst>
          </a:prstGeom>
          <a:solidFill>
            <a:srgbClr val="FFFFFF"/>
          </a:solidFill>
          <a:ln w="12700">
            <a:solidFill>
              <a:srgbClr val="C9CCD8"/>
            </a:solidFill>
            <a:prstDash val="solid"/>
          </a:ln>
        </p:spPr>
      </p:sp>
      <p:sp>
        <p:nvSpPr>
          <p:cNvPr id="9" name="Text 7"/>
          <p:cNvSpPr/>
          <p:nvPr/>
        </p:nvSpPr>
        <p:spPr>
          <a:xfrm>
            <a:off x="304495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Verificación</a:t>
            </a:r>
            <a:endParaRPr lang="en-US" sz="1100" dirty="0"/>
          </a:p>
        </p:txBody>
      </p:sp>
      <p:sp>
        <p:nvSpPr>
          <p:cNvPr id="10" name="Text 8"/>
          <p:cNvSpPr/>
          <p:nvPr/>
        </p:nvSpPr>
        <p:spPr>
          <a:xfrm>
            <a:off x="304495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lint, tests,</a:t>
            </a:r>
            <a:endParaRPr lang="en-US" sz="950" dirty="0"/>
          </a:p>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build y typecheck</a:t>
            </a:r>
            <a:endParaRPr lang="en-US" sz="950" dirty="0"/>
          </a:p>
        </p:txBody>
      </p:sp>
      <p:sp>
        <p:nvSpPr>
          <p:cNvPr id="11" name="Shape 9"/>
          <p:cNvSpPr/>
          <p:nvPr/>
        </p:nvSpPr>
        <p:spPr>
          <a:xfrm>
            <a:off x="4873752" y="2308860"/>
            <a:ext cx="219456" cy="0"/>
          </a:xfrm>
          <a:prstGeom prst="line">
            <a:avLst/>
          </a:prstGeom>
          <a:noFill/>
          <a:ln w="19050">
            <a:solidFill>
              <a:srgbClr val="202CFC"/>
            </a:solidFill>
            <a:prstDash val="solid"/>
            <a:tailEnd type="triangle"/>
          </a:ln>
        </p:spPr>
      </p:sp>
      <p:sp>
        <p:nvSpPr>
          <p:cNvPr id="12" name="Shape 10"/>
          <p:cNvSpPr/>
          <p:nvPr/>
        </p:nvSpPr>
        <p:spPr>
          <a:xfrm>
            <a:off x="5166360" y="1874520"/>
            <a:ext cx="1828800" cy="868680"/>
          </a:xfrm>
          <a:prstGeom prst="roundRect">
            <a:avLst>
              <a:gd name="adj" fmla="val 6316"/>
            </a:avLst>
          </a:prstGeom>
          <a:solidFill>
            <a:srgbClr val="FFFFFF"/>
          </a:solidFill>
          <a:ln w="12700">
            <a:solidFill>
              <a:srgbClr val="C9CCD8"/>
            </a:solidFill>
            <a:prstDash val="solid"/>
          </a:ln>
        </p:spPr>
      </p:sp>
      <p:sp>
        <p:nvSpPr>
          <p:cNvPr id="13" name="Text 11"/>
          <p:cNvSpPr/>
          <p:nvPr/>
        </p:nvSpPr>
        <p:spPr>
          <a:xfrm>
            <a:off x="523951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Construcción</a:t>
            </a:r>
            <a:endParaRPr lang="en-US" sz="1100" dirty="0"/>
          </a:p>
        </p:txBody>
      </p:sp>
      <p:sp>
        <p:nvSpPr>
          <p:cNvPr id="14" name="Text 12"/>
          <p:cNvSpPr/>
          <p:nvPr/>
        </p:nvSpPr>
        <p:spPr>
          <a:xfrm>
            <a:off x="523951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tres imágenes</a:t>
            </a:r>
            <a:endParaRPr lang="en-US" sz="950" dirty="0"/>
          </a:p>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Docker</a:t>
            </a:r>
            <a:endParaRPr lang="en-US" sz="950" dirty="0"/>
          </a:p>
        </p:txBody>
      </p:sp>
      <p:sp>
        <p:nvSpPr>
          <p:cNvPr id="15" name="Shape 13"/>
          <p:cNvSpPr/>
          <p:nvPr/>
        </p:nvSpPr>
        <p:spPr>
          <a:xfrm>
            <a:off x="7068312" y="2308860"/>
            <a:ext cx="219456" cy="0"/>
          </a:xfrm>
          <a:prstGeom prst="line">
            <a:avLst/>
          </a:prstGeom>
          <a:noFill/>
          <a:ln w="19050">
            <a:solidFill>
              <a:srgbClr val="202CFC"/>
            </a:solidFill>
            <a:prstDash val="solid"/>
            <a:tailEnd type="triangle"/>
          </a:ln>
        </p:spPr>
      </p:sp>
      <p:sp>
        <p:nvSpPr>
          <p:cNvPr id="16" name="Shape 14"/>
          <p:cNvSpPr/>
          <p:nvPr/>
        </p:nvSpPr>
        <p:spPr>
          <a:xfrm>
            <a:off x="7360920" y="1874520"/>
            <a:ext cx="1828800" cy="868680"/>
          </a:xfrm>
          <a:prstGeom prst="roundRect">
            <a:avLst>
              <a:gd name="adj" fmla="val 6316"/>
            </a:avLst>
          </a:prstGeom>
          <a:solidFill>
            <a:srgbClr val="FFFFFF"/>
          </a:solidFill>
          <a:ln w="12700">
            <a:solidFill>
              <a:srgbClr val="C9CCD8"/>
            </a:solidFill>
            <a:prstDash val="solid"/>
          </a:ln>
        </p:spPr>
      </p:sp>
      <p:sp>
        <p:nvSpPr>
          <p:cNvPr id="17" name="Text 15"/>
          <p:cNvSpPr/>
          <p:nvPr/>
        </p:nvSpPr>
        <p:spPr>
          <a:xfrm>
            <a:off x="7434072" y="1993392"/>
            <a:ext cx="1682496" cy="274320"/>
          </a:xfrm>
          <a:prstGeom prst="rect">
            <a:avLst/>
          </a:prstGeom>
          <a:noFill/>
          <a:ln/>
        </p:spPr>
        <p:txBody>
          <a:bodyPr wrap="square" lIns="0" tIns="0" rIns="0" bIns="0" rtlCol="0" anchor="ctr"/>
          <a:lstStyle/>
          <a:p>
            <a:pPr algn="ctr" indent="0" marL="0">
              <a:buNone/>
            </a:pPr>
            <a:r>
              <a:rPr lang="en-US" sz="1100" b="1" dirty="0">
                <a:solidFill>
                  <a:srgbClr val="1A1C2E"/>
                </a:solidFill>
                <a:latin typeface="Arial" pitchFamily="34" charset="0"/>
                <a:ea typeface="Arial" pitchFamily="34" charset="-122"/>
                <a:cs typeface="Arial" pitchFamily="34" charset="-120"/>
              </a:rPr>
              <a:t>Publicación</a:t>
            </a:r>
            <a:endParaRPr lang="en-US" sz="1100" dirty="0"/>
          </a:p>
        </p:txBody>
      </p:sp>
      <p:sp>
        <p:nvSpPr>
          <p:cNvPr id="18" name="Text 16"/>
          <p:cNvSpPr/>
          <p:nvPr/>
        </p:nvSpPr>
        <p:spPr>
          <a:xfrm>
            <a:off x="743407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registro de</a:t>
            </a:r>
            <a:endParaRPr lang="en-US" sz="950" dirty="0"/>
          </a:p>
          <a:p>
            <a:pPr algn="ctr" indent="0" marL="0">
              <a:lnSpc>
                <a:spcPts val="1200"/>
              </a:lnSpc>
              <a:buNone/>
            </a:pPr>
            <a:r>
              <a:rPr lang="en-US" sz="950" dirty="0">
                <a:solidFill>
                  <a:srgbClr val="5A5F73"/>
                </a:solidFill>
                <a:latin typeface="Calibri" pitchFamily="34" charset="0"/>
                <a:ea typeface="Calibri" pitchFamily="34" charset="-122"/>
                <a:cs typeface="Calibri" pitchFamily="34" charset="-120"/>
              </a:rPr>
              <a:t>contenedores</a:t>
            </a:r>
            <a:endParaRPr lang="en-US" sz="950" dirty="0"/>
          </a:p>
        </p:txBody>
      </p:sp>
      <p:sp>
        <p:nvSpPr>
          <p:cNvPr id="19" name="Shape 17"/>
          <p:cNvSpPr/>
          <p:nvPr/>
        </p:nvSpPr>
        <p:spPr>
          <a:xfrm>
            <a:off x="9262872" y="2308860"/>
            <a:ext cx="219456" cy="0"/>
          </a:xfrm>
          <a:prstGeom prst="line">
            <a:avLst/>
          </a:prstGeom>
          <a:noFill/>
          <a:ln w="19050">
            <a:solidFill>
              <a:srgbClr val="202CFC"/>
            </a:solidFill>
            <a:prstDash val="solid"/>
            <a:tailEnd type="triangle"/>
          </a:ln>
        </p:spPr>
      </p:sp>
      <p:sp>
        <p:nvSpPr>
          <p:cNvPr id="20" name="Shape 18"/>
          <p:cNvSpPr/>
          <p:nvPr/>
        </p:nvSpPr>
        <p:spPr>
          <a:xfrm>
            <a:off x="9555480" y="1874520"/>
            <a:ext cx="1828800" cy="868680"/>
          </a:xfrm>
          <a:prstGeom prst="roundRect">
            <a:avLst>
              <a:gd name="adj" fmla="val 6316"/>
            </a:avLst>
          </a:prstGeom>
          <a:solidFill>
            <a:srgbClr val="1A1C2E"/>
          </a:solidFill>
          <a:ln w="12700">
            <a:solidFill>
              <a:srgbClr val="1A1C2E"/>
            </a:solidFill>
            <a:prstDash val="solid"/>
          </a:ln>
        </p:spPr>
      </p:sp>
      <p:sp>
        <p:nvSpPr>
          <p:cNvPr id="21" name="Text 19"/>
          <p:cNvSpPr/>
          <p:nvPr/>
        </p:nvSpPr>
        <p:spPr>
          <a:xfrm>
            <a:off x="9628632" y="1993392"/>
            <a:ext cx="1682496"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Producción</a:t>
            </a:r>
            <a:endParaRPr lang="en-US" sz="1100" dirty="0"/>
          </a:p>
        </p:txBody>
      </p:sp>
      <p:sp>
        <p:nvSpPr>
          <p:cNvPr id="22" name="Text 20"/>
          <p:cNvSpPr/>
          <p:nvPr/>
        </p:nvSpPr>
        <p:spPr>
          <a:xfrm>
            <a:off x="9628632" y="2276856"/>
            <a:ext cx="1682496" cy="384048"/>
          </a:xfrm>
          <a:prstGeom prst="rect">
            <a:avLst/>
          </a:prstGeom>
          <a:noFill/>
          <a:ln/>
        </p:spPr>
        <p:txBody>
          <a:bodyPr wrap="square" lIns="0" tIns="0" rIns="0" bIns="0" rtlCol="0" anchor="t"/>
          <a:lstStyle/>
          <a:p>
            <a:pPr algn="ctr" indent="0" marL="0">
              <a:lnSpc>
                <a:spcPts val="1200"/>
              </a:lnSpc>
              <a:buNone/>
            </a:pPr>
            <a:r>
              <a:rPr lang="en-US" sz="950" dirty="0">
                <a:solidFill>
                  <a:srgbClr val="B8BCCC"/>
                </a:solidFill>
                <a:latin typeface="Calibri" pitchFamily="34" charset="0"/>
                <a:ea typeface="Calibri" pitchFamily="34" charset="-122"/>
                <a:cs typeface="Calibri" pitchFamily="34" charset="-120"/>
              </a:rPr>
              <a:t>el servidor levanta</a:t>
            </a:r>
            <a:endParaRPr lang="en-US" sz="950" dirty="0"/>
          </a:p>
          <a:p>
            <a:pPr algn="ctr" indent="0" marL="0">
              <a:lnSpc>
                <a:spcPts val="1200"/>
              </a:lnSpc>
              <a:buNone/>
            </a:pPr>
            <a:r>
              <a:rPr lang="en-US" sz="950" dirty="0">
                <a:solidFill>
                  <a:srgbClr val="B8BCCC"/>
                </a:solidFill>
                <a:latin typeface="Calibri" pitchFamily="34" charset="0"/>
                <a:ea typeface="Calibri" pitchFamily="34" charset="-122"/>
                <a:cs typeface="Calibri" pitchFamily="34" charset="-120"/>
              </a:rPr>
              <a:t>la nueva versión</a:t>
            </a:r>
            <a:endParaRPr lang="en-US" sz="950" dirty="0"/>
          </a:p>
        </p:txBody>
      </p:sp>
      <p:sp>
        <p:nvSpPr>
          <p:cNvPr id="23" name="Text 21"/>
          <p:cNvSpPr/>
          <p:nvPr/>
        </p:nvSpPr>
        <p:spPr>
          <a:xfrm>
            <a:off x="777240" y="3127248"/>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Integración continua</a:t>
            </a:r>
            <a:endParaRPr lang="en-US" sz="1900" dirty="0"/>
          </a:p>
        </p:txBody>
      </p:sp>
      <p:sp>
        <p:nvSpPr>
          <p:cNvPr id="24" name="Text 22"/>
          <p:cNvSpPr/>
          <p:nvPr/>
        </p:nvSpPr>
        <p:spPr>
          <a:xfrm>
            <a:off x="777240" y="3657600"/>
            <a:ext cx="4846320" cy="23774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En cada push y en cada pull request</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Las dos aplicaciones en paralelo, sobre Node 22</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Lint, formato, pruebas, compilación y typecheck</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Auditoría de dependencias, que detiene la entrega ante una vulnerabilidad crítica</a:t>
            </a:r>
            <a:endParaRPr lang="en-US" sz="1500" dirty="0"/>
          </a:p>
        </p:txBody>
      </p:sp>
      <p:sp>
        <p:nvSpPr>
          <p:cNvPr id="25" name="Text 23"/>
          <p:cNvSpPr/>
          <p:nvPr/>
        </p:nvSpPr>
        <p:spPr>
          <a:xfrm>
            <a:off x="6537960" y="3127248"/>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Despliegue continuo</a:t>
            </a:r>
            <a:endParaRPr lang="en-US" sz="1900" dirty="0"/>
          </a:p>
        </p:txBody>
      </p:sp>
      <p:sp>
        <p:nvSpPr>
          <p:cNvPr id="26" name="Text 24"/>
          <p:cNvSpPr/>
          <p:nvPr/>
        </p:nvSpPr>
        <p:spPr>
          <a:xfrm>
            <a:off x="6537960" y="3657600"/>
            <a:ext cx="4846320" cy="23774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Se dispara al integrar en main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Construye tres imágenes: API, interfaz y emulador</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Las publica en el registro de contenedores de GitHub</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servidor las descarga y levanta la nueva versión, sin intervención manual</a:t>
            </a:r>
            <a:endParaRPr lang="en-US" sz="1500" dirty="0"/>
          </a:p>
        </p:txBody>
      </p:sp>
      <p:sp>
        <p:nvSpPr>
          <p:cNvPr id="27" name="Shape 25"/>
          <p:cNvSpPr/>
          <p:nvPr/>
        </p:nvSpPr>
        <p:spPr>
          <a:xfrm>
            <a:off x="777240" y="6263640"/>
            <a:ext cx="219456" cy="219456"/>
          </a:xfrm>
          <a:prstGeom prst="rect">
            <a:avLst/>
          </a:prstGeom>
          <a:solidFill>
            <a:srgbClr val="202CFC"/>
          </a:solidFill>
          <a:ln/>
        </p:spPr>
      </p:sp>
      <p:sp>
        <p:nvSpPr>
          <p:cNvPr id="28" name="Text 2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9" name="Text 2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30" name="Text 2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Conclusiones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Balance de haber desarrollado el proyecto con asistencia de IA.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Lo que aporta</a:t>
            </a:r>
            <a:endParaRPr lang="en-US" sz="2000" dirty="0"/>
          </a:p>
        </p:txBody>
      </p:sp>
      <p:sp>
        <p:nvSpPr>
          <p:cNvPr id="5" name="Text 3"/>
          <p:cNvSpPr/>
          <p:nvPr/>
        </p:nvSpPr>
        <p:spPr>
          <a:xfrm>
            <a:off x="777240" y="2834640"/>
            <a:ext cx="4846320" cy="2468880"/>
          </a:xfrm>
          <a:prstGeom prst="rect">
            <a:avLst/>
          </a:prstGeom>
          <a:noFill/>
          <a:ln/>
        </p:spPr>
        <p:txBody>
          <a:bodyPr wrap="square" lIns="0" tIns="0" rIns="0" bIns="0" rtlCol="0" anchor="t"/>
          <a:lstStyle/>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Se pueden construir cosas complejas mucho más rápido</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Lo que antes eran meses o años, ahora son semanas</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Y se aprende más por el camino: herramientas y frameworks que no habrías tocado</a:t>
            </a:r>
            <a:endParaRPr lang="en-US" sz="16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Lo que exige</a:t>
            </a:r>
            <a:endParaRPr lang="en-US" sz="2000" dirty="0"/>
          </a:p>
        </p:txBody>
      </p:sp>
      <p:sp>
        <p:nvSpPr>
          <p:cNvPr id="7" name="Text 5"/>
          <p:cNvSpPr/>
          <p:nvPr/>
        </p:nvSpPr>
        <p:spPr>
          <a:xfrm>
            <a:off x="6537960" y="2834640"/>
            <a:ext cx="4846320" cy="2468880"/>
          </a:xfrm>
          <a:prstGeom prst="rect">
            <a:avLst/>
          </a:prstGeom>
          <a:noFill/>
          <a:ln/>
        </p:spPr>
        <p:txBody>
          <a:bodyPr wrap="square" lIns="0" tIns="0" rIns="0" bIns="0" rtlCol="0" anchor="t"/>
          <a:lstStyle/>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Acelera, pero también se equivoca</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Hay que revisar lo que se sube, no vale con fiarse</a:t>
            </a:r>
            <a:endParaRPr lang="en-US" sz="1600" dirty="0"/>
          </a:p>
          <a:p>
            <a:pPr marL="342900" indent="-342900">
              <a:lnSpc>
                <a:spcPts val="2200"/>
              </a:lnSpc>
              <a:spcAft>
                <a:spcPts val="1300"/>
              </a:spcAft>
              <a:buSzPct val="100000"/>
              <a:buChar char="•"/>
            </a:pPr>
            <a:r>
              <a:rPr lang="en-US" sz="1600" dirty="0">
                <a:solidFill>
                  <a:srgbClr val="1A1C2E"/>
                </a:solidFill>
                <a:latin typeface="Calibri" pitchFamily="34" charset="0"/>
                <a:ea typeface="Calibri" pitchFamily="34" charset="-122"/>
                <a:cs typeface="Calibri" pitchFamily="34" charset="-120"/>
              </a:rPr>
              <a:t>No es todo tan bonito como parece: hay que dedicarle tiempo</a:t>
            </a:r>
            <a:endParaRPr lang="en-US" sz="16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720840" y="-91440"/>
            <a:ext cx="5760720" cy="7040880"/>
          </a:xfrm>
          <a:prstGeom prst="rect">
            <a:avLst/>
          </a:prstGeom>
          <a:solidFill>
            <a:srgbClr val="1A1C2E"/>
          </a:solidFill>
          <a:ln/>
        </p:spPr>
      </p:sp>
      <p:sp>
        <p:nvSpPr>
          <p:cNvPr id="3" name="Shape 1"/>
          <p:cNvSpPr/>
          <p:nvPr/>
        </p:nvSpPr>
        <p:spPr>
          <a:xfrm>
            <a:off x="777240" y="685800"/>
            <a:ext cx="475488" cy="475488"/>
          </a:xfrm>
          <a:prstGeom prst="rect">
            <a:avLst/>
          </a:prstGeom>
          <a:solidFill>
            <a:srgbClr val="202CFC"/>
          </a:solidFill>
          <a:ln/>
        </p:spPr>
      </p:sp>
      <p:sp>
        <p:nvSpPr>
          <p:cNvPr id="4" name="Text 2"/>
          <p:cNvSpPr/>
          <p:nvPr/>
        </p:nvSpPr>
        <p:spPr>
          <a:xfrm>
            <a:off x="777240" y="685800"/>
            <a:ext cx="475488" cy="475488"/>
          </a:xfrm>
          <a:prstGeom prst="rect">
            <a:avLst/>
          </a:prstGeom>
          <a:noFill/>
          <a:ln/>
        </p:spPr>
        <p:txBody>
          <a:bodyPr wrap="square" lIns="0" tIns="0" rIns="0" bIns="0" rtlCol="0" anchor="ctr"/>
          <a:lstStyle/>
          <a:p>
            <a:pPr algn="ctr" indent="0" marL="0">
              <a:buNone/>
            </a:pPr>
            <a:r>
              <a:rPr lang="en-US" sz="1768" b="1" dirty="0">
                <a:solidFill>
                  <a:srgbClr val="FFFFFF"/>
                </a:solidFill>
                <a:latin typeface="Arial" pitchFamily="34" charset="0"/>
                <a:ea typeface="Arial" pitchFamily="34" charset="-122"/>
                <a:cs typeface="Arial" pitchFamily="34" charset="-120"/>
              </a:rPr>
              <a:t>BIG</a:t>
            </a:r>
            <a:endParaRPr lang="en-US" sz="1768" dirty="0"/>
          </a:p>
        </p:txBody>
      </p:sp>
      <p:sp>
        <p:nvSpPr>
          <p:cNvPr id="5" name="Text 3"/>
          <p:cNvSpPr/>
          <p:nvPr/>
        </p:nvSpPr>
        <p:spPr>
          <a:xfrm>
            <a:off x="1335024" y="685800"/>
            <a:ext cx="1426464" cy="475488"/>
          </a:xfrm>
          <a:prstGeom prst="rect">
            <a:avLst/>
          </a:prstGeom>
          <a:noFill/>
          <a:ln/>
        </p:spPr>
        <p:txBody>
          <a:bodyPr wrap="square" lIns="0" tIns="0" rIns="0" bIns="0" rtlCol="0" anchor="ctr"/>
          <a:lstStyle/>
          <a:p>
            <a:pPr algn="l" indent="0" marL="0">
              <a:buNone/>
            </a:pPr>
            <a:r>
              <a:rPr lang="en-US" sz="1768" dirty="0">
                <a:solidFill>
                  <a:srgbClr val="1A1C2E"/>
                </a:solidFill>
                <a:latin typeface="Arial" pitchFamily="34" charset="0"/>
                <a:ea typeface="Arial" pitchFamily="34" charset="-122"/>
                <a:cs typeface="Arial" pitchFamily="34" charset="-120"/>
              </a:rPr>
              <a:t>school</a:t>
            </a:r>
            <a:endParaRPr lang="en-US" sz="1768" dirty="0"/>
          </a:p>
        </p:txBody>
      </p:sp>
      <p:sp>
        <p:nvSpPr>
          <p:cNvPr id="6" name="Text 4"/>
          <p:cNvSpPr/>
          <p:nvPr/>
        </p:nvSpPr>
        <p:spPr>
          <a:xfrm>
            <a:off x="777240" y="2651760"/>
            <a:ext cx="5577840" cy="914400"/>
          </a:xfrm>
          <a:prstGeom prst="rect">
            <a:avLst/>
          </a:prstGeom>
          <a:noFill/>
          <a:ln/>
        </p:spPr>
        <p:txBody>
          <a:bodyPr wrap="square" lIns="0" tIns="0" rIns="0" bIns="0" rtlCol="0" anchor="t"/>
          <a:lstStyle/>
          <a:p>
            <a:pPr indent="0" marL="0">
              <a:buNone/>
            </a:pPr>
            <a:r>
              <a:rPr lang="en-US" sz="4000" b="1" dirty="0">
                <a:solidFill>
                  <a:srgbClr val="1A1C2E"/>
                </a:solidFill>
                <a:latin typeface="Arial" pitchFamily="34" charset="0"/>
                <a:ea typeface="Arial" pitchFamily="34" charset="-122"/>
                <a:cs typeface="Arial" pitchFamily="34" charset="-120"/>
              </a:rPr>
              <a:t>Gracias por la atención</a:t>
            </a:r>
            <a:endParaRPr lang="en-US" sz="4000" dirty="0"/>
          </a:p>
        </p:txBody>
      </p:sp>
      <p:sp>
        <p:nvSpPr>
          <p:cNvPr id="7" name="Text 5"/>
          <p:cNvSpPr/>
          <p:nvPr/>
        </p:nvSpPr>
        <p:spPr>
          <a:xfrm>
            <a:off x="777240" y="5349240"/>
            <a:ext cx="5486400" cy="320040"/>
          </a:xfrm>
          <a:prstGeom prst="rect">
            <a:avLst/>
          </a:prstGeom>
          <a:noFill/>
          <a:ln/>
        </p:spPr>
        <p:txBody>
          <a:bodyPr wrap="square" lIns="0" tIns="0" rIns="0" bIns="0" rtlCol="0" anchor="ctr"/>
          <a:lstStyle/>
          <a:p>
            <a:pPr indent="0" marL="0">
              <a:buNone/>
            </a:pPr>
            <a:r>
              <a:rPr lang="en-US" sz="1500" b="1" dirty="0">
                <a:solidFill>
                  <a:srgbClr val="1A1C2E"/>
                </a:solidFill>
                <a:latin typeface="Arial" pitchFamily="34" charset="0"/>
                <a:ea typeface="Arial" pitchFamily="34" charset="-122"/>
                <a:cs typeface="Arial" pitchFamily="34" charset="-120"/>
              </a:rPr>
              <a:t>Jesús Ángel Novillo Lucas-Vaquero</a:t>
            </a:r>
            <a:endParaRPr lang="en-US" sz="1500" dirty="0"/>
          </a:p>
        </p:txBody>
      </p:sp>
      <p:sp>
        <p:nvSpPr>
          <p:cNvPr id="8" name="Text 6"/>
          <p:cNvSpPr/>
          <p:nvPr/>
        </p:nvSpPr>
        <p:spPr>
          <a:xfrm>
            <a:off x="777240" y="5687568"/>
            <a:ext cx="5669280" cy="32004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Máster en Desarrollo con IA  ·  BIG school</a:t>
            </a:r>
            <a:endParaRPr lang="en-US" sz="1200" dirty="0"/>
          </a:p>
        </p:txBody>
      </p:sp>
      <p:sp>
        <p:nvSpPr>
          <p:cNvPr id="9" name="Text 7"/>
          <p:cNvSpPr/>
          <p:nvPr/>
        </p:nvSpPr>
        <p:spPr>
          <a:xfrm>
            <a:off x="7114032" y="2148840"/>
            <a:ext cx="4663440" cy="274320"/>
          </a:xfrm>
          <a:prstGeom prst="rect">
            <a:avLst/>
          </a:prstGeom>
          <a:noFill/>
          <a:ln/>
        </p:spPr>
        <p:txBody>
          <a:bodyPr wrap="square" lIns="0" tIns="0" rIns="0" bIns="0" rtlCol="0" anchor="ctr"/>
          <a:lstStyle/>
          <a:p>
            <a:pPr indent="0" marL="0">
              <a:buNone/>
            </a:pPr>
            <a:r>
              <a:rPr lang="en-US" sz="1000" b="1" spc="200" kern="0" dirty="0">
                <a:solidFill>
                  <a:srgbClr val="FFFFFF"/>
                </a:solidFill>
                <a:latin typeface="Calibri" pitchFamily="34" charset="0"/>
                <a:ea typeface="Calibri" pitchFamily="34" charset="-122"/>
                <a:cs typeface="Calibri" pitchFamily="34" charset="-120"/>
              </a:rPr>
              <a:t>EL INFORME DE LA SESIÓN</a:t>
            </a:r>
            <a:endParaRPr lang="en-US" sz="1000" dirty="0"/>
          </a:p>
        </p:txBody>
      </p:sp>
      <p:pic>
        <p:nvPicPr>
          <p:cNvPr id="10" name="Image 0" descr="/home/user/intelligent-automotive-diagnostics/docs/presentacion/capturas/demo/08-informe.png">    </p:cNvPr>
          <p:cNvPicPr>
            <a:picLocks noChangeAspect="1"/>
          </p:cNvPicPr>
          <p:nvPr/>
        </p:nvPicPr>
        <p:blipFill>
          <a:blip r:embed="rId1"/>
          <a:stretch>
            <a:fillRect/>
          </a:stretch>
        </p:blipFill>
        <p:spPr>
          <a:xfrm>
            <a:off x="7114032" y="2697480"/>
            <a:ext cx="4654296" cy="1746504"/>
          </a:xfrm>
          <a:prstGeom prst="rect">
            <a:avLst/>
          </a:prstGeom>
          <a:effectLst>
            <a:outerShdw sx="100000" sy="100000" kx="0" ky="0" algn="bl" rotWithShape="0" blurRad="254000" dist="63500" dir="8100000">
              <a:srgbClr val="000000">
                <a:alpha val="50000"/>
              </a:srgbClr>
            </a:outerShdw>
          </a:effectLst>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Intelligent Automotive Diagnostics — TFM</dc:title>
  <dc:subject>PptxGenJS Presentation</dc:subject>
  <dc:creator>Jesús Ángel Novillo Lucas-Vaquero</dc:creator>
  <cp:lastModifiedBy>Jesús Ángel Novillo Lucas-Vaquero</cp:lastModifiedBy>
  <cp:revision>1</cp:revision>
  <dcterms:created xsi:type="dcterms:W3CDTF">2026-08-26T09:52:46Z</dcterms:created>
  <dcterms:modified xsi:type="dcterms:W3CDTF">2026-08-26T09:52:46Z</dcterms:modified>
</cp:coreProperties>
</file>