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mecánico conecta el escáner a un coche, lo que le sale son códigos. P0401, P2002. Eso le dice lo que ha registrado la centralita, pero no le dice qué está roto.
A partir de ahí el trabajo lo pone él. Esos dos códigos pueden ser una válvula EGR sucia, o pueden ser un motor que consume aceite y ha ido saturando el filtro de partículas. Son dos reparaciones distintas y decidir cuál es depende de su experiencia.
Y luego está lo otro: cuando da con el fallo, eso no queda en ninguna parte. Se queda en su cabeza. El siguiente coche con esos mismos códigos igual entra en otro taller, y allí se empieza otra vez desde el código.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de la aplicación es ayudar al mecánico a diagnosticar. A investigar un fallo: qué le pasa al coche, si está bien o está mal, y por dónde seguir mirando. Dicho de otra forma, mejorar la visión que tiene del vehículo cuando conecta la herramienta. Eso ya lo hace desde el primer coche.
Y luego está lo que aporta con el tiempo. Esto está pensado para que se conecten más talleres, se registren más coches, más averías y más diagnósticos. Como todo eso se guarda en una base vectorial, cuando llega un coche nuevo el sistema puede comparar con casos que ya se resolvieron y dar una valoración más real. No pasa de un día para otro: lo va haciendo poco a poco.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hexagonal? Porque esto es una herramienta que va a seguir evolucionando.
Ahora mismo funciona con SQLite, porque era lo más rápido para desarrollar el proyecto. Pero en un futuro tendrá que usar PostgreSQL. La gracia de esta arquitectura es que para hacer ese cambio solo se toca la parte de infraestructura, la de persistencia. El dominio y los casos de uso no se enteran.
Y lo mismo pasa con el resto: si cambio de modelo de lenguaje, si cambio la forma de acceder al coche, o cualquier otra parte de la aplicación. Al final solo se toca una capa.
[~80 s. Es la slide que más se repregunta: ir despacio.]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7315200" cy="256032"/>
          </a:xfrm>
          <a:prstGeom prst="rect">
            <a:avLst/>
          </a:prstGeom>
          <a:noFill/>
          <a:ln/>
        </p:spPr>
        <p:txBody>
          <a:bodyPr wrap="square" lIns="0" tIns="0" rIns="0" bIns="0" rtlCol="0" anchor="ctr"/>
          <a:lstStyle/>
          <a:p>
            <a:pPr indent="0" marL="0">
              <a:buNone/>
            </a:pPr>
            <a:r>
              <a:rPr lang="en-US" sz="1100" b="1" spc="250" kern="0" dirty="0">
                <a:solidFill>
                  <a:srgbClr val="202CFC"/>
                </a:solidFill>
                <a:latin typeface="Calibri" pitchFamily="34" charset="0"/>
                <a:ea typeface="Calibri" pitchFamily="34" charset="-122"/>
                <a:cs typeface="Calibri" pitchFamily="34" charset="-120"/>
              </a:rPr>
              <a:t>EL PROBLEMA</a:t>
            </a:r>
            <a:endParaRPr lang="en-US" sz="1100" dirty="0"/>
          </a:p>
        </p:txBody>
      </p:sp>
      <p:sp>
        <p:nvSpPr>
          <p:cNvPr id="3" name="Text 1"/>
          <p:cNvSpPr/>
          <p:nvPr/>
        </p:nvSpPr>
        <p:spPr>
          <a:xfrm>
            <a:off x="777240" y="877824"/>
            <a:ext cx="10607040" cy="10515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ve hoy un mecánico</a:t>
            </a:r>
            <a:endParaRPr lang="en-US" sz="3400" dirty="0"/>
          </a:p>
        </p:txBody>
      </p:sp>
      <p:sp>
        <p:nvSpPr>
          <p:cNvPr id="4" name="Shape 2"/>
          <p:cNvSpPr/>
          <p:nvPr/>
        </p:nvSpPr>
        <p:spPr>
          <a:xfrm>
            <a:off x="685800" y="2331720"/>
            <a:ext cx="3383280" cy="2194560"/>
          </a:xfrm>
          <a:prstGeom prst="roundRect">
            <a:avLst>
              <a:gd name="adj" fmla="val 4167"/>
            </a:avLst>
          </a:prstGeom>
          <a:solidFill>
            <a:srgbClr val="F3F4F9"/>
          </a:solidFill>
          <a:ln/>
        </p:spPr>
      </p:sp>
      <p:sp>
        <p:nvSpPr>
          <p:cNvPr id="5" name="Shape 3"/>
          <p:cNvSpPr/>
          <p:nvPr/>
        </p:nvSpPr>
        <p:spPr>
          <a:xfrm>
            <a:off x="1005840" y="2651760"/>
            <a:ext cx="384048" cy="384048"/>
          </a:xfrm>
          <a:prstGeom prst="ellipse">
            <a:avLst/>
          </a:prstGeom>
          <a:solidFill>
            <a:srgbClr val="202CFC"/>
          </a:solidFill>
          <a:ln/>
        </p:spPr>
      </p:sp>
      <p:sp>
        <p:nvSpPr>
          <p:cNvPr id="6" name="Text 4"/>
          <p:cNvSpPr/>
          <p:nvPr/>
        </p:nvSpPr>
        <p:spPr>
          <a:xfrm>
            <a:off x="1005840" y="2651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005840" y="3246120"/>
            <a:ext cx="2743200" cy="365760"/>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Salen códigos</a:t>
            </a:r>
            <a:endParaRPr lang="en-US" sz="1700" dirty="0"/>
          </a:p>
        </p:txBody>
      </p:sp>
      <p:sp>
        <p:nvSpPr>
          <p:cNvPr id="8" name="Text 6"/>
          <p:cNvSpPr/>
          <p:nvPr/>
        </p:nvSpPr>
        <p:spPr>
          <a:xfrm>
            <a:off x="1005840" y="3703320"/>
            <a:ext cx="2743200" cy="685800"/>
          </a:xfrm>
          <a:prstGeom prst="rect">
            <a:avLst/>
          </a:prstGeom>
          <a:noFill/>
          <a:ln/>
        </p:spPr>
        <p:txBody>
          <a:bodyPr wrap="square" lIns="0" tIns="0" rIns="0" bIns="0" rtlCol="0" anchor="t"/>
          <a:lstStyle/>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P0401, P2002.</a:t>
            </a:r>
            <a:endParaRPr lang="en-US" sz="1300" dirty="0"/>
          </a:p>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Lo que ha registrado la centralita.</a:t>
            </a:r>
            <a:endParaRPr lang="en-US" sz="1300" dirty="0"/>
          </a:p>
        </p:txBody>
      </p:sp>
      <p:sp>
        <p:nvSpPr>
          <p:cNvPr id="9" name="Shape 7"/>
          <p:cNvSpPr/>
          <p:nvPr/>
        </p:nvSpPr>
        <p:spPr>
          <a:xfrm>
            <a:off x="4389120" y="2331720"/>
            <a:ext cx="3383280" cy="2194560"/>
          </a:xfrm>
          <a:prstGeom prst="roundRect">
            <a:avLst>
              <a:gd name="adj" fmla="val 4167"/>
            </a:avLst>
          </a:prstGeom>
          <a:solidFill>
            <a:srgbClr val="F3F4F9"/>
          </a:solidFill>
          <a:ln/>
        </p:spPr>
      </p:sp>
      <p:sp>
        <p:nvSpPr>
          <p:cNvPr id="10" name="Shape 8"/>
          <p:cNvSpPr/>
          <p:nvPr/>
        </p:nvSpPr>
        <p:spPr>
          <a:xfrm>
            <a:off x="4709160" y="2651760"/>
            <a:ext cx="384048" cy="384048"/>
          </a:xfrm>
          <a:prstGeom prst="ellipse">
            <a:avLst/>
          </a:prstGeom>
          <a:solidFill>
            <a:srgbClr val="202CFC"/>
          </a:solidFill>
          <a:ln/>
        </p:spPr>
      </p:sp>
      <p:sp>
        <p:nvSpPr>
          <p:cNvPr id="11" name="Text 9"/>
          <p:cNvSpPr/>
          <p:nvPr/>
        </p:nvSpPr>
        <p:spPr>
          <a:xfrm>
            <a:off x="4709160" y="2651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4709160" y="3246120"/>
            <a:ext cx="2743200" cy="365760"/>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Pero no la avería</a:t>
            </a:r>
            <a:endParaRPr lang="en-US" sz="1700" dirty="0"/>
          </a:p>
        </p:txBody>
      </p:sp>
      <p:sp>
        <p:nvSpPr>
          <p:cNvPr id="13" name="Text 11"/>
          <p:cNvSpPr/>
          <p:nvPr/>
        </p:nvSpPr>
        <p:spPr>
          <a:xfrm>
            <a:off x="4709160" y="3703320"/>
            <a:ext cx="2743200" cy="685800"/>
          </a:xfrm>
          <a:prstGeom prst="rect">
            <a:avLst/>
          </a:prstGeom>
          <a:noFill/>
          <a:ln/>
        </p:spPr>
        <p:txBody>
          <a:bodyPr wrap="square" lIns="0" tIns="0" rIns="0" bIns="0" rtlCol="0" anchor="t"/>
          <a:lstStyle/>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¿EGR sucia? ¿Consume aceite?</a:t>
            </a:r>
            <a:endParaRPr lang="en-US" sz="1300" dirty="0"/>
          </a:p>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Lo decide su experiencia.</a:t>
            </a:r>
            <a:endParaRPr lang="en-US" sz="1300" dirty="0"/>
          </a:p>
        </p:txBody>
      </p:sp>
      <p:sp>
        <p:nvSpPr>
          <p:cNvPr id="14" name="Shape 12"/>
          <p:cNvSpPr/>
          <p:nvPr/>
        </p:nvSpPr>
        <p:spPr>
          <a:xfrm>
            <a:off x="8092440" y="2331720"/>
            <a:ext cx="3383280" cy="2194560"/>
          </a:xfrm>
          <a:prstGeom prst="roundRect">
            <a:avLst>
              <a:gd name="adj" fmla="val 4167"/>
            </a:avLst>
          </a:prstGeom>
          <a:solidFill>
            <a:srgbClr val="F3F4F9"/>
          </a:solidFill>
          <a:ln/>
        </p:spPr>
      </p:sp>
      <p:sp>
        <p:nvSpPr>
          <p:cNvPr id="15" name="Shape 13"/>
          <p:cNvSpPr/>
          <p:nvPr/>
        </p:nvSpPr>
        <p:spPr>
          <a:xfrm>
            <a:off x="8412480" y="2651760"/>
            <a:ext cx="384048" cy="384048"/>
          </a:xfrm>
          <a:prstGeom prst="ellipse">
            <a:avLst/>
          </a:prstGeom>
          <a:solidFill>
            <a:srgbClr val="202CFC"/>
          </a:solidFill>
          <a:ln/>
        </p:spPr>
      </p:sp>
      <p:sp>
        <p:nvSpPr>
          <p:cNvPr id="16" name="Text 14"/>
          <p:cNvSpPr/>
          <p:nvPr/>
        </p:nvSpPr>
        <p:spPr>
          <a:xfrm>
            <a:off x="8412480" y="2651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412480" y="3246120"/>
            <a:ext cx="2743200" cy="365760"/>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Y no queda registrado</a:t>
            </a:r>
            <a:endParaRPr lang="en-US" sz="1700" dirty="0"/>
          </a:p>
        </p:txBody>
      </p:sp>
      <p:sp>
        <p:nvSpPr>
          <p:cNvPr id="18" name="Text 16"/>
          <p:cNvSpPr/>
          <p:nvPr/>
        </p:nvSpPr>
        <p:spPr>
          <a:xfrm>
            <a:off x="8412480" y="3703320"/>
            <a:ext cx="2743200" cy="685800"/>
          </a:xfrm>
          <a:prstGeom prst="rect">
            <a:avLst/>
          </a:prstGeom>
          <a:noFill/>
          <a:ln/>
        </p:spPr>
        <p:txBody>
          <a:bodyPr wrap="square" lIns="0" tIns="0" rIns="0" bIns="0" rtlCol="0" anchor="t"/>
          <a:lstStyle/>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El siguiente coche</a:t>
            </a:r>
            <a:endParaRPr lang="en-US" sz="1300" dirty="0"/>
          </a:p>
          <a:p>
            <a:pPr indent="0" marL="0">
              <a:lnSpc>
                <a:spcPts val="1900"/>
              </a:lnSpc>
              <a:buNone/>
            </a:pPr>
            <a:r>
              <a:rPr lang="en-US" sz="1300" dirty="0">
                <a:solidFill>
                  <a:srgbClr val="5A5F73"/>
                </a:solidFill>
                <a:latin typeface="Calibri" pitchFamily="34" charset="0"/>
                <a:ea typeface="Calibri" pitchFamily="34" charset="-122"/>
                <a:cs typeface="Calibri" pitchFamily="34" charset="-120"/>
              </a:rPr>
              <a:t>empieza otra vez desde el código.</a:t>
            </a:r>
            <a:endParaRPr lang="en-US" sz="1300" dirty="0"/>
          </a:p>
        </p:txBody>
      </p:sp>
      <p:sp>
        <p:nvSpPr>
          <p:cNvPr id="19" name="Text 17"/>
          <p:cNvSpPr/>
          <p:nvPr/>
        </p:nvSpPr>
        <p:spPr>
          <a:xfrm>
            <a:off x="777240" y="5074920"/>
            <a:ext cx="10607040" cy="411480"/>
          </a:xfrm>
          <a:prstGeom prst="rect">
            <a:avLst/>
          </a:prstGeom>
          <a:noFill/>
          <a:ln/>
        </p:spPr>
        <p:txBody>
          <a:bodyPr wrap="square" lIns="0" tIns="0" rIns="0" bIns="0" rtlCol="0" anchor="ctr"/>
          <a:lstStyle/>
          <a:p>
            <a:pPr indent="0" marL="0">
              <a:buNone/>
            </a:pPr>
            <a:r>
              <a:rPr lang="en-US" sz="1800" b="1" dirty="0">
                <a:solidFill>
                  <a:srgbClr val="1A1C2E"/>
                </a:solidFill>
                <a:latin typeface="Arial" pitchFamily="34" charset="0"/>
                <a:ea typeface="Arial" pitchFamily="34" charset="-122"/>
                <a:cs typeface="Arial" pitchFamily="34" charset="-120"/>
              </a:rPr>
              <a:t>Lo que sabe el mecánico no se guarda en ningún sitio.</a:t>
            </a:r>
            <a:endParaRPr lang="en-US" sz="1800" dirty="0"/>
          </a:p>
        </p:txBody>
      </p:sp>
      <p:sp>
        <p:nvSpPr>
          <p:cNvPr id="20" name="Shape 18"/>
          <p:cNvSpPr/>
          <p:nvPr/>
        </p:nvSpPr>
        <p:spPr>
          <a:xfrm>
            <a:off x="777240" y="6263640"/>
            <a:ext cx="219456" cy="219456"/>
          </a:xfrm>
          <a:prstGeom prst="rect">
            <a:avLst/>
          </a:prstGeom>
          <a:solidFill>
            <a:srgbClr val="202CFC"/>
          </a:solidFill>
          <a:ln/>
        </p:spPr>
      </p:sp>
      <p:sp>
        <p:nvSpPr>
          <p:cNvPr id="21" name="Text 1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2" name="Text 2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3" name="Text 2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7315200" cy="256032"/>
          </a:xfrm>
          <a:prstGeom prst="rect">
            <a:avLst/>
          </a:prstGeom>
          <a:noFill/>
          <a:ln/>
        </p:spPr>
        <p:txBody>
          <a:bodyPr wrap="square" lIns="0" tIns="0" rIns="0" bIns="0" rtlCol="0" anchor="ctr"/>
          <a:lstStyle/>
          <a:p>
            <a:pPr indent="0" marL="0">
              <a:buNone/>
            </a:pPr>
            <a:r>
              <a:rPr lang="en-US" sz="1100" b="1" spc="250" kern="0" dirty="0">
                <a:solidFill>
                  <a:srgbClr val="202CFC"/>
                </a:solidFill>
                <a:latin typeface="Calibri" pitchFamily="34" charset="0"/>
                <a:ea typeface="Calibri" pitchFamily="34" charset="-122"/>
                <a:cs typeface="Calibri" pitchFamily="34" charset="-120"/>
              </a:rPr>
              <a:t>EL OBJETIVO</a:t>
            </a:r>
            <a:endParaRPr lang="en-US" sz="1100" dirty="0"/>
          </a:p>
        </p:txBody>
      </p:sp>
      <p:sp>
        <p:nvSpPr>
          <p:cNvPr id="3" name="Text 1"/>
          <p:cNvSpPr/>
          <p:nvPr/>
        </p:nvSpPr>
        <p:spPr>
          <a:xfrm>
            <a:off x="777240" y="877824"/>
            <a:ext cx="10607040" cy="10515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Que el mecánico vea más del coche</a:t>
            </a:r>
            <a:endParaRPr lang="en-US" sz="3400" dirty="0"/>
          </a:p>
        </p:txBody>
      </p:sp>
      <p:sp>
        <p:nvSpPr>
          <p:cNvPr id="4" name="Shape 2"/>
          <p:cNvSpPr/>
          <p:nvPr/>
        </p:nvSpPr>
        <p:spPr>
          <a:xfrm>
            <a:off x="777240" y="2377440"/>
            <a:ext cx="5074920" cy="2286000"/>
          </a:xfrm>
          <a:prstGeom prst="roundRect">
            <a:avLst>
              <a:gd name="adj" fmla="val 3200"/>
            </a:avLst>
          </a:prstGeom>
          <a:solidFill>
            <a:srgbClr val="F3F4F9"/>
          </a:solidFill>
          <a:ln/>
        </p:spPr>
      </p:sp>
      <p:sp>
        <p:nvSpPr>
          <p:cNvPr id="5" name="Text 3"/>
          <p:cNvSpPr/>
          <p:nvPr/>
        </p:nvSpPr>
        <p:spPr>
          <a:xfrm>
            <a:off x="1188720" y="2788920"/>
            <a:ext cx="4251960" cy="274320"/>
          </a:xfrm>
          <a:prstGeom prst="rect">
            <a:avLst/>
          </a:prstGeom>
          <a:noFill/>
          <a:ln/>
        </p:spPr>
        <p:txBody>
          <a:bodyPr wrap="square" lIns="0" tIns="0" rIns="0" bIns="0" rtlCol="0" anchor="ctr"/>
          <a:lstStyle/>
          <a:p>
            <a:pPr indent="0" marL="0">
              <a:buNone/>
            </a:pPr>
            <a:r>
              <a:rPr lang="en-US" sz="1100" b="1" spc="200" kern="0" dirty="0">
                <a:solidFill>
                  <a:srgbClr val="202CFC"/>
                </a:solidFill>
                <a:latin typeface="Calibri" pitchFamily="34" charset="0"/>
                <a:ea typeface="Calibri" pitchFamily="34" charset="-122"/>
                <a:cs typeface="Calibri" pitchFamily="34" charset="-120"/>
              </a:rPr>
              <a:t>DESDE EL PRIMER COCHE</a:t>
            </a:r>
            <a:endParaRPr lang="en-US" sz="1100" dirty="0"/>
          </a:p>
        </p:txBody>
      </p:sp>
      <p:sp>
        <p:nvSpPr>
          <p:cNvPr id="6" name="Text 4"/>
          <p:cNvSpPr/>
          <p:nvPr/>
        </p:nvSpPr>
        <p:spPr>
          <a:xfrm>
            <a:off x="1188720" y="3200400"/>
            <a:ext cx="4251960" cy="411480"/>
          </a:xfrm>
          <a:prstGeom prst="rect">
            <a:avLst/>
          </a:prstGeom>
          <a:noFill/>
          <a:ln/>
        </p:spPr>
        <p:txBody>
          <a:bodyPr wrap="square" lIns="0" tIns="0" rIns="0" bIns="0" rtlCol="0" anchor="t"/>
          <a:lstStyle/>
          <a:p>
            <a:pPr indent="0" marL="0">
              <a:buNone/>
            </a:pPr>
            <a:r>
              <a:rPr lang="en-US" sz="2000" b="1" dirty="0">
                <a:solidFill>
                  <a:srgbClr val="1A1C2E"/>
                </a:solidFill>
                <a:latin typeface="Arial" pitchFamily="34" charset="0"/>
                <a:ea typeface="Arial" pitchFamily="34" charset="-122"/>
                <a:cs typeface="Arial" pitchFamily="34" charset="-120"/>
              </a:rPr>
              <a:t>Le ayuda a investigar el fallo</a:t>
            </a:r>
            <a:endParaRPr lang="en-US" sz="2000" dirty="0"/>
          </a:p>
        </p:txBody>
      </p:sp>
      <p:sp>
        <p:nvSpPr>
          <p:cNvPr id="7" name="Text 5"/>
          <p:cNvSpPr/>
          <p:nvPr/>
        </p:nvSpPr>
        <p:spPr>
          <a:xfrm>
            <a:off x="1188720" y="3749040"/>
            <a:ext cx="4251960" cy="731520"/>
          </a:xfrm>
          <a:prstGeom prst="rect">
            <a:avLst/>
          </a:prstGeom>
          <a:noFill/>
          <a:ln/>
        </p:spPr>
        <p:txBody>
          <a:bodyPr wrap="square" lIns="0" tIns="0" rIns="0" bIns="0" rtlCol="0" anchor="t"/>
          <a:lstStyle/>
          <a:p>
            <a:pPr indent="0" marL="0">
              <a:lnSpc>
                <a:spcPts val="2100"/>
              </a:lnSpc>
              <a:buNone/>
            </a:pPr>
            <a:r>
              <a:rPr lang="en-US" sz="1400" dirty="0">
                <a:solidFill>
                  <a:srgbClr val="5A5F73"/>
                </a:solidFill>
                <a:latin typeface="Calibri" pitchFamily="34" charset="0"/>
                <a:ea typeface="Calibri" pitchFamily="34" charset="-122"/>
                <a:cs typeface="Calibri" pitchFamily="34" charset="-120"/>
              </a:rPr>
              <a:t>Qué le pasa al coche, si está bien o mal,</a:t>
            </a:r>
            <a:endParaRPr lang="en-US" sz="1400" dirty="0"/>
          </a:p>
          <a:p>
            <a:pPr indent="0" marL="0">
              <a:lnSpc>
                <a:spcPts val="2100"/>
              </a:lnSpc>
              <a:buNone/>
            </a:pPr>
            <a:r>
              <a:rPr lang="en-US" sz="1400" dirty="0">
                <a:solidFill>
                  <a:srgbClr val="5A5F73"/>
                </a:solidFill>
                <a:latin typeface="Calibri" pitchFamily="34" charset="0"/>
                <a:ea typeface="Calibri" pitchFamily="34" charset="-122"/>
                <a:cs typeface="Calibri" pitchFamily="34" charset="-120"/>
              </a:rPr>
              <a:t>y por dónde seguir mirando.</a:t>
            </a:r>
            <a:endParaRPr lang="en-US" sz="1400" dirty="0"/>
          </a:p>
        </p:txBody>
      </p:sp>
      <p:sp>
        <p:nvSpPr>
          <p:cNvPr id="8" name="Shape 6"/>
          <p:cNvSpPr/>
          <p:nvPr/>
        </p:nvSpPr>
        <p:spPr>
          <a:xfrm>
            <a:off x="6309360" y="2377440"/>
            <a:ext cx="5074920" cy="2286000"/>
          </a:xfrm>
          <a:prstGeom prst="roundRect">
            <a:avLst>
              <a:gd name="adj" fmla="val 3200"/>
            </a:avLst>
          </a:prstGeom>
          <a:solidFill>
            <a:srgbClr val="1A1C2E"/>
          </a:solidFill>
          <a:ln/>
        </p:spPr>
      </p:sp>
      <p:sp>
        <p:nvSpPr>
          <p:cNvPr id="9" name="Text 7"/>
          <p:cNvSpPr/>
          <p:nvPr/>
        </p:nvSpPr>
        <p:spPr>
          <a:xfrm>
            <a:off x="6720840" y="2788920"/>
            <a:ext cx="4251960" cy="274320"/>
          </a:xfrm>
          <a:prstGeom prst="rect">
            <a:avLst/>
          </a:prstGeom>
          <a:noFill/>
          <a:ln/>
        </p:spPr>
        <p:txBody>
          <a:bodyPr wrap="square" lIns="0" tIns="0" rIns="0" bIns="0" rtlCol="0" anchor="ctr"/>
          <a:lstStyle/>
          <a:p>
            <a:pPr indent="0" marL="0">
              <a:buNone/>
            </a:pPr>
            <a:r>
              <a:rPr lang="en-US" sz="1100" b="1" spc="200" kern="0" dirty="0">
                <a:solidFill>
                  <a:srgbClr val="8A93FF"/>
                </a:solidFill>
                <a:latin typeface="Calibri" pitchFamily="34" charset="0"/>
                <a:ea typeface="Calibri" pitchFamily="34" charset="-122"/>
                <a:cs typeface="Calibri" pitchFamily="34" charset="-120"/>
              </a:rPr>
              <a:t>SEGÚN SE CONECTEN MÁS TALLERES</a:t>
            </a:r>
            <a:endParaRPr lang="en-US" sz="1100" dirty="0"/>
          </a:p>
        </p:txBody>
      </p:sp>
      <p:sp>
        <p:nvSpPr>
          <p:cNvPr id="10" name="Text 8"/>
          <p:cNvSpPr/>
          <p:nvPr/>
        </p:nvSpPr>
        <p:spPr>
          <a:xfrm>
            <a:off x="6720840" y="3200400"/>
            <a:ext cx="425196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Y va mejorando con el uso</a:t>
            </a:r>
            <a:endParaRPr lang="en-US" sz="2000" dirty="0"/>
          </a:p>
        </p:txBody>
      </p:sp>
      <p:sp>
        <p:nvSpPr>
          <p:cNvPr id="11" name="Text 9"/>
          <p:cNvSpPr/>
          <p:nvPr/>
        </p:nvSpPr>
        <p:spPr>
          <a:xfrm>
            <a:off x="6720840" y="3749040"/>
            <a:ext cx="4251960" cy="731520"/>
          </a:xfrm>
          <a:prstGeom prst="rect">
            <a:avLst/>
          </a:prstGeom>
          <a:noFill/>
          <a:ln/>
        </p:spPr>
        <p:txBody>
          <a:bodyPr wrap="square" lIns="0" tIns="0" rIns="0" bIns="0" rtlCol="0" anchor="t"/>
          <a:lstStyle/>
          <a:p>
            <a:pPr indent="0" marL="0">
              <a:lnSpc>
                <a:spcPts val="2100"/>
              </a:lnSpc>
              <a:buNone/>
            </a:pPr>
            <a:r>
              <a:rPr lang="en-US" sz="1400" dirty="0">
                <a:solidFill>
                  <a:srgbClr val="B8BCCC"/>
                </a:solidFill>
                <a:latin typeface="Calibri" pitchFamily="34" charset="0"/>
                <a:ea typeface="Calibri" pitchFamily="34" charset="-122"/>
                <a:cs typeface="Calibri" pitchFamily="34" charset="-120"/>
              </a:rPr>
              <a:t>Cada diagnóstico se guarda.</a:t>
            </a:r>
            <a:endParaRPr lang="en-US" sz="1400" dirty="0"/>
          </a:p>
          <a:p>
            <a:pPr indent="0" marL="0">
              <a:lnSpc>
                <a:spcPts val="2100"/>
              </a:lnSpc>
              <a:buNone/>
            </a:pPr>
            <a:r>
              <a:rPr lang="en-US" sz="1400" dirty="0">
                <a:solidFill>
                  <a:srgbClr val="B8BCCC"/>
                </a:solidFill>
                <a:latin typeface="Calibri" pitchFamily="34" charset="0"/>
                <a:ea typeface="Calibri" pitchFamily="34" charset="-122"/>
                <a:cs typeface="Calibri" pitchFamily="34" charset="-120"/>
              </a:rPr>
              <a:t>Más casos reales con los que comparar.</a:t>
            </a:r>
            <a:endParaRPr lang="en-US" sz="1400" dirty="0"/>
          </a:p>
        </p:txBody>
      </p:sp>
      <p:sp>
        <p:nvSpPr>
          <p:cNvPr id="12" name="Shape 10"/>
          <p:cNvSpPr/>
          <p:nvPr/>
        </p:nvSpPr>
        <p:spPr>
          <a:xfrm>
            <a:off x="777240" y="6263640"/>
            <a:ext cx="219456" cy="219456"/>
          </a:xfrm>
          <a:prstGeom prst="rect">
            <a:avLst/>
          </a:prstGeom>
          <a:solidFill>
            <a:srgbClr val="202CFC"/>
          </a:solidFill>
          <a:ln/>
        </p:spPr>
      </p:sp>
      <p:sp>
        <p:nvSpPr>
          <p:cNvPr id="13" name="Text 1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1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1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66928"/>
            <a:ext cx="7315200" cy="256032"/>
          </a:xfrm>
          <a:prstGeom prst="rect">
            <a:avLst/>
          </a:prstGeom>
          <a:noFill/>
          <a:ln/>
        </p:spPr>
        <p:txBody>
          <a:bodyPr wrap="square" lIns="0" tIns="0" rIns="0" bIns="0" rtlCol="0" anchor="ctr"/>
          <a:lstStyle/>
          <a:p>
            <a:pPr indent="0" marL="0">
              <a:buNone/>
            </a:pPr>
            <a:r>
              <a:rPr lang="en-US" sz="1100" b="1" spc="250" kern="0" dirty="0">
                <a:solidFill>
                  <a:srgbClr val="202CFC"/>
                </a:solidFill>
                <a:latin typeface="Calibri" pitchFamily="34" charset="0"/>
                <a:ea typeface="Calibri" pitchFamily="34" charset="-122"/>
                <a:cs typeface="Calibri" pitchFamily="34" charset="-120"/>
              </a:rPr>
              <a:t>LA ARQUITECTURA</a:t>
            </a:r>
            <a:endParaRPr lang="en-US" sz="1100" dirty="0"/>
          </a:p>
        </p:txBody>
      </p:sp>
      <p:sp>
        <p:nvSpPr>
          <p:cNvPr id="3" name="Text 1"/>
          <p:cNvSpPr/>
          <p:nvPr/>
        </p:nvSpPr>
        <p:spPr>
          <a:xfrm>
            <a:off x="777240" y="877824"/>
            <a:ext cx="10607040" cy="10515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Esto va a seguir cambiando</a:t>
            </a:r>
            <a:endParaRPr lang="en-US" sz="3400" dirty="0"/>
          </a:p>
        </p:txBody>
      </p:sp>
      <p:sp>
        <p:nvSpPr>
          <p:cNvPr id="4" name="Text 2"/>
          <p:cNvSpPr/>
          <p:nvPr/>
        </p:nvSpPr>
        <p:spPr>
          <a:xfrm>
            <a:off x="777240" y="18745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Clean Architecture + Hexagonal. Cambiar una pieza es tocar una sola capa.</a:t>
            </a:r>
            <a:endParaRPr lang="en-US" sz="1600" dirty="0"/>
          </a:p>
        </p:txBody>
      </p:sp>
      <p:sp>
        <p:nvSpPr>
          <p:cNvPr id="5" name="Shape 3"/>
          <p:cNvSpPr/>
          <p:nvPr/>
        </p:nvSpPr>
        <p:spPr>
          <a:xfrm>
            <a:off x="777240" y="2697480"/>
            <a:ext cx="3931920" cy="2651760"/>
          </a:xfrm>
          <a:prstGeom prst="roundRect">
            <a:avLst>
              <a:gd name="adj" fmla="val 2759"/>
            </a:avLst>
          </a:prstGeom>
          <a:solidFill>
            <a:srgbClr val="1A1C2E"/>
          </a:solidFill>
          <a:ln/>
        </p:spPr>
      </p:sp>
      <p:sp>
        <p:nvSpPr>
          <p:cNvPr id="6" name="Text 4"/>
          <p:cNvSpPr/>
          <p:nvPr/>
        </p:nvSpPr>
        <p:spPr>
          <a:xfrm>
            <a:off x="1188720" y="3108960"/>
            <a:ext cx="3108960" cy="274320"/>
          </a:xfrm>
          <a:prstGeom prst="rect">
            <a:avLst/>
          </a:prstGeom>
          <a:noFill/>
          <a:ln/>
        </p:spPr>
        <p:txBody>
          <a:bodyPr wrap="square" lIns="0" tIns="0" rIns="0" bIns="0" rtlCol="0" anchor="ctr"/>
          <a:lstStyle/>
          <a:p>
            <a:pPr indent="0" marL="0">
              <a:buNone/>
            </a:pPr>
            <a:r>
              <a:rPr lang="en-US" sz="1100" b="1" spc="200" kern="0" dirty="0">
                <a:solidFill>
                  <a:srgbClr val="8A93FF"/>
                </a:solidFill>
                <a:latin typeface="Calibri" pitchFamily="34" charset="0"/>
                <a:ea typeface="Calibri" pitchFamily="34" charset="-122"/>
                <a:cs typeface="Calibri" pitchFamily="34" charset="-120"/>
              </a:rPr>
              <a:t>EL NÚCLEO</a:t>
            </a:r>
            <a:endParaRPr lang="en-US" sz="1100" dirty="0"/>
          </a:p>
        </p:txBody>
      </p:sp>
      <p:sp>
        <p:nvSpPr>
          <p:cNvPr id="7" name="Text 5"/>
          <p:cNvSpPr/>
          <p:nvPr/>
        </p:nvSpPr>
        <p:spPr>
          <a:xfrm>
            <a:off x="1188720" y="3520440"/>
            <a:ext cx="3108960" cy="822960"/>
          </a:xfrm>
          <a:prstGeom prst="rect">
            <a:avLst/>
          </a:prstGeom>
          <a:noFill/>
          <a:ln/>
        </p:spPr>
        <p:txBody>
          <a:bodyPr wrap="square" lIns="0" tIns="0" rIns="0" bIns="0" rtlCol="0" anchor="t"/>
          <a:lstStyle/>
          <a:p>
            <a:pPr indent="0" marL="0">
              <a:lnSpc>
                <a:spcPts val="2800"/>
              </a:lnSpc>
              <a:buNone/>
            </a:pPr>
            <a:r>
              <a:rPr lang="en-US" sz="2200" b="1" dirty="0">
                <a:solidFill>
                  <a:srgbClr val="FFFFFF"/>
                </a:solidFill>
                <a:latin typeface="Arial" pitchFamily="34" charset="0"/>
                <a:ea typeface="Arial" pitchFamily="34" charset="-122"/>
                <a:cs typeface="Arial" pitchFamily="34" charset="-120"/>
              </a:rPr>
              <a:t>Dominio y</a:t>
            </a:r>
            <a:endParaRPr lang="en-US" sz="2200" dirty="0"/>
          </a:p>
          <a:p>
            <a:pPr indent="0" marL="0">
              <a:lnSpc>
                <a:spcPts val="2800"/>
              </a:lnSpc>
              <a:buNone/>
            </a:pPr>
            <a:r>
              <a:rPr lang="en-US" sz="2200" b="1" dirty="0">
                <a:solidFill>
                  <a:srgbClr val="FFFFFF"/>
                </a:solidFill>
                <a:latin typeface="Arial" pitchFamily="34" charset="0"/>
                <a:ea typeface="Arial" pitchFamily="34" charset="-122"/>
                <a:cs typeface="Arial" pitchFamily="34" charset="-120"/>
              </a:rPr>
              <a:t>casos de uso</a:t>
            </a:r>
            <a:endParaRPr lang="en-US" sz="2200" dirty="0"/>
          </a:p>
        </p:txBody>
      </p:sp>
      <p:sp>
        <p:nvSpPr>
          <p:cNvPr id="8" name="Text 6"/>
          <p:cNvSpPr/>
          <p:nvPr/>
        </p:nvSpPr>
        <p:spPr>
          <a:xfrm>
            <a:off x="1188720" y="4526280"/>
            <a:ext cx="3108960" cy="365760"/>
          </a:xfrm>
          <a:prstGeom prst="rect">
            <a:avLst/>
          </a:prstGeom>
          <a:noFill/>
          <a:ln/>
        </p:spPr>
        <p:txBody>
          <a:bodyPr wrap="square" lIns="0" tIns="0" rIns="0" bIns="0" rtlCol="0" anchor="t"/>
          <a:lstStyle/>
          <a:p>
            <a:pPr indent="0" marL="0">
              <a:buNone/>
            </a:pPr>
            <a:r>
              <a:rPr lang="en-US" sz="1500" dirty="0">
                <a:solidFill>
                  <a:srgbClr val="B8BCCC"/>
                </a:solidFill>
                <a:latin typeface="Calibri" pitchFamily="34" charset="0"/>
                <a:ea typeface="Calibri" pitchFamily="34" charset="-122"/>
                <a:cs typeface="Calibri" pitchFamily="34" charset="-120"/>
              </a:rPr>
              <a:t>No se toca.</a:t>
            </a:r>
            <a:endParaRPr lang="en-US" sz="1500" dirty="0"/>
          </a:p>
        </p:txBody>
      </p:sp>
      <p:sp>
        <p:nvSpPr>
          <p:cNvPr id="9" name="Text 7"/>
          <p:cNvSpPr/>
          <p:nvPr/>
        </p:nvSpPr>
        <p:spPr>
          <a:xfrm>
            <a:off x="5486400" y="2395728"/>
            <a:ext cx="5897880" cy="274320"/>
          </a:xfrm>
          <a:prstGeom prst="rect">
            <a:avLst/>
          </a:prstGeom>
          <a:noFill/>
          <a:ln/>
        </p:spPr>
        <p:txBody>
          <a:bodyPr wrap="square" lIns="0" tIns="0" rIns="0" bIns="0" rtlCol="0" anchor="ctr"/>
          <a:lstStyle/>
          <a:p>
            <a:pPr indent="0" marL="0">
              <a:buNone/>
            </a:pPr>
            <a:r>
              <a:rPr lang="en-US" sz="1100" b="1" spc="200" kern="0" dirty="0">
                <a:solidFill>
                  <a:srgbClr val="202CFC"/>
                </a:solidFill>
                <a:latin typeface="Calibri" pitchFamily="34" charset="0"/>
                <a:ea typeface="Calibri" pitchFamily="34" charset="-122"/>
                <a:cs typeface="Calibri" pitchFamily="34" charset="-120"/>
              </a:rPr>
              <a:t>INFRAESTRUCTURA — LO QUE SE CAMBIA</a:t>
            </a:r>
            <a:endParaRPr lang="en-US" sz="1100" dirty="0"/>
          </a:p>
        </p:txBody>
      </p:sp>
      <p:sp>
        <p:nvSpPr>
          <p:cNvPr id="10" name="Shape 8"/>
          <p:cNvSpPr/>
          <p:nvPr/>
        </p:nvSpPr>
        <p:spPr>
          <a:xfrm>
            <a:off x="5486400" y="2697480"/>
            <a:ext cx="5897880" cy="749808"/>
          </a:xfrm>
          <a:prstGeom prst="roundRect">
            <a:avLst>
              <a:gd name="adj" fmla="val 12195"/>
            </a:avLst>
          </a:prstGeom>
          <a:solidFill>
            <a:srgbClr val="F3F4F9"/>
          </a:solidFill>
          <a:ln/>
        </p:spPr>
      </p:sp>
      <p:sp>
        <p:nvSpPr>
          <p:cNvPr id="11" name="Text 9"/>
          <p:cNvSpPr/>
          <p:nvPr/>
        </p:nvSpPr>
        <p:spPr>
          <a:xfrm>
            <a:off x="5852160" y="2697480"/>
            <a:ext cx="2377440" cy="749808"/>
          </a:xfrm>
          <a:prstGeom prst="rect">
            <a:avLst/>
          </a:prstGeom>
          <a:noFill/>
          <a:ln/>
        </p:spPr>
        <p:txBody>
          <a:bodyPr wrap="square" lIns="0" tIns="0" rIns="0" bIns="0" rtlCol="0" anchor="ctr"/>
          <a:lstStyle/>
          <a:p>
            <a:pPr indent="0" marL="0">
              <a:buNone/>
            </a:pPr>
            <a:r>
              <a:rPr lang="en-US" sz="1300" b="1" dirty="0">
                <a:solidFill>
                  <a:srgbClr val="1A1C2E"/>
                </a:solidFill>
                <a:latin typeface="Arial" pitchFamily="34" charset="0"/>
                <a:ea typeface="Arial" pitchFamily="34" charset="-122"/>
                <a:cs typeface="Arial" pitchFamily="34" charset="-120"/>
              </a:rPr>
              <a:t>Persistencia</a:t>
            </a:r>
            <a:endParaRPr lang="en-US" sz="1300" dirty="0"/>
          </a:p>
        </p:txBody>
      </p:sp>
      <p:sp>
        <p:nvSpPr>
          <p:cNvPr id="12" name="Text 10"/>
          <p:cNvSpPr/>
          <p:nvPr/>
        </p:nvSpPr>
        <p:spPr>
          <a:xfrm>
            <a:off x="8229600" y="2697480"/>
            <a:ext cx="2788920" cy="749808"/>
          </a:xfrm>
          <a:prstGeom prst="rect">
            <a:avLst/>
          </a:prstGeom>
          <a:noFill/>
          <a:ln/>
        </p:spPr>
        <p:txBody>
          <a:bodyPr wrap="square" lIns="0" tIns="0" rIns="0" bIns="0" rtlCol="0" anchor="ctr"/>
          <a:lstStyle/>
          <a:p>
            <a:pPr algn="r" indent="0" marL="0">
              <a:buNone/>
            </a:pPr>
            <a:r>
              <a:rPr lang="en-US" sz="1400" dirty="0">
                <a:solidFill>
                  <a:srgbClr val="202CFC"/>
                </a:solidFill>
                <a:latin typeface="Calibri" pitchFamily="34" charset="0"/>
                <a:ea typeface="Calibri" pitchFamily="34" charset="-122"/>
                <a:cs typeface="Calibri" pitchFamily="34" charset="-120"/>
              </a:rPr>
              <a:t>SQLite  →  PostgreSQL</a:t>
            </a:r>
            <a:endParaRPr lang="en-US" sz="1400" dirty="0"/>
          </a:p>
        </p:txBody>
      </p:sp>
      <p:sp>
        <p:nvSpPr>
          <p:cNvPr id="13" name="Shape 11"/>
          <p:cNvSpPr/>
          <p:nvPr/>
        </p:nvSpPr>
        <p:spPr>
          <a:xfrm>
            <a:off x="5486400" y="3648456"/>
            <a:ext cx="5897880" cy="749808"/>
          </a:xfrm>
          <a:prstGeom prst="roundRect">
            <a:avLst>
              <a:gd name="adj" fmla="val 12195"/>
            </a:avLst>
          </a:prstGeom>
          <a:solidFill>
            <a:srgbClr val="F3F4F9"/>
          </a:solidFill>
          <a:ln/>
        </p:spPr>
      </p:sp>
      <p:sp>
        <p:nvSpPr>
          <p:cNvPr id="14" name="Text 12"/>
          <p:cNvSpPr/>
          <p:nvPr/>
        </p:nvSpPr>
        <p:spPr>
          <a:xfrm>
            <a:off x="5852160" y="3648456"/>
            <a:ext cx="2377440" cy="749808"/>
          </a:xfrm>
          <a:prstGeom prst="rect">
            <a:avLst/>
          </a:prstGeom>
          <a:noFill/>
          <a:ln/>
        </p:spPr>
        <p:txBody>
          <a:bodyPr wrap="square" lIns="0" tIns="0" rIns="0" bIns="0" rtlCol="0" anchor="ctr"/>
          <a:lstStyle/>
          <a:p>
            <a:pPr indent="0" marL="0">
              <a:buNone/>
            </a:pPr>
            <a:r>
              <a:rPr lang="en-US" sz="1300" b="1" dirty="0">
                <a:solidFill>
                  <a:srgbClr val="1A1C2E"/>
                </a:solidFill>
                <a:latin typeface="Arial" pitchFamily="34" charset="0"/>
                <a:ea typeface="Arial" pitchFamily="34" charset="-122"/>
                <a:cs typeface="Arial" pitchFamily="34" charset="-120"/>
              </a:rPr>
              <a:t>Modelo de lenguaje</a:t>
            </a:r>
            <a:endParaRPr lang="en-US" sz="1300" dirty="0"/>
          </a:p>
        </p:txBody>
      </p:sp>
      <p:sp>
        <p:nvSpPr>
          <p:cNvPr id="15" name="Text 13"/>
          <p:cNvSpPr/>
          <p:nvPr/>
        </p:nvSpPr>
        <p:spPr>
          <a:xfrm>
            <a:off x="8229600" y="3648456"/>
            <a:ext cx="2788920" cy="749808"/>
          </a:xfrm>
          <a:prstGeom prst="rect">
            <a:avLst/>
          </a:prstGeom>
          <a:noFill/>
          <a:ln/>
        </p:spPr>
        <p:txBody>
          <a:bodyPr wrap="square" lIns="0" tIns="0" rIns="0" bIns="0" rtlCol="0" anchor="ctr"/>
          <a:lstStyle/>
          <a:p>
            <a:pPr algn="r" indent="0" marL="0">
              <a:buNone/>
            </a:pPr>
            <a:r>
              <a:rPr lang="en-US" sz="1400" dirty="0">
                <a:solidFill>
                  <a:srgbClr val="202CFC"/>
                </a:solidFill>
                <a:latin typeface="Calibri" pitchFamily="34" charset="0"/>
                <a:ea typeface="Calibri" pitchFamily="34" charset="-122"/>
                <a:cs typeface="Calibri" pitchFamily="34" charset="-120"/>
              </a:rPr>
              <a:t>OpenAI  ↔  Anthropic</a:t>
            </a:r>
            <a:endParaRPr lang="en-US" sz="1400" dirty="0"/>
          </a:p>
        </p:txBody>
      </p:sp>
      <p:sp>
        <p:nvSpPr>
          <p:cNvPr id="16" name="Shape 14"/>
          <p:cNvSpPr/>
          <p:nvPr/>
        </p:nvSpPr>
        <p:spPr>
          <a:xfrm>
            <a:off x="5486400" y="4599432"/>
            <a:ext cx="5897880" cy="749808"/>
          </a:xfrm>
          <a:prstGeom prst="roundRect">
            <a:avLst>
              <a:gd name="adj" fmla="val 12195"/>
            </a:avLst>
          </a:prstGeom>
          <a:solidFill>
            <a:srgbClr val="F3F4F9"/>
          </a:solidFill>
          <a:ln/>
        </p:spPr>
      </p:sp>
      <p:sp>
        <p:nvSpPr>
          <p:cNvPr id="17" name="Text 15"/>
          <p:cNvSpPr/>
          <p:nvPr/>
        </p:nvSpPr>
        <p:spPr>
          <a:xfrm>
            <a:off x="5852160" y="4599432"/>
            <a:ext cx="2377440" cy="749808"/>
          </a:xfrm>
          <a:prstGeom prst="rect">
            <a:avLst/>
          </a:prstGeom>
          <a:noFill/>
          <a:ln/>
        </p:spPr>
        <p:txBody>
          <a:bodyPr wrap="square" lIns="0" tIns="0" rIns="0" bIns="0" rtlCol="0" anchor="ctr"/>
          <a:lstStyle/>
          <a:p>
            <a:pPr indent="0" marL="0">
              <a:buNone/>
            </a:pPr>
            <a:r>
              <a:rPr lang="en-US" sz="1300" b="1" dirty="0">
                <a:solidFill>
                  <a:srgbClr val="1A1C2E"/>
                </a:solidFill>
                <a:latin typeface="Arial" pitchFamily="34" charset="0"/>
                <a:ea typeface="Arial" pitchFamily="34" charset="-122"/>
                <a:cs typeface="Arial" pitchFamily="34" charset="-120"/>
              </a:rPr>
              <a:t>Acceso al coche</a:t>
            </a:r>
            <a:endParaRPr lang="en-US" sz="1300" dirty="0"/>
          </a:p>
        </p:txBody>
      </p:sp>
      <p:sp>
        <p:nvSpPr>
          <p:cNvPr id="18" name="Text 16"/>
          <p:cNvSpPr/>
          <p:nvPr/>
        </p:nvSpPr>
        <p:spPr>
          <a:xfrm>
            <a:off x="8229600" y="4599432"/>
            <a:ext cx="2788920" cy="749808"/>
          </a:xfrm>
          <a:prstGeom prst="rect">
            <a:avLst/>
          </a:prstGeom>
          <a:noFill/>
          <a:ln/>
        </p:spPr>
        <p:txBody>
          <a:bodyPr wrap="square" lIns="0" tIns="0" rIns="0" bIns="0" rtlCol="0" anchor="ctr"/>
          <a:lstStyle/>
          <a:p>
            <a:pPr algn="r" indent="0" marL="0">
              <a:buNone/>
            </a:pPr>
            <a:r>
              <a:rPr lang="en-US" sz="1400" dirty="0">
                <a:solidFill>
                  <a:srgbClr val="202CFC"/>
                </a:solidFill>
                <a:latin typeface="Calibri" pitchFamily="34" charset="0"/>
                <a:ea typeface="Calibri" pitchFamily="34" charset="-122"/>
                <a:cs typeface="Calibri" pitchFamily="34" charset="-120"/>
              </a:rPr>
              <a:t>Emulador  ↔  cable OBD</a:t>
            </a:r>
            <a:endParaRPr lang="en-US" sz="1400" dirty="0"/>
          </a:p>
        </p:txBody>
      </p:sp>
      <p:sp>
        <p:nvSpPr>
          <p:cNvPr id="19" name="Text 17"/>
          <p:cNvSpPr/>
          <p:nvPr/>
        </p:nvSpPr>
        <p:spPr>
          <a:xfrm>
            <a:off x="777240" y="5669280"/>
            <a:ext cx="10607040" cy="36576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Hoy SQLite porque era lo más rápido para desarrollar. El día que toque Postgres, se cambia el adaptador.</a:t>
            </a:r>
            <a:endParaRPr lang="en-US" sz="1400" dirty="0"/>
          </a:p>
        </p:txBody>
      </p:sp>
      <p:sp>
        <p:nvSpPr>
          <p:cNvPr id="20" name="Shape 18"/>
          <p:cNvSpPr/>
          <p:nvPr/>
        </p:nvSpPr>
        <p:spPr>
          <a:xfrm>
            <a:off x="777240" y="6263640"/>
            <a:ext cx="219456" cy="219456"/>
          </a:xfrm>
          <a:prstGeom prst="rect">
            <a:avLst/>
          </a:prstGeom>
          <a:solidFill>
            <a:srgbClr val="202CFC"/>
          </a:solidFill>
          <a:ln/>
        </p:spPr>
      </p:sp>
      <p:sp>
        <p:nvSpPr>
          <p:cNvPr id="21" name="Text 19"/>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2" name="Text 20"/>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3" name="Text 21"/>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2026-08-25T08:52:44Z</dcterms:created>
  <dcterms:modified xsi:type="dcterms:W3CDTF">2026-08-25T08:52:44Z</dcterms:modified>
</cp:coreProperties>
</file>