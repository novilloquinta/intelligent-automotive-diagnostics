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Los diez identificadores oficiales, con la medida que se aplicó en el código.</a:t>
            </a:r>
            <a:endParaRPr lang="en-US" sz="1700" dirty="0"/>
          </a:p>
        </p:txBody>
      </p:sp>
      <p:sp>
        <p:nvSpPr>
          <p:cNvPr id="4" name="Text 2"/>
          <p:cNvSpPr/>
          <p:nvPr/>
        </p:nvSpPr>
        <p:spPr>
          <a:xfrm>
            <a:off x="777240" y="2084832"/>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API1</a:t>
            </a:r>
            <a:endParaRPr lang="en-US" sz="1200" dirty="0"/>
          </a:p>
        </p:txBody>
      </p:sp>
      <p:sp>
        <p:nvSpPr>
          <p:cNvPr id="5" name="Text 3"/>
          <p:cNvSpPr/>
          <p:nvPr/>
        </p:nvSpPr>
        <p:spPr>
          <a:xfrm>
            <a:off x="1481328" y="2084832"/>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Autorización a nivel de objeto</a:t>
            </a:r>
            <a:endParaRPr lang="en-US" sz="1200" dirty="0"/>
          </a:p>
        </p:txBody>
      </p:sp>
      <p:sp>
        <p:nvSpPr>
          <p:cNvPr id="6" name="Text 4"/>
          <p:cNvSpPr/>
          <p:nvPr/>
        </p:nvSpPr>
        <p:spPr>
          <a:xfrm>
            <a:off x="4983480" y="2084832"/>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Las consultas filtran por propietario: la sesión de otro usuario devuelve 404, no 403</a:t>
            </a:r>
            <a:endParaRPr lang="en-US" sz="1200" dirty="0"/>
          </a:p>
        </p:txBody>
      </p:sp>
      <p:sp>
        <p:nvSpPr>
          <p:cNvPr id="7" name="Text 5"/>
          <p:cNvSpPr/>
          <p:nvPr/>
        </p:nvSpPr>
        <p:spPr>
          <a:xfrm>
            <a:off x="777240" y="2487168"/>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API2</a:t>
            </a:r>
            <a:endParaRPr lang="en-US" sz="1200" dirty="0"/>
          </a:p>
        </p:txBody>
      </p:sp>
      <p:sp>
        <p:nvSpPr>
          <p:cNvPr id="8" name="Text 6"/>
          <p:cNvSpPr/>
          <p:nvPr/>
        </p:nvSpPr>
        <p:spPr>
          <a:xfrm>
            <a:off x="1481328" y="2487168"/>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Autenticación rota</a:t>
            </a:r>
            <a:endParaRPr lang="en-US" sz="1200" dirty="0"/>
          </a:p>
        </p:txBody>
      </p:sp>
      <p:sp>
        <p:nvSpPr>
          <p:cNvPr id="9" name="Text 7"/>
          <p:cNvSpPr/>
          <p:nvPr/>
        </p:nvSpPr>
        <p:spPr>
          <a:xfrm>
            <a:off x="4983480" y="2487168"/>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de 12 rondas, rotación de refresh tokens y bloqueo de cuenta a los 5 fallos</a:t>
            </a:r>
            <a:endParaRPr lang="en-US" sz="1200" dirty="0"/>
          </a:p>
        </p:txBody>
      </p:sp>
      <p:sp>
        <p:nvSpPr>
          <p:cNvPr id="10" name="Text 8"/>
          <p:cNvSpPr/>
          <p:nvPr/>
        </p:nvSpPr>
        <p:spPr>
          <a:xfrm>
            <a:off x="777240" y="2889504"/>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API3</a:t>
            </a:r>
            <a:endParaRPr lang="en-US" sz="1200" dirty="0"/>
          </a:p>
        </p:txBody>
      </p:sp>
      <p:sp>
        <p:nvSpPr>
          <p:cNvPr id="11" name="Text 9"/>
          <p:cNvSpPr/>
          <p:nvPr/>
        </p:nvSpPr>
        <p:spPr>
          <a:xfrm>
            <a:off x="1481328" y="2889504"/>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Autorización a nivel de propiedad</a:t>
            </a:r>
            <a:endParaRPr lang="en-US" sz="1200" dirty="0"/>
          </a:p>
        </p:txBody>
      </p:sp>
      <p:sp>
        <p:nvSpPr>
          <p:cNvPr id="12" name="Text 10"/>
          <p:cNvSpPr/>
          <p:nvPr/>
        </p:nvSpPr>
        <p:spPr>
          <a:xfrm>
            <a:off x="4983480" y="2889504"/>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 lo no declarado no entra</a:t>
            </a:r>
            <a:endParaRPr lang="en-US" sz="1200" dirty="0"/>
          </a:p>
        </p:txBody>
      </p:sp>
      <p:sp>
        <p:nvSpPr>
          <p:cNvPr id="13" name="Text 11"/>
          <p:cNvSpPr/>
          <p:nvPr/>
        </p:nvSpPr>
        <p:spPr>
          <a:xfrm>
            <a:off x="777240" y="3291840"/>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API4</a:t>
            </a:r>
            <a:endParaRPr lang="en-US" sz="1200" dirty="0"/>
          </a:p>
        </p:txBody>
      </p:sp>
      <p:sp>
        <p:nvSpPr>
          <p:cNvPr id="14" name="Text 12"/>
          <p:cNvSpPr/>
          <p:nvPr/>
        </p:nvSpPr>
        <p:spPr>
          <a:xfrm>
            <a:off x="1481328" y="3291840"/>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Consumo de recursos sin restricción</a:t>
            </a:r>
            <a:endParaRPr lang="en-US" sz="1200" dirty="0"/>
          </a:p>
        </p:txBody>
      </p:sp>
      <p:sp>
        <p:nvSpPr>
          <p:cNvPr id="15" name="Text 13"/>
          <p:cNvSpPr/>
          <p:nvPr/>
        </p:nvSpPr>
        <p:spPr>
          <a:xfrm>
            <a:off x="4983480" y="3291840"/>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login 5/min, diagnóstico 20/min, cognitivo 5/min</a:t>
            </a:r>
            <a:endParaRPr lang="en-US" sz="1200" dirty="0"/>
          </a:p>
        </p:txBody>
      </p:sp>
      <p:sp>
        <p:nvSpPr>
          <p:cNvPr id="16" name="Text 14"/>
          <p:cNvSpPr/>
          <p:nvPr/>
        </p:nvSpPr>
        <p:spPr>
          <a:xfrm>
            <a:off x="777240" y="3694176"/>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API5</a:t>
            </a:r>
            <a:endParaRPr lang="en-US" sz="1200" dirty="0"/>
          </a:p>
        </p:txBody>
      </p:sp>
      <p:sp>
        <p:nvSpPr>
          <p:cNvPr id="17" name="Text 15"/>
          <p:cNvSpPr/>
          <p:nvPr/>
        </p:nvSpPr>
        <p:spPr>
          <a:xfrm>
            <a:off x="1481328" y="3694176"/>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Autorización a nivel de función</a:t>
            </a:r>
            <a:endParaRPr lang="en-US" sz="1200" dirty="0"/>
          </a:p>
        </p:txBody>
      </p:sp>
      <p:sp>
        <p:nvSpPr>
          <p:cNvPr id="18" name="Text 16"/>
          <p:cNvSpPr/>
          <p:nvPr/>
        </p:nvSpPr>
        <p:spPr>
          <a:xfrm>
            <a:off x="4983480" y="3694176"/>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tras el middleware de sesión; administración tras requireAdmin</a:t>
            </a:r>
            <a:endParaRPr lang="en-US" sz="1200" dirty="0"/>
          </a:p>
        </p:txBody>
      </p:sp>
      <p:sp>
        <p:nvSpPr>
          <p:cNvPr id="19" name="Text 17"/>
          <p:cNvSpPr/>
          <p:nvPr/>
        </p:nvSpPr>
        <p:spPr>
          <a:xfrm>
            <a:off x="777240" y="4096512"/>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API6</a:t>
            </a:r>
            <a:endParaRPr lang="en-US" sz="1200" dirty="0"/>
          </a:p>
        </p:txBody>
      </p:sp>
      <p:sp>
        <p:nvSpPr>
          <p:cNvPr id="20" name="Text 18"/>
          <p:cNvSpPr/>
          <p:nvPr/>
        </p:nvSpPr>
        <p:spPr>
          <a:xfrm>
            <a:off x="1481328" y="4096512"/>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Acceso a flujos de negocio sensibles</a:t>
            </a:r>
            <a:endParaRPr lang="en-US" sz="1200" dirty="0"/>
          </a:p>
        </p:txBody>
      </p:sp>
      <p:sp>
        <p:nvSpPr>
          <p:cNvPr id="21" name="Text 19"/>
          <p:cNvSpPr/>
          <p:nvPr/>
        </p:nvSpPr>
        <p:spPr>
          <a:xfrm>
            <a:off x="4983480" y="4096512"/>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borrado de códigos de avería lleva límite propio y se apaga con OBD_READ_ONLY</a:t>
            </a:r>
            <a:endParaRPr lang="en-US" sz="1200" dirty="0"/>
          </a:p>
        </p:txBody>
      </p:sp>
      <p:sp>
        <p:nvSpPr>
          <p:cNvPr id="22" name="Text 20"/>
          <p:cNvSpPr/>
          <p:nvPr/>
        </p:nvSpPr>
        <p:spPr>
          <a:xfrm>
            <a:off x="777240" y="4498848"/>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API7</a:t>
            </a:r>
            <a:endParaRPr lang="en-US" sz="1200" dirty="0"/>
          </a:p>
        </p:txBody>
      </p:sp>
      <p:sp>
        <p:nvSpPr>
          <p:cNvPr id="23" name="Text 21"/>
          <p:cNvSpPr/>
          <p:nvPr/>
        </p:nvSpPr>
        <p:spPr>
          <a:xfrm>
            <a:off x="1481328" y="4498848"/>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Server Side Request Forgery</a:t>
            </a:r>
            <a:endParaRPr lang="en-US" sz="1200" dirty="0"/>
          </a:p>
        </p:txBody>
      </p:sp>
      <p:sp>
        <p:nvSpPr>
          <p:cNvPr id="24" name="Text 22"/>
          <p:cNvSpPr/>
          <p:nvPr/>
        </p:nvSpPr>
        <p:spPr>
          <a:xfrm>
            <a:off x="4983480" y="4498848"/>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 proveedor fijo y timeout de 30 s</a:t>
            </a:r>
            <a:endParaRPr lang="en-US" sz="1200" dirty="0"/>
          </a:p>
        </p:txBody>
      </p:sp>
      <p:sp>
        <p:nvSpPr>
          <p:cNvPr id="25" name="Text 23"/>
          <p:cNvSpPr/>
          <p:nvPr/>
        </p:nvSpPr>
        <p:spPr>
          <a:xfrm>
            <a:off x="777240" y="4901184"/>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API8</a:t>
            </a:r>
            <a:endParaRPr lang="en-US" sz="1200" dirty="0"/>
          </a:p>
        </p:txBody>
      </p:sp>
      <p:sp>
        <p:nvSpPr>
          <p:cNvPr id="26" name="Text 24"/>
          <p:cNvSpPr/>
          <p:nvPr/>
        </p:nvSpPr>
        <p:spPr>
          <a:xfrm>
            <a:off x="1481328" y="4901184"/>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Configuración de seguridad incorrecta</a:t>
            </a:r>
            <a:endParaRPr lang="en-US" sz="1200" dirty="0"/>
          </a:p>
        </p:txBody>
      </p:sp>
      <p:sp>
        <p:nvSpPr>
          <p:cNvPr id="27" name="Text 25"/>
          <p:cNvSpPr/>
          <p:nvPr/>
        </p:nvSpPr>
        <p:spPr>
          <a:xfrm>
            <a:off x="4983480" y="4901184"/>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con CSP default-src none, HSTS de un año y allowlist de CORS</a:t>
            </a:r>
            <a:endParaRPr lang="en-US" sz="1200" dirty="0"/>
          </a:p>
        </p:txBody>
      </p:sp>
      <p:sp>
        <p:nvSpPr>
          <p:cNvPr id="28" name="Text 26"/>
          <p:cNvSpPr/>
          <p:nvPr/>
        </p:nvSpPr>
        <p:spPr>
          <a:xfrm>
            <a:off x="777240" y="5303520"/>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API9</a:t>
            </a:r>
            <a:endParaRPr lang="en-US" sz="1200" dirty="0"/>
          </a:p>
        </p:txBody>
      </p:sp>
      <p:sp>
        <p:nvSpPr>
          <p:cNvPr id="29" name="Text 27"/>
          <p:cNvSpPr/>
          <p:nvPr/>
        </p:nvSpPr>
        <p:spPr>
          <a:xfrm>
            <a:off x="1481328" y="5303520"/>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Gestión indebida del inventario</a:t>
            </a:r>
            <a:endParaRPr lang="en-US" sz="1200" dirty="0"/>
          </a:p>
        </p:txBody>
      </p:sp>
      <p:sp>
        <p:nvSpPr>
          <p:cNvPr id="30" name="Text 28"/>
          <p:cNvSpPr/>
          <p:nvPr/>
        </p:nvSpPr>
        <p:spPr>
          <a:xfrm>
            <a:off x="4983480" y="5303520"/>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y servida por la propia API</a:t>
            </a:r>
            <a:endParaRPr lang="en-US" sz="1200" dirty="0"/>
          </a:p>
        </p:txBody>
      </p:sp>
      <p:sp>
        <p:nvSpPr>
          <p:cNvPr id="31" name="Text 29"/>
          <p:cNvSpPr/>
          <p:nvPr/>
        </p:nvSpPr>
        <p:spPr>
          <a:xfrm>
            <a:off x="777240" y="5705856"/>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API10</a:t>
            </a:r>
            <a:endParaRPr lang="en-US" sz="1200" dirty="0"/>
          </a:p>
        </p:txBody>
      </p:sp>
      <p:sp>
        <p:nvSpPr>
          <p:cNvPr id="32" name="Text 30"/>
          <p:cNvSpPr/>
          <p:nvPr/>
        </p:nvSpPr>
        <p:spPr>
          <a:xfrm>
            <a:off x="1481328" y="5705856"/>
            <a:ext cx="342900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Consumo inseguro de APIs</a:t>
            </a:r>
            <a:endParaRPr lang="en-US" sz="1200" dirty="0"/>
          </a:p>
        </p:txBody>
      </p:sp>
      <p:sp>
        <p:nvSpPr>
          <p:cNvPr id="33" name="Text 31"/>
          <p:cNvSpPr/>
          <p:nvPr/>
        </p:nvSpPr>
        <p:spPr>
          <a:xfrm>
            <a:off x="4983480" y="5705856"/>
            <a:ext cx="640080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 nunca como instrucción</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2026-08-26T10:29:40Z</dcterms:created>
  <dcterms:modified xsi:type="dcterms:W3CDTF">2026-08-26T10:29:40Z</dcterms:modified>
</cp:coreProperties>
</file>