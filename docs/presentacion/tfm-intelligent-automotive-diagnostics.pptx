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 · acumulado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 · acumulado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foto entera, de abajo a arriba.
Abajo del todo, el coche de verdad: su bus CAN y las centralitas. Encima, el punto donde esto se conecta al mundo físico, que es el dongle ELM327 enchufado al conector OBD-II del coche, ese que está debajo del volante. Se une al portátil por USB o por WiFi. Los dos van en azul porque son las dos únicas piezas que no son código mío.
De ahí para arriba ya es software. El transporte OBD abre el puerto serie o el socket, negocia el protocolo del bus y traduce comandos. La persistencia guarda lo relacional en SQLite y lo vectorial en LanceDB. Y el servidor MCP expone las dieciséis herramientas al modelo, que está a la derecha.
En el centro, en oscuro, el núcleo: los casos de uso y el dominio, con las fórmulas de la norma y los catálogos. Ese bloque no sabe nada de lo que hay debajo. Y arriba el mecánico, con la interfaz.
Dos detalles. Las flechas son de ida y vuelta porque todo son peticiones y respuestas. Y las discontinuas del centro son lo que hace que esto sea un sistema y no una tubería: cuando el agente pide una herramienta, vuelve a entrar por los mismos adaptadores. Lee el coche por el mismo transporte y escribe en el mismo catálogo. No hay puerta trasera para la IA.
Para la demo de hoy, el tramo físico se sustituye por tres emuladores ELM327 escuchando en tres puertos TCP. Todo lo de arriba es idéntico.
[~80 s · acumulado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8:30]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9:45]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13:15]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16:10]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594360"/>
          </a:xfrm>
          <a:prstGeom prst="rect">
            <a:avLst/>
          </a:prstGeom>
          <a:noFill/>
          <a:ln/>
        </p:spPr>
        <p:txBody>
          <a:bodyPr wrap="square" lIns="0" tIns="0" rIns="0" bIns="0" rtlCol="0" anchor="t"/>
          <a:lstStyle/>
          <a:p>
            <a:pPr indent="0" marL="0">
              <a:buNone/>
            </a:pPr>
            <a:r>
              <a:rPr lang="en-US" sz="2900" b="1" dirty="0">
                <a:solidFill>
                  <a:srgbClr val="1A1C2E"/>
                </a:solidFill>
                <a:latin typeface="Arial" pitchFamily="34" charset="0"/>
                <a:ea typeface="Arial" pitchFamily="34" charset="-122"/>
                <a:cs typeface="Arial" pitchFamily="34" charset="-120"/>
              </a:rPr>
              <a:t>El sistema de un vistazo</a:t>
            </a:r>
            <a:endParaRPr lang="en-US" sz="2900" dirty="0"/>
          </a:p>
        </p:txBody>
      </p:sp>
      <p:sp>
        <p:nvSpPr>
          <p:cNvPr id="3" name="Text 1"/>
          <p:cNvSpPr/>
          <p:nvPr/>
        </p:nvSpPr>
        <p:spPr>
          <a:xfrm>
            <a:off x="640080" y="1024128"/>
            <a:ext cx="1088136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Quién llama a quién, del conector del coche hasta el modelo.</a:t>
            </a:r>
            <a:endParaRPr lang="en-US" sz="1400" dirty="0"/>
          </a:p>
        </p:txBody>
      </p:sp>
      <p:sp>
        <p:nvSpPr>
          <p:cNvPr id="4" name="Shape 2"/>
          <p:cNvSpPr/>
          <p:nvPr/>
        </p:nvSpPr>
        <p:spPr>
          <a:xfrm>
            <a:off x="4709160" y="1417320"/>
            <a:ext cx="2743200" cy="603504"/>
          </a:xfrm>
          <a:prstGeom prst="roundRect">
            <a:avLst>
              <a:gd name="adj" fmla="val 7576"/>
            </a:avLst>
          </a:prstGeom>
          <a:solidFill>
            <a:srgbClr val="FFFFFF"/>
          </a:solidFill>
          <a:ln w="12700">
            <a:solidFill>
              <a:srgbClr val="C9CCD8"/>
            </a:solidFill>
            <a:prstDash val="solid"/>
          </a:ln>
        </p:spPr>
      </p:sp>
      <p:sp>
        <p:nvSpPr>
          <p:cNvPr id="5" name="Text 3"/>
          <p:cNvSpPr/>
          <p:nvPr/>
        </p:nvSpPr>
        <p:spPr>
          <a:xfrm>
            <a:off x="4782312" y="1490472"/>
            <a:ext cx="25968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El mecánico</a:t>
            </a:r>
            <a:endParaRPr lang="en-US" sz="1050" dirty="0"/>
          </a:p>
        </p:txBody>
      </p:sp>
      <p:sp>
        <p:nvSpPr>
          <p:cNvPr id="6" name="Text 4"/>
          <p:cNvSpPr/>
          <p:nvPr/>
        </p:nvSpPr>
        <p:spPr>
          <a:xfrm>
            <a:off x="4782312" y="1728216"/>
            <a:ext cx="25968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consulta el coche</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y pregunta al agente</a:t>
            </a:r>
            <a:endParaRPr lang="en-US" sz="850" dirty="0"/>
          </a:p>
        </p:txBody>
      </p:sp>
      <p:sp>
        <p:nvSpPr>
          <p:cNvPr id="7" name="Shape 5"/>
          <p:cNvSpPr/>
          <p:nvPr/>
        </p:nvSpPr>
        <p:spPr>
          <a:xfrm>
            <a:off x="6080760" y="2020824"/>
            <a:ext cx="0" cy="283464"/>
          </a:xfrm>
          <a:prstGeom prst="line">
            <a:avLst/>
          </a:prstGeom>
          <a:noFill/>
          <a:ln w="15875">
            <a:solidFill>
              <a:srgbClr val="202CFC"/>
            </a:solidFill>
            <a:prstDash val="solid"/>
            <a:headEnd type="triangle"/>
            <a:tailEnd type="triangle"/>
          </a:ln>
        </p:spPr>
      </p:sp>
      <p:sp>
        <p:nvSpPr>
          <p:cNvPr id="8" name="Shape 6"/>
          <p:cNvSpPr/>
          <p:nvPr/>
        </p:nvSpPr>
        <p:spPr>
          <a:xfrm>
            <a:off x="960120" y="2304288"/>
            <a:ext cx="10881360" cy="713232"/>
          </a:xfrm>
          <a:prstGeom prst="roundRect">
            <a:avLst>
              <a:gd name="adj" fmla="val 6410"/>
            </a:avLst>
          </a:prstGeom>
          <a:solidFill>
            <a:srgbClr val="1A1C2E"/>
          </a:solidFill>
          <a:ln w="12700">
            <a:solidFill>
              <a:srgbClr val="1A1C2E"/>
            </a:solidFill>
            <a:prstDash val="solid"/>
          </a:ln>
        </p:spPr>
      </p:sp>
      <p:sp>
        <p:nvSpPr>
          <p:cNvPr id="9" name="Text 7"/>
          <p:cNvSpPr/>
          <p:nvPr/>
        </p:nvSpPr>
        <p:spPr>
          <a:xfrm>
            <a:off x="1033272" y="2377440"/>
            <a:ext cx="10735056"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El núcleo</a:t>
            </a:r>
            <a:endParaRPr lang="en-US" sz="1050" dirty="0"/>
          </a:p>
        </p:txBody>
      </p:sp>
      <p:sp>
        <p:nvSpPr>
          <p:cNvPr id="10" name="Text 8"/>
          <p:cNvSpPr/>
          <p:nvPr/>
        </p:nvSpPr>
        <p:spPr>
          <a:xfrm>
            <a:off x="1033272" y="2615184"/>
            <a:ext cx="10735056" cy="365760"/>
          </a:xfrm>
          <a:prstGeom prst="rect">
            <a:avLst/>
          </a:prstGeom>
          <a:noFill/>
          <a:ln/>
        </p:spPr>
        <p:txBody>
          <a:bodyPr wrap="square" lIns="0" tIns="0" rIns="0" bIns="0" rtlCol="0" anchor="t"/>
          <a:lstStyle/>
          <a:p>
            <a:pPr algn="ctr" indent="0" marL="0">
              <a:lnSpc>
                <a:spcPts val="1050"/>
              </a:lnSpc>
              <a:buNone/>
            </a:pPr>
            <a:r>
              <a:rPr lang="en-US" sz="850" dirty="0">
                <a:solidFill>
                  <a:srgbClr val="B8BCCC"/>
                </a:solidFill>
                <a:latin typeface="Calibri" pitchFamily="34" charset="0"/>
                <a:ea typeface="Calibri" pitchFamily="34" charset="-122"/>
                <a:cs typeface="Calibri" pitchFamily="34" charset="-120"/>
              </a:rPr>
              <a:t>casos de uso y reglas del dominio · decide qué se pide y valida lo que vuelve</a:t>
            </a:r>
            <a:endParaRPr lang="en-US" sz="850" dirty="0"/>
          </a:p>
        </p:txBody>
      </p:sp>
      <p:sp>
        <p:nvSpPr>
          <p:cNvPr id="11" name="Shape 9"/>
          <p:cNvSpPr/>
          <p:nvPr/>
        </p:nvSpPr>
        <p:spPr>
          <a:xfrm>
            <a:off x="2560320" y="3017520"/>
            <a:ext cx="0" cy="292608"/>
          </a:xfrm>
          <a:prstGeom prst="line">
            <a:avLst/>
          </a:prstGeom>
          <a:noFill/>
          <a:ln w="15875">
            <a:solidFill>
              <a:srgbClr val="202CFC"/>
            </a:solidFill>
            <a:prstDash val="solid"/>
            <a:headEnd type="triangle"/>
            <a:tailEnd type="triangle"/>
          </a:ln>
        </p:spPr>
      </p:sp>
      <p:sp>
        <p:nvSpPr>
          <p:cNvPr id="12" name="Shape 10"/>
          <p:cNvSpPr/>
          <p:nvPr/>
        </p:nvSpPr>
        <p:spPr>
          <a:xfrm>
            <a:off x="6400800" y="3017520"/>
            <a:ext cx="0" cy="292608"/>
          </a:xfrm>
          <a:prstGeom prst="line">
            <a:avLst/>
          </a:prstGeom>
          <a:noFill/>
          <a:ln w="15875">
            <a:solidFill>
              <a:srgbClr val="202CFC"/>
            </a:solidFill>
            <a:prstDash val="solid"/>
            <a:headEnd type="triangle"/>
            <a:tailEnd type="triangle"/>
          </a:ln>
        </p:spPr>
      </p:sp>
      <p:sp>
        <p:nvSpPr>
          <p:cNvPr id="13" name="Shape 11"/>
          <p:cNvSpPr/>
          <p:nvPr/>
        </p:nvSpPr>
        <p:spPr>
          <a:xfrm>
            <a:off x="10241280" y="3017520"/>
            <a:ext cx="0" cy="292608"/>
          </a:xfrm>
          <a:prstGeom prst="line">
            <a:avLst/>
          </a:prstGeom>
          <a:noFill/>
          <a:ln w="15875">
            <a:solidFill>
              <a:srgbClr val="202CFC"/>
            </a:solidFill>
            <a:prstDash val="solid"/>
            <a:headEnd type="triangle"/>
            <a:tailEnd type="triangle"/>
          </a:ln>
        </p:spPr>
      </p:sp>
      <p:sp>
        <p:nvSpPr>
          <p:cNvPr id="14" name="Shape 12"/>
          <p:cNvSpPr/>
          <p:nvPr/>
        </p:nvSpPr>
        <p:spPr>
          <a:xfrm>
            <a:off x="960120" y="3310128"/>
            <a:ext cx="3200400" cy="795528"/>
          </a:xfrm>
          <a:prstGeom prst="roundRect">
            <a:avLst>
              <a:gd name="adj" fmla="val 5747"/>
            </a:avLst>
          </a:prstGeom>
          <a:solidFill>
            <a:srgbClr val="FFFFFF"/>
          </a:solidFill>
          <a:ln w="12700">
            <a:solidFill>
              <a:srgbClr val="C9CCD8"/>
            </a:solidFill>
            <a:prstDash val="solid"/>
          </a:ln>
        </p:spPr>
      </p:sp>
      <p:sp>
        <p:nvSpPr>
          <p:cNvPr id="15" name="Text 13"/>
          <p:cNvSpPr/>
          <p:nvPr/>
        </p:nvSpPr>
        <p:spPr>
          <a:xfrm>
            <a:off x="1033272" y="3383280"/>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Lectura del coche</a:t>
            </a:r>
            <a:endParaRPr lang="en-US" sz="1050" dirty="0"/>
          </a:p>
        </p:txBody>
      </p:sp>
      <p:sp>
        <p:nvSpPr>
          <p:cNvPr id="16" name="Text 14"/>
          <p:cNvSpPr/>
          <p:nvPr/>
        </p:nvSpPr>
        <p:spPr>
          <a:xfrm>
            <a:off x="1033272" y="3621024"/>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pide modos y PIDs</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y traduce lo que vuelve</a:t>
            </a:r>
            <a:endParaRPr lang="en-US" sz="850" dirty="0"/>
          </a:p>
        </p:txBody>
      </p:sp>
      <p:sp>
        <p:nvSpPr>
          <p:cNvPr id="17" name="Shape 15"/>
          <p:cNvSpPr/>
          <p:nvPr/>
        </p:nvSpPr>
        <p:spPr>
          <a:xfrm>
            <a:off x="4800600" y="3310128"/>
            <a:ext cx="3200400" cy="795528"/>
          </a:xfrm>
          <a:prstGeom prst="roundRect">
            <a:avLst>
              <a:gd name="adj" fmla="val 5747"/>
            </a:avLst>
          </a:prstGeom>
          <a:solidFill>
            <a:srgbClr val="FFFFFF"/>
          </a:solidFill>
          <a:ln w="12700">
            <a:solidFill>
              <a:srgbClr val="C9CCD8"/>
            </a:solidFill>
            <a:prstDash val="solid"/>
          </a:ln>
        </p:spPr>
      </p:sp>
      <p:sp>
        <p:nvSpPr>
          <p:cNvPr id="18" name="Text 16"/>
          <p:cNvSpPr/>
          <p:nvPr/>
        </p:nvSpPr>
        <p:spPr>
          <a:xfrm>
            <a:off x="4873752" y="3383280"/>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Bases de datos</a:t>
            </a:r>
            <a:endParaRPr lang="en-US" sz="1050" dirty="0"/>
          </a:p>
        </p:txBody>
      </p:sp>
      <p:sp>
        <p:nvSpPr>
          <p:cNvPr id="19" name="Text 17"/>
          <p:cNvSpPr/>
          <p:nvPr/>
        </p:nvSpPr>
        <p:spPr>
          <a:xfrm>
            <a:off x="4873752" y="3621024"/>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la relacional</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y la vectorial</a:t>
            </a:r>
            <a:endParaRPr lang="en-US" sz="850" dirty="0"/>
          </a:p>
        </p:txBody>
      </p:sp>
      <p:sp>
        <p:nvSpPr>
          <p:cNvPr id="20" name="Shape 18"/>
          <p:cNvSpPr/>
          <p:nvPr/>
        </p:nvSpPr>
        <p:spPr>
          <a:xfrm>
            <a:off x="8641080" y="3310128"/>
            <a:ext cx="3200400" cy="795528"/>
          </a:xfrm>
          <a:prstGeom prst="roundRect">
            <a:avLst>
              <a:gd name="adj" fmla="val 5747"/>
            </a:avLst>
          </a:prstGeom>
          <a:solidFill>
            <a:srgbClr val="FFFFFF"/>
          </a:solidFill>
          <a:ln w="12700">
            <a:solidFill>
              <a:srgbClr val="C9CCD8"/>
            </a:solidFill>
            <a:prstDash val="solid"/>
          </a:ln>
        </p:spPr>
      </p:sp>
      <p:sp>
        <p:nvSpPr>
          <p:cNvPr id="21" name="Text 19"/>
          <p:cNvSpPr/>
          <p:nvPr/>
        </p:nvSpPr>
        <p:spPr>
          <a:xfrm>
            <a:off x="8714232" y="3383280"/>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Herramientas del agente</a:t>
            </a:r>
            <a:endParaRPr lang="en-US" sz="1050" dirty="0"/>
          </a:p>
        </p:txBody>
      </p:sp>
      <p:sp>
        <p:nvSpPr>
          <p:cNvPr id="22" name="Text 20"/>
          <p:cNvSpPr/>
          <p:nvPr/>
        </p:nvSpPr>
        <p:spPr>
          <a:xfrm>
            <a:off x="8714232" y="3621024"/>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lo único que el modelo</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puede llegar a pedir</a:t>
            </a:r>
            <a:endParaRPr lang="en-US" sz="850" dirty="0"/>
          </a:p>
        </p:txBody>
      </p:sp>
      <p:sp>
        <p:nvSpPr>
          <p:cNvPr id="23" name="Shape 21"/>
          <p:cNvSpPr/>
          <p:nvPr/>
        </p:nvSpPr>
        <p:spPr>
          <a:xfrm>
            <a:off x="4233672" y="3712464"/>
            <a:ext cx="493776" cy="0"/>
          </a:xfrm>
          <a:prstGeom prst="line">
            <a:avLst/>
          </a:prstGeom>
          <a:noFill/>
          <a:ln w="12700">
            <a:solidFill>
              <a:srgbClr val="9AA0B4"/>
            </a:solidFill>
            <a:prstDash val="dash"/>
            <a:headEnd type="triangle"/>
          </a:ln>
        </p:spPr>
      </p:sp>
      <p:sp>
        <p:nvSpPr>
          <p:cNvPr id="24" name="Shape 22"/>
          <p:cNvSpPr/>
          <p:nvPr/>
        </p:nvSpPr>
        <p:spPr>
          <a:xfrm>
            <a:off x="8074152" y="3712464"/>
            <a:ext cx="493776" cy="0"/>
          </a:xfrm>
          <a:prstGeom prst="line">
            <a:avLst/>
          </a:prstGeom>
          <a:noFill/>
          <a:ln w="12700">
            <a:solidFill>
              <a:srgbClr val="9AA0B4"/>
            </a:solidFill>
            <a:prstDash val="dash"/>
            <a:headEnd type="triangle"/>
          </a:ln>
        </p:spPr>
      </p:sp>
      <p:sp>
        <p:nvSpPr>
          <p:cNvPr id="25" name="Shape 23"/>
          <p:cNvSpPr/>
          <p:nvPr/>
        </p:nvSpPr>
        <p:spPr>
          <a:xfrm>
            <a:off x="2560320" y="4105656"/>
            <a:ext cx="0" cy="301752"/>
          </a:xfrm>
          <a:prstGeom prst="line">
            <a:avLst/>
          </a:prstGeom>
          <a:noFill/>
          <a:ln w="15875">
            <a:solidFill>
              <a:srgbClr val="202CFC"/>
            </a:solidFill>
            <a:prstDash val="solid"/>
            <a:headEnd type="triangle"/>
            <a:tailEnd type="triangle"/>
          </a:ln>
        </p:spPr>
      </p:sp>
      <p:sp>
        <p:nvSpPr>
          <p:cNvPr id="26" name="Shape 24"/>
          <p:cNvSpPr/>
          <p:nvPr/>
        </p:nvSpPr>
        <p:spPr>
          <a:xfrm>
            <a:off x="10241280" y="4105656"/>
            <a:ext cx="0" cy="301752"/>
          </a:xfrm>
          <a:prstGeom prst="line">
            <a:avLst/>
          </a:prstGeom>
          <a:noFill/>
          <a:ln w="15875">
            <a:solidFill>
              <a:srgbClr val="202CFC"/>
            </a:solidFill>
            <a:prstDash val="solid"/>
            <a:headEnd type="triangle"/>
            <a:tailEnd type="triangle"/>
          </a:ln>
        </p:spPr>
      </p:sp>
      <p:sp>
        <p:nvSpPr>
          <p:cNvPr id="27" name="Shape 25"/>
          <p:cNvSpPr/>
          <p:nvPr/>
        </p:nvSpPr>
        <p:spPr>
          <a:xfrm>
            <a:off x="960120" y="4407408"/>
            <a:ext cx="3200400" cy="731520"/>
          </a:xfrm>
          <a:prstGeom prst="roundRect">
            <a:avLst>
              <a:gd name="adj" fmla="val 6250"/>
            </a:avLst>
          </a:prstGeom>
          <a:solidFill>
            <a:srgbClr val="FFFFFF"/>
          </a:solidFill>
          <a:ln w="22225">
            <a:solidFill>
              <a:srgbClr val="202CFC"/>
            </a:solidFill>
            <a:prstDash val="solid"/>
          </a:ln>
        </p:spPr>
      </p:sp>
      <p:sp>
        <p:nvSpPr>
          <p:cNvPr id="28" name="Text 26"/>
          <p:cNvSpPr/>
          <p:nvPr/>
        </p:nvSpPr>
        <p:spPr>
          <a:xfrm>
            <a:off x="1033272" y="4480560"/>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El adaptador</a:t>
            </a:r>
            <a:endParaRPr lang="en-US" sz="1050" dirty="0"/>
          </a:p>
        </p:txBody>
      </p:sp>
      <p:sp>
        <p:nvSpPr>
          <p:cNvPr id="29" name="Text 27"/>
          <p:cNvSpPr/>
          <p:nvPr/>
        </p:nvSpPr>
        <p:spPr>
          <a:xfrm>
            <a:off x="1033272" y="4718304"/>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enchufado al conector</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de diagnóstico del coche</a:t>
            </a:r>
            <a:endParaRPr lang="en-US" sz="850" dirty="0"/>
          </a:p>
        </p:txBody>
      </p:sp>
      <p:sp>
        <p:nvSpPr>
          <p:cNvPr id="30" name="Shape 28"/>
          <p:cNvSpPr/>
          <p:nvPr/>
        </p:nvSpPr>
        <p:spPr>
          <a:xfrm>
            <a:off x="8641080" y="4407408"/>
            <a:ext cx="3200400" cy="731520"/>
          </a:xfrm>
          <a:prstGeom prst="roundRect">
            <a:avLst>
              <a:gd name="adj" fmla="val 6250"/>
            </a:avLst>
          </a:prstGeom>
          <a:solidFill>
            <a:srgbClr val="FFFFFF"/>
          </a:solidFill>
          <a:ln w="12700">
            <a:solidFill>
              <a:srgbClr val="C9CCD8"/>
            </a:solidFill>
            <a:prstDash val="solid"/>
          </a:ln>
        </p:spPr>
      </p:sp>
      <p:sp>
        <p:nvSpPr>
          <p:cNvPr id="31" name="Text 29"/>
          <p:cNvSpPr/>
          <p:nvPr/>
        </p:nvSpPr>
        <p:spPr>
          <a:xfrm>
            <a:off x="8714232" y="4480560"/>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El modelo</a:t>
            </a:r>
            <a:endParaRPr lang="en-US" sz="1050" dirty="0"/>
          </a:p>
        </p:txBody>
      </p:sp>
      <p:sp>
        <p:nvSpPr>
          <p:cNvPr id="32" name="Text 30"/>
          <p:cNvSpPr/>
          <p:nvPr/>
        </p:nvSpPr>
        <p:spPr>
          <a:xfrm>
            <a:off x="8714232" y="4718304"/>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razona y va pidiendo</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las herramientas que necesita</a:t>
            </a:r>
            <a:endParaRPr lang="en-US" sz="850" dirty="0"/>
          </a:p>
        </p:txBody>
      </p:sp>
      <p:sp>
        <p:nvSpPr>
          <p:cNvPr id="33" name="Shape 31"/>
          <p:cNvSpPr/>
          <p:nvPr/>
        </p:nvSpPr>
        <p:spPr>
          <a:xfrm>
            <a:off x="2560320" y="5138928"/>
            <a:ext cx="0" cy="301752"/>
          </a:xfrm>
          <a:prstGeom prst="line">
            <a:avLst/>
          </a:prstGeom>
          <a:noFill/>
          <a:ln w="15875">
            <a:solidFill>
              <a:srgbClr val="202CFC"/>
            </a:solidFill>
            <a:prstDash val="solid"/>
            <a:headEnd type="triangle"/>
            <a:tailEnd type="triangle"/>
          </a:ln>
        </p:spPr>
      </p:sp>
      <p:sp>
        <p:nvSpPr>
          <p:cNvPr id="34" name="Shape 32"/>
          <p:cNvSpPr/>
          <p:nvPr/>
        </p:nvSpPr>
        <p:spPr>
          <a:xfrm>
            <a:off x="960120" y="5440680"/>
            <a:ext cx="3200400" cy="713232"/>
          </a:xfrm>
          <a:prstGeom prst="roundRect">
            <a:avLst>
              <a:gd name="adj" fmla="val 6410"/>
            </a:avLst>
          </a:prstGeom>
          <a:solidFill>
            <a:srgbClr val="FFFFFF"/>
          </a:solidFill>
          <a:ln w="22225">
            <a:solidFill>
              <a:srgbClr val="202CFC"/>
            </a:solidFill>
            <a:prstDash val="solid"/>
          </a:ln>
        </p:spPr>
      </p:sp>
      <p:sp>
        <p:nvSpPr>
          <p:cNvPr id="35" name="Text 33"/>
          <p:cNvSpPr/>
          <p:nvPr/>
        </p:nvSpPr>
        <p:spPr>
          <a:xfrm>
            <a:off x="1033272" y="5513832"/>
            <a:ext cx="3054096" cy="237744"/>
          </a:xfrm>
          <a:prstGeom prst="rect">
            <a:avLst/>
          </a:prstGeom>
          <a:noFill/>
          <a:ln/>
        </p:spPr>
        <p:txBody>
          <a:bodyPr wrap="square" lIns="0" tIns="0" rIns="0" bIns="0" rtlCol="0" anchor="ctr"/>
          <a:lstStyle/>
          <a:p>
            <a:pPr algn="ctr" indent="0" marL="0">
              <a:buNone/>
            </a:pPr>
            <a:r>
              <a:rPr lang="en-US" sz="1050" b="1" dirty="0">
                <a:solidFill>
                  <a:srgbClr val="1A1C2E"/>
                </a:solidFill>
                <a:latin typeface="Arial" pitchFamily="34" charset="0"/>
                <a:ea typeface="Arial" pitchFamily="34" charset="-122"/>
                <a:cs typeface="Arial" pitchFamily="34" charset="-120"/>
              </a:rPr>
              <a:t>El coche</a:t>
            </a:r>
            <a:endParaRPr lang="en-US" sz="1050" dirty="0"/>
          </a:p>
        </p:txBody>
      </p:sp>
      <p:sp>
        <p:nvSpPr>
          <p:cNvPr id="36" name="Text 34"/>
          <p:cNvSpPr/>
          <p:nvPr/>
        </p:nvSpPr>
        <p:spPr>
          <a:xfrm>
            <a:off x="1033272" y="5751576"/>
            <a:ext cx="3054096" cy="365760"/>
          </a:xfrm>
          <a:prstGeom prst="rect">
            <a:avLst/>
          </a:prstGeom>
          <a:noFill/>
          <a:ln/>
        </p:spPr>
        <p:txBody>
          <a:bodyPr wrap="square" lIns="0" tIns="0" rIns="0" bIns="0" rtlCol="0" anchor="t"/>
          <a:lstStyle/>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el motor y el resto</a:t>
            </a:r>
            <a:endParaRPr lang="en-US" sz="850" dirty="0"/>
          </a:p>
          <a:p>
            <a:pPr algn="ctr" indent="0" marL="0">
              <a:lnSpc>
                <a:spcPts val="1050"/>
              </a:lnSpc>
              <a:buNone/>
            </a:pPr>
            <a:r>
              <a:rPr lang="en-US" sz="850" dirty="0">
                <a:solidFill>
                  <a:srgbClr val="5A5F73"/>
                </a:solidFill>
                <a:latin typeface="Calibri" pitchFamily="34" charset="0"/>
                <a:ea typeface="Calibri" pitchFamily="34" charset="-122"/>
                <a:cs typeface="Calibri" pitchFamily="34" charset="-120"/>
              </a:rPr>
              <a:t>de centralitas</a:t>
            </a:r>
            <a:endParaRPr lang="en-US" sz="850" dirty="0"/>
          </a:p>
        </p:txBody>
      </p:sp>
      <p:sp>
        <p:nvSpPr>
          <p:cNvPr id="37" name="Text 35"/>
          <p:cNvSpPr/>
          <p:nvPr/>
        </p:nvSpPr>
        <p:spPr>
          <a:xfrm>
            <a:off x="4343400" y="4617720"/>
            <a:ext cx="4114800" cy="548640"/>
          </a:xfrm>
          <a:prstGeom prst="rect">
            <a:avLst/>
          </a:prstGeom>
          <a:noFill/>
          <a:ln/>
        </p:spPr>
        <p:txBody>
          <a:bodyPr wrap="square" lIns="0" tIns="0" rIns="0" bIns="0" rtlCol="0" anchor="t"/>
          <a:lstStyle/>
          <a:p>
            <a:pPr algn="ctr" indent="0" marL="0">
              <a:lnSpc>
                <a:spcPts val="1100"/>
              </a:lnSpc>
              <a:buNone/>
            </a:pPr>
            <a:r>
              <a:rPr lang="en-US" sz="900" i="1" dirty="0">
                <a:solidFill>
                  <a:srgbClr val="5A5F73"/>
                </a:solidFill>
                <a:latin typeface="Calibri" pitchFamily="34" charset="0"/>
                <a:ea typeface="Calibri" pitchFamily="34" charset="-122"/>
                <a:cs typeface="Calibri" pitchFamily="34" charset="-120"/>
              </a:rPr>
              <a:t>En la demo este tramo va emulado. De aquí para arriba, todo es idéntico.</a:t>
            </a:r>
            <a:endParaRPr lang="en-US" sz="900" dirty="0"/>
          </a:p>
        </p:txBody>
      </p:sp>
      <p:sp>
        <p:nvSpPr>
          <p:cNvPr id="38" name="Text 36"/>
          <p:cNvSpPr/>
          <p:nvPr/>
        </p:nvSpPr>
        <p:spPr>
          <a:xfrm>
            <a:off x="4343400" y="5440680"/>
            <a:ext cx="4114800" cy="457200"/>
          </a:xfrm>
          <a:prstGeom prst="rect">
            <a:avLst/>
          </a:prstGeom>
          <a:noFill/>
          <a:ln/>
        </p:spPr>
        <p:txBody>
          <a:bodyPr wrap="square" lIns="0" tIns="0" rIns="0" bIns="0" rtlCol="0" anchor="t"/>
          <a:lstStyle/>
          <a:p>
            <a:pPr algn="ctr" indent="0" marL="0">
              <a:lnSpc>
                <a:spcPts val="1100"/>
              </a:lnSpc>
              <a:buNone/>
            </a:pPr>
            <a:r>
              <a:rPr lang="en-US" sz="900" i="1" dirty="0">
                <a:solidFill>
                  <a:srgbClr val="5A5F73"/>
                </a:solidFill>
                <a:latin typeface="Calibri" pitchFamily="34" charset="0"/>
                <a:ea typeface="Calibri" pitchFamily="34" charset="-122"/>
                <a:cs typeface="Calibri" pitchFamily="34" charset="-120"/>
              </a:rPr>
              <a:t>Las herramientas del agente vuelven a entrar por los mismos adaptadores.</a:t>
            </a:r>
            <a:endParaRPr lang="en-US" sz="900" dirty="0"/>
          </a:p>
        </p:txBody>
      </p:sp>
      <p:sp>
        <p:nvSpPr>
          <p:cNvPr id="39" name="Shape 37"/>
          <p:cNvSpPr/>
          <p:nvPr/>
        </p:nvSpPr>
        <p:spPr>
          <a:xfrm>
            <a:off x="777240" y="6263640"/>
            <a:ext cx="219456" cy="219456"/>
          </a:xfrm>
          <a:prstGeom prst="rect">
            <a:avLst/>
          </a:prstGeom>
          <a:solidFill>
            <a:srgbClr val="202CFC"/>
          </a:solidFill>
          <a:ln/>
        </p:spPr>
      </p:sp>
      <p:sp>
        <p:nvSpPr>
          <p:cNvPr id="40" name="Text 3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1" name="Text 3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2" name="Text 4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La aplicación funcionando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 lo que se ve viene leído del bus, nada está escrito a mano.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 qué está hecho</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de punta a punta, y cada pieza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sostiene esto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solo programador, así que el que avisa de las roturas es el CI.</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se escribe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se comprueba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Lo que me llevo de haber construido esto con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acelera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hay que poner</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2026-08-25T21:34:19Z</dcterms:created>
  <dcterms:modified xsi:type="dcterms:W3CDTF">2026-08-25T21:34:19Z</dcterms:modified>
</cp:coreProperties>
</file>