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para que se entienda dónde encaja cada cosa de lo que viene después.
Arriba, leer el coche. A la izquierda el vehículo, que puede ser uno de verdad o uno de los tres emuladores que uso para la demo. Se conecta un adaptador ELM327, por cable USB, por WiFi o por TCP. La API tiene un transporte que negocia el protocolo del bus y va pidiendo modos y PIDs. Y lo que vuelve son bytes en crudo, así que el dominio aplica la fórmula de cada PID para convertirlos en magnitudes físicas.
Abajo, razonar sobre lo leído. Antes de llamar al modelo se buscan casos parecidos en la base vectorial. El agente entra con esos casos, con las dieciséis herramientas MCP y con el modelo detrás, y va pidiendo lo que necesita. Sale un informe con narrativa, severidad y recomendaciones. Y ese caso se indexa.
Esa flecha de vuelta es la clave del proyecto: lo que se aprende en un diagnóstico alimenta el siguiente. Cuantos más coches pasen, más casos reales hay con los que comparar.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El sistema de un vistazo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Del conector del coche hasta la respuesta, y de vuelta al catálogo.</a:t>
            </a:r>
            <a:endParaRPr lang="en-US" sz="1600" dirty="0"/>
          </a:p>
        </p:txBody>
      </p:sp>
      <p:sp>
        <p:nvSpPr>
          <p:cNvPr id="4" name="Text 2"/>
          <p:cNvSpPr/>
          <p:nvPr/>
        </p:nvSpPr>
        <p:spPr>
          <a:xfrm>
            <a:off x="777240" y="1947672"/>
            <a:ext cx="10607040" cy="292608"/>
          </a:xfrm>
          <a:prstGeom prst="rect">
            <a:avLst/>
          </a:prstGeom>
          <a:noFill/>
          <a:ln/>
        </p:spPr>
        <p:txBody>
          <a:bodyPr wrap="square" lIns="0" tIns="0" rIns="0" bIns="0" rtlCol="0" anchor="t"/>
          <a:lstStyle/>
          <a:p>
            <a:pPr indent="0" marL="0">
              <a:buNone/>
            </a:pPr>
            <a:r>
              <a:rPr lang="en-US" sz="1200" b="1" spc="150" kern="0" dirty="0">
                <a:solidFill>
                  <a:srgbClr val="202CFC"/>
                </a:solidFill>
                <a:latin typeface="Calibri" pitchFamily="34" charset="0"/>
                <a:ea typeface="Calibri" pitchFamily="34" charset="-122"/>
                <a:cs typeface="Calibri" pitchFamily="34" charset="-120"/>
              </a:rPr>
              <a:t>1 · LEER EL COCHE</a:t>
            </a:r>
            <a:endParaRPr lang="en-US" sz="1200" dirty="0"/>
          </a:p>
        </p:txBody>
      </p:sp>
      <p:sp>
        <p:nvSpPr>
          <p:cNvPr id="5" name="Shape 3"/>
          <p:cNvSpPr/>
          <p:nvPr/>
        </p:nvSpPr>
        <p:spPr>
          <a:xfrm>
            <a:off x="777240" y="2331720"/>
            <a:ext cx="2331720" cy="914400"/>
          </a:xfrm>
          <a:prstGeom prst="roundRect">
            <a:avLst>
              <a:gd name="adj" fmla="val 6000"/>
            </a:avLst>
          </a:prstGeom>
          <a:solidFill>
            <a:srgbClr val="FFFFFF"/>
          </a:solidFill>
          <a:ln w="12700">
            <a:solidFill>
              <a:srgbClr val="C9CCD8"/>
            </a:solidFill>
            <a:prstDash val="solid"/>
          </a:ln>
        </p:spPr>
      </p:sp>
      <p:sp>
        <p:nvSpPr>
          <p:cNvPr id="6" name="Text 4"/>
          <p:cNvSpPr/>
          <p:nvPr/>
        </p:nvSpPr>
        <p:spPr>
          <a:xfrm>
            <a:off x="886968"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El coche</a:t>
            </a:r>
            <a:endParaRPr lang="en-US" sz="1200" dirty="0"/>
          </a:p>
        </p:txBody>
      </p:sp>
      <p:sp>
        <p:nvSpPr>
          <p:cNvPr id="7" name="Text 5"/>
          <p:cNvSpPr/>
          <p:nvPr/>
        </p:nvSpPr>
        <p:spPr>
          <a:xfrm>
            <a:off x="886968"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o uno de los tres</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emuladores ELM327</a:t>
            </a:r>
            <a:endParaRPr lang="en-US" sz="1100" dirty="0"/>
          </a:p>
        </p:txBody>
      </p:sp>
      <p:sp>
        <p:nvSpPr>
          <p:cNvPr id="8" name="Shape 6"/>
          <p:cNvSpPr/>
          <p:nvPr/>
        </p:nvSpPr>
        <p:spPr>
          <a:xfrm>
            <a:off x="3182112" y="2788920"/>
            <a:ext cx="256032" cy="0"/>
          </a:xfrm>
          <a:prstGeom prst="line">
            <a:avLst/>
          </a:prstGeom>
          <a:noFill/>
          <a:ln w="19050">
            <a:solidFill>
              <a:srgbClr val="202CFC"/>
            </a:solidFill>
            <a:prstDash val="solid"/>
            <a:tailEnd type="triangle"/>
          </a:ln>
        </p:spPr>
      </p:sp>
      <p:sp>
        <p:nvSpPr>
          <p:cNvPr id="9" name="Shape 7"/>
          <p:cNvSpPr/>
          <p:nvPr/>
        </p:nvSpPr>
        <p:spPr>
          <a:xfrm>
            <a:off x="3511296" y="2331720"/>
            <a:ext cx="2331720" cy="914400"/>
          </a:xfrm>
          <a:prstGeom prst="roundRect">
            <a:avLst>
              <a:gd name="adj" fmla="val 6000"/>
            </a:avLst>
          </a:prstGeom>
          <a:solidFill>
            <a:srgbClr val="FFFFFF"/>
          </a:solidFill>
          <a:ln w="12700">
            <a:solidFill>
              <a:srgbClr val="C9CCD8"/>
            </a:solidFill>
            <a:prstDash val="solid"/>
          </a:ln>
        </p:spPr>
      </p:sp>
      <p:sp>
        <p:nvSpPr>
          <p:cNvPr id="10" name="Text 8"/>
          <p:cNvSpPr/>
          <p:nvPr/>
        </p:nvSpPr>
        <p:spPr>
          <a:xfrm>
            <a:off x="3621024"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Adaptador ELM327</a:t>
            </a:r>
            <a:endParaRPr lang="en-US" sz="1200" dirty="0"/>
          </a:p>
        </p:txBody>
      </p:sp>
      <p:sp>
        <p:nvSpPr>
          <p:cNvPr id="11" name="Text 9"/>
          <p:cNvSpPr/>
          <p:nvPr/>
        </p:nvSpPr>
        <p:spPr>
          <a:xfrm>
            <a:off x="3621024"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por cable USB,</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WiFi o TCP</a:t>
            </a:r>
            <a:endParaRPr lang="en-US" sz="1100" dirty="0"/>
          </a:p>
        </p:txBody>
      </p:sp>
      <p:sp>
        <p:nvSpPr>
          <p:cNvPr id="12" name="Shape 10"/>
          <p:cNvSpPr/>
          <p:nvPr/>
        </p:nvSpPr>
        <p:spPr>
          <a:xfrm>
            <a:off x="5916168" y="2788920"/>
            <a:ext cx="256032" cy="0"/>
          </a:xfrm>
          <a:prstGeom prst="line">
            <a:avLst/>
          </a:prstGeom>
          <a:noFill/>
          <a:ln w="19050">
            <a:solidFill>
              <a:srgbClr val="202CFC"/>
            </a:solidFill>
            <a:prstDash val="solid"/>
            <a:tailEnd type="triangle"/>
          </a:ln>
        </p:spPr>
      </p:sp>
      <p:sp>
        <p:nvSpPr>
          <p:cNvPr id="13" name="Shape 11"/>
          <p:cNvSpPr/>
          <p:nvPr/>
        </p:nvSpPr>
        <p:spPr>
          <a:xfrm>
            <a:off x="6245352" y="2331720"/>
            <a:ext cx="2331720" cy="914400"/>
          </a:xfrm>
          <a:prstGeom prst="roundRect">
            <a:avLst>
              <a:gd name="adj" fmla="val 6000"/>
            </a:avLst>
          </a:prstGeom>
          <a:solidFill>
            <a:srgbClr val="FFFFFF"/>
          </a:solidFill>
          <a:ln w="12700">
            <a:solidFill>
              <a:srgbClr val="C9CCD8"/>
            </a:solidFill>
            <a:prstDash val="solid"/>
          </a:ln>
        </p:spPr>
      </p:sp>
      <p:sp>
        <p:nvSpPr>
          <p:cNvPr id="14" name="Text 12"/>
          <p:cNvSpPr/>
          <p:nvPr/>
        </p:nvSpPr>
        <p:spPr>
          <a:xfrm>
            <a:off x="6355080"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Transporte OBD</a:t>
            </a:r>
            <a:endParaRPr lang="en-US" sz="1200" dirty="0"/>
          </a:p>
        </p:txBody>
      </p:sp>
      <p:sp>
        <p:nvSpPr>
          <p:cNvPr id="15" name="Text 13"/>
          <p:cNvSpPr/>
          <p:nvPr/>
        </p:nvSpPr>
        <p:spPr>
          <a:xfrm>
            <a:off x="6355080"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negocia el protocolo</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y pide modos y PIDs</a:t>
            </a:r>
            <a:endParaRPr lang="en-US" sz="1100" dirty="0"/>
          </a:p>
        </p:txBody>
      </p:sp>
      <p:sp>
        <p:nvSpPr>
          <p:cNvPr id="16" name="Shape 14"/>
          <p:cNvSpPr/>
          <p:nvPr/>
        </p:nvSpPr>
        <p:spPr>
          <a:xfrm>
            <a:off x="8650224" y="2788920"/>
            <a:ext cx="256032" cy="0"/>
          </a:xfrm>
          <a:prstGeom prst="line">
            <a:avLst/>
          </a:prstGeom>
          <a:noFill/>
          <a:ln w="19050">
            <a:solidFill>
              <a:srgbClr val="202CFC"/>
            </a:solidFill>
            <a:prstDash val="solid"/>
            <a:tailEnd type="triangle"/>
          </a:ln>
        </p:spPr>
      </p:sp>
      <p:sp>
        <p:nvSpPr>
          <p:cNvPr id="17" name="Shape 15"/>
          <p:cNvSpPr/>
          <p:nvPr/>
        </p:nvSpPr>
        <p:spPr>
          <a:xfrm>
            <a:off x="8979408" y="2331720"/>
            <a:ext cx="2331720" cy="914400"/>
          </a:xfrm>
          <a:prstGeom prst="roundRect">
            <a:avLst>
              <a:gd name="adj" fmla="val 6000"/>
            </a:avLst>
          </a:prstGeom>
          <a:solidFill>
            <a:srgbClr val="FFFFFF"/>
          </a:solidFill>
          <a:ln w="12700">
            <a:solidFill>
              <a:srgbClr val="C9CCD8"/>
            </a:solidFill>
            <a:prstDash val="solid"/>
          </a:ln>
        </p:spPr>
      </p:sp>
      <p:sp>
        <p:nvSpPr>
          <p:cNvPr id="18" name="Text 16"/>
          <p:cNvSpPr/>
          <p:nvPr/>
        </p:nvSpPr>
        <p:spPr>
          <a:xfrm>
            <a:off x="9089136"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Dominio</a:t>
            </a:r>
            <a:endParaRPr lang="en-US" sz="1200" dirty="0"/>
          </a:p>
        </p:txBody>
      </p:sp>
      <p:sp>
        <p:nvSpPr>
          <p:cNvPr id="19" name="Text 17"/>
          <p:cNvSpPr/>
          <p:nvPr/>
        </p:nvSpPr>
        <p:spPr>
          <a:xfrm>
            <a:off x="9089136"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aplica la fórmula</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de cada PID</a:t>
            </a:r>
            <a:endParaRPr lang="en-US" sz="1100" dirty="0"/>
          </a:p>
        </p:txBody>
      </p:sp>
      <p:sp>
        <p:nvSpPr>
          <p:cNvPr id="20" name="Text 18"/>
          <p:cNvSpPr/>
          <p:nvPr/>
        </p:nvSpPr>
        <p:spPr>
          <a:xfrm>
            <a:off x="777240" y="3959352"/>
            <a:ext cx="10607040" cy="292608"/>
          </a:xfrm>
          <a:prstGeom prst="rect">
            <a:avLst/>
          </a:prstGeom>
          <a:noFill/>
          <a:ln/>
        </p:spPr>
        <p:txBody>
          <a:bodyPr wrap="square" lIns="0" tIns="0" rIns="0" bIns="0" rtlCol="0" anchor="t"/>
          <a:lstStyle/>
          <a:p>
            <a:pPr indent="0" marL="0">
              <a:buNone/>
            </a:pPr>
            <a:r>
              <a:rPr lang="en-US" sz="1200" b="1" spc="150" kern="0" dirty="0">
                <a:solidFill>
                  <a:srgbClr val="202CFC"/>
                </a:solidFill>
                <a:latin typeface="Calibri" pitchFamily="34" charset="0"/>
                <a:ea typeface="Calibri" pitchFamily="34" charset="-122"/>
                <a:cs typeface="Calibri" pitchFamily="34" charset="-120"/>
              </a:rPr>
              <a:t>2 · RAZONAR SOBRE LO LEÍDO</a:t>
            </a:r>
            <a:endParaRPr lang="en-US" sz="1200" dirty="0"/>
          </a:p>
        </p:txBody>
      </p:sp>
      <p:sp>
        <p:nvSpPr>
          <p:cNvPr id="21" name="Shape 19"/>
          <p:cNvSpPr/>
          <p:nvPr/>
        </p:nvSpPr>
        <p:spPr>
          <a:xfrm>
            <a:off x="777240" y="4343400"/>
            <a:ext cx="2331720" cy="914400"/>
          </a:xfrm>
          <a:prstGeom prst="roundRect">
            <a:avLst>
              <a:gd name="adj" fmla="val 6000"/>
            </a:avLst>
          </a:prstGeom>
          <a:solidFill>
            <a:srgbClr val="FFFFFF"/>
          </a:solidFill>
          <a:ln w="12700">
            <a:solidFill>
              <a:srgbClr val="C9CCD8"/>
            </a:solidFill>
            <a:prstDash val="solid"/>
          </a:ln>
        </p:spPr>
      </p:sp>
      <p:sp>
        <p:nvSpPr>
          <p:cNvPr id="22" name="Text 20"/>
          <p:cNvSpPr/>
          <p:nvPr/>
        </p:nvSpPr>
        <p:spPr>
          <a:xfrm>
            <a:off x="886968"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Casos parecidos</a:t>
            </a:r>
            <a:endParaRPr lang="en-US" sz="1200" dirty="0"/>
          </a:p>
        </p:txBody>
      </p:sp>
      <p:sp>
        <p:nvSpPr>
          <p:cNvPr id="23" name="Text 21"/>
          <p:cNvSpPr/>
          <p:nvPr/>
        </p:nvSpPr>
        <p:spPr>
          <a:xfrm>
            <a:off x="886968"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búsqueda vectorial</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en LanceDB</a:t>
            </a:r>
            <a:endParaRPr lang="en-US" sz="1100" dirty="0"/>
          </a:p>
        </p:txBody>
      </p:sp>
      <p:sp>
        <p:nvSpPr>
          <p:cNvPr id="24" name="Shape 22"/>
          <p:cNvSpPr/>
          <p:nvPr/>
        </p:nvSpPr>
        <p:spPr>
          <a:xfrm>
            <a:off x="3182112" y="4800600"/>
            <a:ext cx="256032" cy="0"/>
          </a:xfrm>
          <a:prstGeom prst="line">
            <a:avLst/>
          </a:prstGeom>
          <a:noFill/>
          <a:ln w="19050">
            <a:solidFill>
              <a:srgbClr val="202CFC"/>
            </a:solidFill>
            <a:prstDash val="solid"/>
            <a:tailEnd type="triangle"/>
          </a:ln>
        </p:spPr>
      </p:sp>
      <p:sp>
        <p:nvSpPr>
          <p:cNvPr id="25" name="Shape 23"/>
          <p:cNvSpPr/>
          <p:nvPr/>
        </p:nvSpPr>
        <p:spPr>
          <a:xfrm>
            <a:off x="3511296" y="4343400"/>
            <a:ext cx="2331720" cy="914400"/>
          </a:xfrm>
          <a:prstGeom prst="roundRect">
            <a:avLst>
              <a:gd name="adj" fmla="val 6000"/>
            </a:avLst>
          </a:prstGeom>
          <a:solidFill>
            <a:srgbClr val="FFFFFF"/>
          </a:solidFill>
          <a:ln w="12700">
            <a:solidFill>
              <a:srgbClr val="C9CCD8"/>
            </a:solidFill>
            <a:prstDash val="solid"/>
          </a:ln>
        </p:spPr>
      </p:sp>
      <p:sp>
        <p:nvSpPr>
          <p:cNvPr id="26" name="Text 24"/>
          <p:cNvSpPr/>
          <p:nvPr/>
        </p:nvSpPr>
        <p:spPr>
          <a:xfrm>
            <a:off x="3621024"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Agente</a:t>
            </a:r>
            <a:endParaRPr lang="en-US" sz="1200" dirty="0"/>
          </a:p>
        </p:txBody>
      </p:sp>
      <p:sp>
        <p:nvSpPr>
          <p:cNvPr id="27" name="Text 25"/>
          <p:cNvSpPr/>
          <p:nvPr/>
        </p:nvSpPr>
        <p:spPr>
          <a:xfrm>
            <a:off x="3621024"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16 tools MCP</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 el modelo</a:t>
            </a:r>
            <a:endParaRPr lang="en-US" sz="1100" dirty="0"/>
          </a:p>
        </p:txBody>
      </p:sp>
      <p:sp>
        <p:nvSpPr>
          <p:cNvPr id="28" name="Shape 26"/>
          <p:cNvSpPr/>
          <p:nvPr/>
        </p:nvSpPr>
        <p:spPr>
          <a:xfrm>
            <a:off x="5916168" y="4800600"/>
            <a:ext cx="256032" cy="0"/>
          </a:xfrm>
          <a:prstGeom prst="line">
            <a:avLst/>
          </a:prstGeom>
          <a:noFill/>
          <a:ln w="19050">
            <a:solidFill>
              <a:srgbClr val="202CFC"/>
            </a:solidFill>
            <a:prstDash val="solid"/>
            <a:tailEnd type="triangle"/>
          </a:ln>
        </p:spPr>
      </p:sp>
      <p:sp>
        <p:nvSpPr>
          <p:cNvPr id="29" name="Shape 27"/>
          <p:cNvSpPr/>
          <p:nvPr/>
        </p:nvSpPr>
        <p:spPr>
          <a:xfrm>
            <a:off x="6245352" y="4343400"/>
            <a:ext cx="2331720" cy="914400"/>
          </a:xfrm>
          <a:prstGeom prst="roundRect">
            <a:avLst>
              <a:gd name="adj" fmla="val 6000"/>
            </a:avLst>
          </a:prstGeom>
          <a:solidFill>
            <a:srgbClr val="FFFFFF"/>
          </a:solidFill>
          <a:ln w="12700">
            <a:solidFill>
              <a:srgbClr val="C9CCD8"/>
            </a:solidFill>
            <a:prstDash val="solid"/>
          </a:ln>
        </p:spPr>
      </p:sp>
      <p:sp>
        <p:nvSpPr>
          <p:cNvPr id="30" name="Text 28"/>
          <p:cNvSpPr/>
          <p:nvPr/>
        </p:nvSpPr>
        <p:spPr>
          <a:xfrm>
            <a:off x="6355080"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Informe</a:t>
            </a:r>
            <a:endParaRPr lang="en-US" sz="1200" dirty="0"/>
          </a:p>
        </p:txBody>
      </p:sp>
      <p:sp>
        <p:nvSpPr>
          <p:cNvPr id="31" name="Text 29"/>
          <p:cNvSpPr/>
          <p:nvPr/>
        </p:nvSpPr>
        <p:spPr>
          <a:xfrm>
            <a:off x="6355080"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narrativa, severidad</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y recomendaciones</a:t>
            </a:r>
            <a:endParaRPr lang="en-US" sz="1100" dirty="0"/>
          </a:p>
        </p:txBody>
      </p:sp>
      <p:sp>
        <p:nvSpPr>
          <p:cNvPr id="32" name="Shape 30"/>
          <p:cNvSpPr/>
          <p:nvPr/>
        </p:nvSpPr>
        <p:spPr>
          <a:xfrm>
            <a:off x="8650224" y="4800600"/>
            <a:ext cx="256032" cy="0"/>
          </a:xfrm>
          <a:prstGeom prst="line">
            <a:avLst/>
          </a:prstGeom>
          <a:noFill/>
          <a:ln w="19050">
            <a:solidFill>
              <a:srgbClr val="202CFC"/>
            </a:solidFill>
            <a:prstDash val="solid"/>
            <a:tailEnd type="triangle"/>
          </a:ln>
        </p:spPr>
      </p:sp>
      <p:sp>
        <p:nvSpPr>
          <p:cNvPr id="33" name="Shape 31"/>
          <p:cNvSpPr/>
          <p:nvPr/>
        </p:nvSpPr>
        <p:spPr>
          <a:xfrm>
            <a:off x="8979408" y="4343400"/>
            <a:ext cx="2331720" cy="914400"/>
          </a:xfrm>
          <a:prstGeom prst="roundRect">
            <a:avLst>
              <a:gd name="adj" fmla="val 6000"/>
            </a:avLst>
          </a:prstGeom>
          <a:solidFill>
            <a:srgbClr val="FFFFFF"/>
          </a:solidFill>
          <a:ln w="12700">
            <a:solidFill>
              <a:srgbClr val="C9CCD8"/>
            </a:solidFill>
            <a:prstDash val="solid"/>
          </a:ln>
        </p:spPr>
      </p:sp>
      <p:sp>
        <p:nvSpPr>
          <p:cNvPr id="34" name="Text 32"/>
          <p:cNvSpPr/>
          <p:nvPr/>
        </p:nvSpPr>
        <p:spPr>
          <a:xfrm>
            <a:off x="9089136"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Se indexa</a:t>
            </a:r>
            <a:endParaRPr lang="en-US" sz="1200" dirty="0"/>
          </a:p>
        </p:txBody>
      </p:sp>
      <p:sp>
        <p:nvSpPr>
          <p:cNvPr id="35" name="Text 33"/>
          <p:cNvSpPr/>
          <p:nvPr/>
        </p:nvSpPr>
        <p:spPr>
          <a:xfrm>
            <a:off x="9089136"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el caso vuelve</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al catálogo</a:t>
            </a:r>
            <a:endParaRPr lang="en-US" sz="1100" dirty="0"/>
          </a:p>
        </p:txBody>
      </p:sp>
      <p:sp>
        <p:nvSpPr>
          <p:cNvPr id="36" name="Shape 34"/>
          <p:cNvSpPr/>
          <p:nvPr/>
        </p:nvSpPr>
        <p:spPr>
          <a:xfrm>
            <a:off x="1943100" y="5623560"/>
            <a:ext cx="8202168" cy="0"/>
          </a:xfrm>
          <a:prstGeom prst="line">
            <a:avLst/>
          </a:prstGeom>
          <a:noFill/>
          <a:ln w="12700">
            <a:solidFill>
              <a:srgbClr val="C9CCD8"/>
            </a:solidFill>
            <a:prstDash val="dash"/>
            <a:headEnd type="triangle"/>
          </a:ln>
        </p:spPr>
      </p:sp>
      <p:sp>
        <p:nvSpPr>
          <p:cNvPr id="37" name="Text 35"/>
          <p:cNvSpPr/>
          <p:nvPr/>
        </p:nvSpPr>
        <p:spPr>
          <a:xfrm>
            <a:off x="777240" y="5669280"/>
            <a:ext cx="10607040" cy="274320"/>
          </a:xfrm>
          <a:prstGeom prst="rect">
            <a:avLst/>
          </a:prstGeom>
          <a:noFill/>
          <a:ln/>
        </p:spPr>
        <p:txBody>
          <a:bodyPr wrap="square" lIns="0" tIns="0" rIns="0" bIns="0" rtlCol="0" anchor="ctr"/>
          <a:lstStyle/>
          <a:p>
            <a:pPr algn="ctr" indent="0" marL="0">
              <a:buNone/>
            </a:pPr>
            <a:r>
              <a:rPr lang="en-US" sz="1100" i="1" dirty="0">
                <a:solidFill>
                  <a:srgbClr val="5A5F73"/>
                </a:solidFill>
                <a:latin typeface="Calibri" pitchFamily="34" charset="0"/>
                <a:ea typeface="Calibri" pitchFamily="34" charset="-122"/>
                <a:cs typeface="Calibri" pitchFamily="34" charset="-120"/>
              </a:rPr>
              <a:t>lo aprendido alimenta el siguiente diagnóstico</a:t>
            </a:r>
            <a:endParaRPr lang="en-US" sz="1100" dirty="0"/>
          </a:p>
        </p:txBody>
      </p:sp>
      <p:sp>
        <p:nvSpPr>
          <p:cNvPr id="38" name="Shape 36"/>
          <p:cNvSpPr/>
          <p:nvPr/>
        </p:nvSpPr>
        <p:spPr>
          <a:xfrm>
            <a:off x="777240" y="6263640"/>
            <a:ext cx="219456" cy="219456"/>
          </a:xfrm>
          <a:prstGeom prst="rect">
            <a:avLst/>
          </a:prstGeom>
          <a:solidFill>
            <a:srgbClr val="202CFC"/>
          </a:solidFill>
          <a:ln/>
        </p:spPr>
      </p:sp>
      <p:sp>
        <p:nvSpPr>
          <p:cNvPr id="39" name="Text 3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0" name="Text 3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1" name="Text 3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2026-08-25T21:17:48Z</dcterms:created>
  <dcterms:modified xsi:type="dcterms:W3CDTF">2026-08-25T21:17:48Z</dcterms:modified>
</cp:coreProperties>
</file>