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entera. Lo importante no es la lista de piezas, es quién llama a quién.
Arriba el mecánico, con la interfaz en React y su sesión. Habla con la API, y las flechas son de ida y vuelta porque son peticiones y respuestas.
En el centro, en oscuro, está el núcleo: los casos de uso y el dominio. Ahí viven las fórmulas de la SAE J1979, los catálogos y la decodificación del VIN. Ese bloque no sabe nada de lo que hay debajo.
Debajo, los tres adaptadores. El transporte OBD, que habla con el ELM327 por puerto serie o por TCP y negocia el protocolo del bus. La persistencia, con SQLite para lo relacional y LanceDB para lo vectorial. Y el servidor MCP, que expone las dieciséis herramientas.
Y abajo del todo, lo que hay al otro lado: el coche, con su bus CAN, o uno de los tres emuladores; y el modelo, Anthropic u OpenAI, más la búsqueda web.
Fijaos en las flechas discontinuas del centro, que son lo que hace que esto sea un sistema y no una tubería: cuando el agente pide una herramienta, esa herramienta vuelve a entrar por los mismos adaptadores. Lee el coche por el mismo transporte y escribe en el mismo catálogo. No hay una puerta trasera para la IA.
[~75 s · acumulado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13:15]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16:10]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El sistema de un vistazo</a:t>
            </a:r>
            <a:endParaRPr lang="en-US" sz="3000" dirty="0"/>
          </a:p>
        </p:txBody>
      </p:sp>
      <p:sp>
        <p:nvSpPr>
          <p:cNvPr id="3" name="Text 1"/>
          <p:cNvSpPr/>
          <p:nvPr/>
        </p:nvSpPr>
        <p:spPr>
          <a:xfrm>
            <a:off x="640080" y="1115568"/>
            <a:ext cx="1088136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Quién llama a quién. Todo lo de fuera entra por un puerto.</a:t>
            </a:r>
            <a:endParaRPr lang="en-US" sz="1400" dirty="0"/>
          </a:p>
        </p:txBody>
      </p:sp>
      <p:sp>
        <p:nvSpPr>
          <p:cNvPr id="4" name="Shape 2"/>
          <p:cNvSpPr/>
          <p:nvPr/>
        </p:nvSpPr>
        <p:spPr>
          <a:xfrm>
            <a:off x="4709160" y="1572768"/>
            <a:ext cx="2743200" cy="658368"/>
          </a:xfrm>
          <a:prstGeom prst="roundRect">
            <a:avLst>
              <a:gd name="adj" fmla="val 6944"/>
            </a:avLst>
          </a:prstGeom>
          <a:solidFill>
            <a:srgbClr val="FFFFFF"/>
          </a:solidFill>
          <a:ln w="12700">
            <a:solidFill>
              <a:srgbClr val="C9CCD8"/>
            </a:solidFill>
            <a:prstDash val="solid"/>
          </a:ln>
        </p:spPr>
      </p:sp>
      <p:sp>
        <p:nvSpPr>
          <p:cNvPr id="5" name="Text 3"/>
          <p:cNvSpPr/>
          <p:nvPr/>
        </p:nvSpPr>
        <p:spPr>
          <a:xfrm>
            <a:off x="4782312" y="1664208"/>
            <a:ext cx="2596896" cy="256032"/>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El mecánico</a:t>
            </a:r>
            <a:endParaRPr lang="en-US" sz="1100" dirty="0"/>
          </a:p>
        </p:txBody>
      </p:sp>
      <p:sp>
        <p:nvSpPr>
          <p:cNvPr id="6" name="Text 4"/>
          <p:cNvSpPr/>
          <p:nvPr/>
        </p:nvSpPr>
        <p:spPr>
          <a:xfrm>
            <a:off x="4782312" y="1920240"/>
            <a:ext cx="2596896" cy="384048"/>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React 19 · sesión JWT</a:t>
            </a:r>
            <a:endParaRPr lang="en-US" sz="900" dirty="0"/>
          </a:p>
        </p:txBody>
      </p:sp>
      <p:sp>
        <p:nvSpPr>
          <p:cNvPr id="7" name="Shape 5"/>
          <p:cNvSpPr/>
          <p:nvPr/>
        </p:nvSpPr>
        <p:spPr>
          <a:xfrm>
            <a:off x="6080760" y="2231136"/>
            <a:ext cx="0" cy="310896"/>
          </a:xfrm>
          <a:prstGeom prst="line">
            <a:avLst/>
          </a:prstGeom>
          <a:noFill/>
          <a:ln w="15875">
            <a:solidFill>
              <a:srgbClr val="202CFC"/>
            </a:solidFill>
            <a:prstDash val="solid"/>
            <a:headEnd type="triangle"/>
            <a:tailEnd type="triangle"/>
          </a:ln>
        </p:spPr>
      </p:sp>
      <p:sp>
        <p:nvSpPr>
          <p:cNvPr id="8" name="Shape 6"/>
          <p:cNvSpPr/>
          <p:nvPr/>
        </p:nvSpPr>
        <p:spPr>
          <a:xfrm>
            <a:off x="960120" y="2542032"/>
            <a:ext cx="10881360" cy="777240"/>
          </a:xfrm>
          <a:prstGeom prst="roundRect">
            <a:avLst>
              <a:gd name="adj" fmla="val 5882"/>
            </a:avLst>
          </a:prstGeom>
          <a:solidFill>
            <a:srgbClr val="1A1C2E"/>
          </a:solidFill>
          <a:ln w="12700">
            <a:solidFill>
              <a:srgbClr val="1A1C2E"/>
            </a:solidFill>
            <a:prstDash val="solid"/>
          </a:ln>
        </p:spPr>
      </p:sp>
      <p:sp>
        <p:nvSpPr>
          <p:cNvPr id="9" name="Text 7"/>
          <p:cNvSpPr/>
          <p:nvPr/>
        </p:nvSpPr>
        <p:spPr>
          <a:xfrm>
            <a:off x="1033272" y="2633472"/>
            <a:ext cx="1073505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API: casos de uso + dominio</a:t>
            </a:r>
            <a:endParaRPr lang="en-US" sz="1100" dirty="0"/>
          </a:p>
        </p:txBody>
      </p:sp>
      <p:sp>
        <p:nvSpPr>
          <p:cNvPr id="10" name="Text 8"/>
          <p:cNvSpPr/>
          <p:nvPr/>
        </p:nvSpPr>
        <p:spPr>
          <a:xfrm>
            <a:off x="1033272" y="2889504"/>
            <a:ext cx="10735056" cy="384048"/>
          </a:xfrm>
          <a:prstGeom prst="rect">
            <a:avLst/>
          </a:prstGeom>
          <a:noFill/>
          <a:ln/>
        </p:spPr>
        <p:txBody>
          <a:bodyPr wrap="square" lIns="0" tIns="0" rIns="0" bIns="0" rtlCol="0" anchor="t"/>
          <a:lstStyle/>
          <a:p>
            <a:pPr algn="ctr" indent="0" marL="0">
              <a:lnSpc>
                <a:spcPts val="1100"/>
              </a:lnSpc>
              <a:buNone/>
            </a:pPr>
            <a:r>
              <a:rPr lang="en-US" sz="900" dirty="0">
                <a:solidFill>
                  <a:srgbClr val="B8BCCC"/>
                </a:solidFill>
                <a:latin typeface="Calibri" pitchFamily="34" charset="0"/>
                <a:ea typeface="Calibri" pitchFamily="34" charset="-122"/>
                <a:cs typeface="Calibri" pitchFamily="34" charset="-120"/>
              </a:rPr>
              <a:t>fórmulas SAE J1979 · catálogos · decodificación del VIN</a:t>
            </a:r>
            <a:endParaRPr lang="en-US" sz="900" dirty="0"/>
          </a:p>
        </p:txBody>
      </p:sp>
      <p:sp>
        <p:nvSpPr>
          <p:cNvPr id="11" name="Shape 9"/>
          <p:cNvSpPr/>
          <p:nvPr/>
        </p:nvSpPr>
        <p:spPr>
          <a:xfrm>
            <a:off x="2560320" y="3319272"/>
            <a:ext cx="0" cy="475488"/>
          </a:xfrm>
          <a:prstGeom prst="line">
            <a:avLst/>
          </a:prstGeom>
          <a:noFill/>
          <a:ln w="15875">
            <a:solidFill>
              <a:srgbClr val="202CFC"/>
            </a:solidFill>
            <a:prstDash val="solid"/>
            <a:headEnd type="triangle"/>
            <a:tailEnd type="triangle"/>
          </a:ln>
        </p:spPr>
      </p:sp>
      <p:sp>
        <p:nvSpPr>
          <p:cNvPr id="12" name="Shape 10"/>
          <p:cNvSpPr/>
          <p:nvPr/>
        </p:nvSpPr>
        <p:spPr>
          <a:xfrm>
            <a:off x="6400800" y="3319272"/>
            <a:ext cx="0" cy="475488"/>
          </a:xfrm>
          <a:prstGeom prst="line">
            <a:avLst/>
          </a:prstGeom>
          <a:noFill/>
          <a:ln w="15875">
            <a:solidFill>
              <a:srgbClr val="202CFC"/>
            </a:solidFill>
            <a:prstDash val="solid"/>
            <a:headEnd type="triangle"/>
            <a:tailEnd type="triangle"/>
          </a:ln>
        </p:spPr>
      </p:sp>
      <p:sp>
        <p:nvSpPr>
          <p:cNvPr id="13" name="Shape 11"/>
          <p:cNvSpPr/>
          <p:nvPr/>
        </p:nvSpPr>
        <p:spPr>
          <a:xfrm>
            <a:off x="10241280" y="3319272"/>
            <a:ext cx="0" cy="475488"/>
          </a:xfrm>
          <a:prstGeom prst="line">
            <a:avLst/>
          </a:prstGeom>
          <a:noFill/>
          <a:ln w="15875">
            <a:solidFill>
              <a:srgbClr val="202CFC"/>
            </a:solidFill>
            <a:prstDash val="solid"/>
            <a:headEnd type="triangle"/>
            <a:tailEnd type="triangle"/>
          </a:ln>
        </p:spPr>
      </p:sp>
      <p:sp>
        <p:nvSpPr>
          <p:cNvPr id="14" name="Shape 12"/>
          <p:cNvSpPr/>
          <p:nvPr/>
        </p:nvSpPr>
        <p:spPr>
          <a:xfrm>
            <a:off x="960120" y="3794760"/>
            <a:ext cx="3200400" cy="868680"/>
          </a:xfrm>
          <a:prstGeom prst="roundRect">
            <a:avLst>
              <a:gd name="adj" fmla="val 5263"/>
            </a:avLst>
          </a:prstGeom>
          <a:solidFill>
            <a:srgbClr val="FFFFFF"/>
          </a:solidFill>
          <a:ln w="12700">
            <a:solidFill>
              <a:srgbClr val="C9CCD8"/>
            </a:solidFill>
            <a:prstDash val="solid"/>
          </a:ln>
        </p:spPr>
      </p:sp>
      <p:sp>
        <p:nvSpPr>
          <p:cNvPr id="15" name="Text 13"/>
          <p:cNvSpPr/>
          <p:nvPr/>
        </p:nvSpPr>
        <p:spPr>
          <a:xfrm>
            <a:off x="1033272" y="3886200"/>
            <a:ext cx="3054096" cy="256032"/>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Transporte OBD</a:t>
            </a:r>
            <a:endParaRPr lang="en-US" sz="1100" dirty="0"/>
          </a:p>
        </p:txBody>
      </p:sp>
      <p:sp>
        <p:nvSpPr>
          <p:cNvPr id="16" name="Text 14"/>
          <p:cNvSpPr/>
          <p:nvPr/>
        </p:nvSpPr>
        <p:spPr>
          <a:xfrm>
            <a:off x="1033272" y="4142232"/>
            <a:ext cx="3054096" cy="384048"/>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ELM327 por serie o TCP</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negocia el protocolo</a:t>
            </a:r>
            <a:endParaRPr lang="en-US" sz="900" dirty="0"/>
          </a:p>
        </p:txBody>
      </p:sp>
      <p:sp>
        <p:nvSpPr>
          <p:cNvPr id="17" name="Shape 15"/>
          <p:cNvSpPr/>
          <p:nvPr/>
        </p:nvSpPr>
        <p:spPr>
          <a:xfrm>
            <a:off x="4800600" y="3794760"/>
            <a:ext cx="3200400" cy="868680"/>
          </a:xfrm>
          <a:prstGeom prst="roundRect">
            <a:avLst>
              <a:gd name="adj" fmla="val 5263"/>
            </a:avLst>
          </a:prstGeom>
          <a:solidFill>
            <a:srgbClr val="FFFFFF"/>
          </a:solidFill>
          <a:ln w="12700">
            <a:solidFill>
              <a:srgbClr val="C9CCD8"/>
            </a:solidFill>
            <a:prstDash val="solid"/>
          </a:ln>
        </p:spPr>
      </p:sp>
      <p:sp>
        <p:nvSpPr>
          <p:cNvPr id="18" name="Text 16"/>
          <p:cNvSpPr/>
          <p:nvPr/>
        </p:nvSpPr>
        <p:spPr>
          <a:xfrm>
            <a:off x="4873752" y="3886200"/>
            <a:ext cx="3054096" cy="256032"/>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Persistencia</a:t>
            </a:r>
            <a:endParaRPr lang="en-US" sz="1100" dirty="0"/>
          </a:p>
        </p:txBody>
      </p:sp>
      <p:sp>
        <p:nvSpPr>
          <p:cNvPr id="19" name="Text 17"/>
          <p:cNvSpPr/>
          <p:nvPr/>
        </p:nvSpPr>
        <p:spPr>
          <a:xfrm>
            <a:off x="4873752" y="4142232"/>
            <a:ext cx="3054096" cy="384048"/>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SQLite · 13 tablas</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LanceDB · 4 índices</a:t>
            </a:r>
            <a:endParaRPr lang="en-US" sz="900" dirty="0"/>
          </a:p>
        </p:txBody>
      </p:sp>
      <p:sp>
        <p:nvSpPr>
          <p:cNvPr id="20" name="Shape 18"/>
          <p:cNvSpPr/>
          <p:nvPr/>
        </p:nvSpPr>
        <p:spPr>
          <a:xfrm>
            <a:off x="8641080" y="3794760"/>
            <a:ext cx="3200400" cy="868680"/>
          </a:xfrm>
          <a:prstGeom prst="roundRect">
            <a:avLst>
              <a:gd name="adj" fmla="val 5263"/>
            </a:avLst>
          </a:prstGeom>
          <a:solidFill>
            <a:srgbClr val="FFFFFF"/>
          </a:solidFill>
          <a:ln w="12700">
            <a:solidFill>
              <a:srgbClr val="C9CCD8"/>
            </a:solidFill>
            <a:prstDash val="solid"/>
          </a:ln>
        </p:spPr>
      </p:sp>
      <p:sp>
        <p:nvSpPr>
          <p:cNvPr id="21" name="Text 19"/>
          <p:cNvSpPr/>
          <p:nvPr/>
        </p:nvSpPr>
        <p:spPr>
          <a:xfrm>
            <a:off x="8714232" y="3886200"/>
            <a:ext cx="3054096" cy="256032"/>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Servidor MCP</a:t>
            </a:r>
            <a:endParaRPr lang="en-US" sz="1100" dirty="0"/>
          </a:p>
        </p:txBody>
      </p:sp>
      <p:sp>
        <p:nvSpPr>
          <p:cNvPr id="22" name="Text 20"/>
          <p:cNvSpPr/>
          <p:nvPr/>
        </p:nvSpPr>
        <p:spPr>
          <a:xfrm>
            <a:off x="8714232" y="4142232"/>
            <a:ext cx="3054096" cy="384048"/>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16 herramientas</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declaradas con su esquema</a:t>
            </a:r>
            <a:endParaRPr lang="en-US" sz="900" dirty="0"/>
          </a:p>
        </p:txBody>
      </p:sp>
      <p:sp>
        <p:nvSpPr>
          <p:cNvPr id="23" name="Shape 21"/>
          <p:cNvSpPr/>
          <p:nvPr/>
        </p:nvSpPr>
        <p:spPr>
          <a:xfrm>
            <a:off x="4233672" y="4233672"/>
            <a:ext cx="493776" cy="0"/>
          </a:xfrm>
          <a:prstGeom prst="line">
            <a:avLst/>
          </a:prstGeom>
          <a:noFill/>
          <a:ln w="12700">
            <a:solidFill>
              <a:srgbClr val="9AA0B4"/>
            </a:solidFill>
            <a:prstDash val="dash"/>
            <a:headEnd type="triangle"/>
          </a:ln>
        </p:spPr>
      </p:sp>
      <p:sp>
        <p:nvSpPr>
          <p:cNvPr id="24" name="Shape 22"/>
          <p:cNvSpPr/>
          <p:nvPr/>
        </p:nvSpPr>
        <p:spPr>
          <a:xfrm>
            <a:off x="8074152" y="4233672"/>
            <a:ext cx="493776" cy="0"/>
          </a:xfrm>
          <a:prstGeom prst="line">
            <a:avLst/>
          </a:prstGeom>
          <a:noFill/>
          <a:ln w="12700">
            <a:solidFill>
              <a:srgbClr val="9AA0B4"/>
            </a:solidFill>
            <a:prstDash val="dash"/>
            <a:headEnd type="triangle"/>
          </a:ln>
        </p:spPr>
      </p:sp>
      <p:sp>
        <p:nvSpPr>
          <p:cNvPr id="25" name="Shape 23"/>
          <p:cNvSpPr/>
          <p:nvPr/>
        </p:nvSpPr>
        <p:spPr>
          <a:xfrm>
            <a:off x="2560320" y="4663440"/>
            <a:ext cx="0" cy="566928"/>
          </a:xfrm>
          <a:prstGeom prst="line">
            <a:avLst/>
          </a:prstGeom>
          <a:noFill/>
          <a:ln w="15875">
            <a:solidFill>
              <a:srgbClr val="202CFC"/>
            </a:solidFill>
            <a:prstDash val="solid"/>
            <a:headEnd type="triangle"/>
            <a:tailEnd type="triangle"/>
          </a:ln>
        </p:spPr>
      </p:sp>
      <p:sp>
        <p:nvSpPr>
          <p:cNvPr id="26" name="Shape 24"/>
          <p:cNvSpPr/>
          <p:nvPr/>
        </p:nvSpPr>
        <p:spPr>
          <a:xfrm>
            <a:off x="10241280" y="4663440"/>
            <a:ext cx="0" cy="566928"/>
          </a:xfrm>
          <a:prstGeom prst="line">
            <a:avLst/>
          </a:prstGeom>
          <a:noFill/>
          <a:ln w="15875">
            <a:solidFill>
              <a:srgbClr val="202CFC"/>
            </a:solidFill>
            <a:prstDash val="solid"/>
            <a:headEnd type="triangle"/>
            <a:tailEnd type="triangle"/>
          </a:ln>
        </p:spPr>
      </p:sp>
      <p:sp>
        <p:nvSpPr>
          <p:cNvPr id="27" name="Shape 25"/>
          <p:cNvSpPr/>
          <p:nvPr/>
        </p:nvSpPr>
        <p:spPr>
          <a:xfrm>
            <a:off x="960120" y="5230368"/>
            <a:ext cx="3200400" cy="822960"/>
          </a:xfrm>
          <a:prstGeom prst="roundRect">
            <a:avLst>
              <a:gd name="adj" fmla="val 5556"/>
            </a:avLst>
          </a:prstGeom>
          <a:solidFill>
            <a:srgbClr val="FFFFFF"/>
          </a:solidFill>
          <a:ln w="12700">
            <a:solidFill>
              <a:srgbClr val="C9CCD8"/>
            </a:solidFill>
            <a:prstDash val="solid"/>
          </a:ln>
        </p:spPr>
      </p:sp>
      <p:sp>
        <p:nvSpPr>
          <p:cNvPr id="28" name="Text 26"/>
          <p:cNvSpPr/>
          <p:nvPr/>
        </p:nvSpPr>
        <p:spPr>
          <a:xfrm>
            <a:off x="1033272" y="5321808"/>
            <a:ext cx="3054096" cy="256032"/>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El coche</a:t>
            </a:r>
            <a:endParaRPr lang="en-US" sz="1100" dirty="0"/>
          </a:p>
        </p:txBody>
      </p:sp>
      <p:sp>
        <p:nvSpPr>
          <p:cNvPr id="29" name="Text 27"/>
          <p:cNvSpPr/>
          <p:nvPr/>
        </p:nvSpPr>
        <p:spPr>
          <a:xfrm>
            <a:off x="1033272" y="5577840"/>
            <a:ext cx="3054096" cy="384048"/>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bus CAN · ISO 15765-4</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o uno de los 3 emuladores</a:t>
            </a:r>
            <a:endParaRPr lang="en-US" sz="900" dirty="0"/>
          </a:p>
        </p:txBody>
      </p:sp>
      <p:sp>
        <p:nvSpPr>
          <p:cNvPr id="30" name="Shape 28"/>
          <p:cNvSpPr/>
          <p:nvPr/>
        </p:nvSpPr>
        <p:spPr>
          <a:xfrm>
            <a:off x="8641080" y="5230368"/>
            <a:ext cx="3200400" cy="822960"/>
          </a:xfrm>
          <a:prstGeom prst="roundRect">
            <a:avLst>
              <a:gd name="adj" fmla="val 5556"/>
            </a:avLst>
          </a:prstGeom>
          <a:solidFill>
            <a:srgbClr val="FFFFFF"/>
          </a:solidFill>
          <a:ln w="12700">
            <a:solidFill>
              <a:srgbClr val="C9CCD8"/>
            </a:solidFill>
            <a:prstDash val="solid"/>
          </a:ln>
        </p:spPr>
      </p:sp>
      <p:sp>
        <p:nvSpPr>
          <p:cNvPr id="31" name="Text 29"/>
          <p:cNvSpPr/>
          <p:nvPr/>
        </p:nvSpPr>
        <p:spPr>
          <a:xfrm>
            <a:off x="8714232" y="5321808"/>
            <a:ext cx="3054096" cy="256032"/>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El modelo</a:t>
            </a:r>
            <a:endParaRPr lang="en-US" sz="1100" dirty="0"/>
          </a:p>
        </p:txBody>
      </p:sp>
      <p:sp>
        <p:nvSpPr>
          <p:cNvPr id="32" name="Text 30"/>
          <p:cNvSpPr/>
          <p:nvPr/>
        </p:nvSpPr>
        <p:spPr>
          <a:xfrm>
            <a:off x="8714232" y="5577840"/>
            <a:ext cx="3054096" cy="384048"/>
          </a:xfrm>
          <a:prstGeom prst="rect">
            <a:avLst/>
          </a:prstGeom>
          <a:noFill/>
          <a:ln/>
        </p:spPr>
        <p:txBody>
          <a:bodyPr wrap="square" lIns="0" tIns="0" rIns="0" bIns="0" rtlCol="0" anchor="t"/>
          <a:lstStyle/>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Anthropic u OpenAI</a:t>
            </a:r>
            <a:endParaRPr lang="en-US" sz="900" dirty="0"/>
          </a:p>
          <a:p>
            <a:pPr algn="ctr" indent="0" marL="0">
              <a:lnSpc>
                <a:spcPts val="1100"/>
              </a:lnSpc>
              <a:buNone/>
            </a:pPr>
            <a:r>
              <a:rPr lang="en-US" sz="900" dirty="0">
                <a:solidFill>
                  <a:srgbClr val="5A5F73"/>
                </a:solidFill>
                <a:latin typeface="Calibri" pitchFamily="34" charset="0"/>
                <a:ea typeface="Calibri" pitchFamily="34" charset="-122"/>
                <a:cs typeface="Calibri" pitchFamily="34" charset="-120"/>
              </a:rPr>
              <a:t>y búsqueda web con presupuesto</a:t>
            </a:r>
            <a:endParaRPr lang="en-US" sz="900" dirty="0"/>
          </a:p>
        </p:txBody>
      </p:sp>
      <p:sp>
        <p:nvSpPr>
          <p:cNvPr id="33" name="Text 31"/>
          <p:cNvSpPr/>
          <p:nvPr/>
        </p:nvSpPr>
        <p:spPr>
          <a:xfrm>
            <a:off x="4434840" y="6172200"/>
            <a:ext cx="3931920" cy="548640"/>
          </a:xfrm>
          <a:prstGeom prst="rect">
            <a:avLst/>
          </a:prstGeom>
          <a:noFill/>
          <a:ln/>
        </p:spPr>
        <p:txBody>
          <a:bodyPr wrap="square" lIns="0" tIns="0" rIns="0" bIns="0" rtlCol="0" anchor="t"/>
          <a:lstStyle/>
          <a:p>
            <a:pPr algn="ctr" indent="0" marL="0">
              <a:lnSpc>
                <a:spcPts val="1100"/>
              </a:lnSpc>
              <a:buNone/>
            </a:pPr>
            <a:r>
              <a:rPr lang="en-US" sz="900" i="1" dirty="0">
                <a:solidFill>
                  <a:srgbClr val="5A5F73"/>
                </a:solidFill>
                <a:latin typeface="Calibri" pitchFamily="34" charset="0"/>
                <a:ea typeface="Calibri" pitchFamily="34" charset="-122"/>
                <a:cs typeface="Calibri" pitchFamily="34" charset="-120"/>
              </a:rPr>
              <a:t>Las herramientas del agente vuelven a entrar por los mismos adaptadores: leen el coche y escriben en el catálogo.</a:t>
            </a:r>
            <a:endParaRPr lang="en-US" sz="9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2026-08-25T21:27:36Z</dcterms:created>
  <dcterms:modified xsi:type="dcterms:W3CDTF">2026-08-25T21:27:36Z</dcterms:modified>
</cp:coreProperties>
</file>