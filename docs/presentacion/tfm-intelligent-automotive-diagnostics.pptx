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Buenos días. Soy Jesús Ángel Novillo y presento mi Trabajo Fin de Máster del Máster en Desarrollo con IA de BIG school.
El proyecto se llama Intelligent Automotive Diagnostics: una herramienta que se conecta al coche por el puerto OBD-II, lee sus datos reales y razona sobre ellos con un modelo de lenguaje.
Lo de la derecha no es una maqueta: es la aplicación funcionando, mostrando tres averías que acaba de leer de la centralita.
[~15 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Hoy llegas con una máquina de diagnosis, la conectas, y te da diez códigos de error. Cada uno te dice una cosa: válvula EGR obstruida, filtro de partículas lleno.
Vale. Pero esa válvula se ha obstruido por alguna circunstancia, y ese filtro se ha llenado por alguna circunstancia. Y eso la máquina no te lo dice.
Te deja la lista delante, y el trabajo de averiguar el porqué sigue entero por hacer.
[~45 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¿Cuál es la gracia que tiene esta aplicación con la IA? Que con esos dos códigos y esos datos, el agente dice: vale, tengo el P0401, que es la válvula EGR obstruida, y el P2002, que es el filtro de partículas lleno. Voy a mirar a ver por qué puede ser esto.
Y hace una diagnosis: esto se produce, puede ser por esto o puede ser por lo otro. Le da al mecánico una serie de opciones.
Y además le dice qué pasos puede seguir para llegar a determinar de dónde viene el problema. Eso es lo que hace la aplicación.
[~55 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¿Por qué Clean Architecture y no otra cosa? Porque en este proyecto el dominio no es algo que me haya inventado yo: son normas. SAE J1979, ISO 15031, ISO 15765-4 para el bus CAN, ISO 3779 para el VIN. Las fórmulas que convierten cada PID en una magnitud física, y la decodificación del bastidor. Eso no lo cambia nadie, y no puede estar mezclado con el acceso a datos ni con el modelo de lenguaje.
¿Y por qué no orientada a eventos? Porque aquí no hay varios servicios que desacoplar: es un solo proceso. El flujo es síncrono, el mecánico pregunta y se queda esperando. Un broker y colas me traerían consistencia eventual y mucha más superficie de depuración sin ganar nada. Y soy un solo programador: cuantas más piezas móviles, más sitio donde romper.
Abajo está el ejemplo concreto de este proyecto. En el dominio, los value objects y los catálogos. En aplicación, los casos de uso y los puertos, que dicen qué hace falta pero no cómo. Y en infraestructura el cómo: Express, Drizzle sobre SQLite, LanceDB, el servidor MCP y el transporte del ELM327.
El dominio no sabe que existe SQLite, ni Express, ni ningún modelo de lenguaje.
[~80 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20840" y="-91440"/>
            <a:ext cx="5760720" cy="7040880"/>
          </a:xfrm>
          <a:prstGeom prst="rect">
            <a:avLst/>
          </a:prstGeom>
          <a:solidFill>
            <a:srgbClr val="1A1C2E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" y="685800"/>
            <a:ext cx="475488" cy="475488"/>
          </a:xfrm>
          <a:prstGeom prst="rect">
            <a:avLst/>
          </a:prstGeom>
          <a:solidFill>
            <a:srgbClr val="202CFC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6858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68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</a:t>
            </a:r>
            <a:endParaRPr lang="en-US" sz="1768" dirty="0"/>
          </a:p>
        </p:txBody>
      </p:sp>
      <p:sp>
        <p:nvSpPr>
          <p:cNvPr id="5" name="Text 3"/>
          <p:cNvSpPr/>
          <p:nvPr/>
        </p:nvSpPr>
        <p:spPr>
          <a:xfrm>
            <a:off x="1335024" y="685800"/>
            <a:ext cx="14264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68" dirty="0">
                <a:solidFill>
                  <a:srgbClr val="1A1C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</a:t>
            </a:r>
            <a:endParaRPr lang="en-US" sz="1768" dirty="0"/>
          </a:p>
        </p:txBody>
      </p:sp>
      <p:sp>
        <p:nvSpPr>
          <p:cNvPr id="6" name="Text 4"/>
          <p:cNvSpPr/>
          <p:nvPr/>
        </p:nvSpPr>
        <p:spPr>
          <a:xfrm>
            <a:off x="777240" y="2148840"/>
            <a:ext cx="5577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1A1C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Intelligent Automotive
</a:t>
            </a:r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202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Diagnostics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77240" y="397764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OBD-II asistido por IA agéntica sobre el protocolo MCP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53492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C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Jesús Ángel Novillo Lucas-Vaquero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568756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Fin de Máster  ·  Máster en Desarrollo con IA  ·  BIG school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114032" y="214884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HERRAMIENTA, EN FUNCIONAMIENTO</a:t>
            </a:r>
            <a:endParaRPr lang="en-US" sz="1000" dirty="0"/>
          </a:p>
        </p:txBody>
      </p:sp>
      <p:pic>
        <p:nvPicPr>
          <p:cNvPr id="11" name="Image 0" descr="/home/user/intelligent-automotive-diagnostics/docs/presentacion/capturas/recortes/03-codigos-dt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4032" y="2697480"/>
            <a:ext cx="4654296" cy="1453896"/>
          </a:xfrm>
          <a:prstGeom prst="rect">
            <a:avLst/>
          </a:prstGeom>
          <a:effectLst>
            <a:outerShdw sx="100000" sy="100000" kx="0" ky="0" algn="bl" rotWithShape="0" blurRad="254000" dist="63500" dir="81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6858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C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te da la máquina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77240" y="20116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02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 da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77240" y="260604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P0301   Fallo de encendido en el cilindro 1</a:t>
            </a:r>
            <a:endParaRPr lang="en-US" sz="16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P0401   Válvula EGR obstruida</a:t>
            </a:r>
            <a:endParaRPr lang="en-US" sz="16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P2002   Filtro de partículas lleno</a:t>
            </a:r>
            <a:endParaRPr lang="en-US" sz="16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así hasta diez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537960" y="20116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02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 da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537960" y="260604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se ha obstruido la válvula</a:t>
            </a:r>
            <a:endParaRPr lang="en-US" sz="16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se ha llenado el filtro</a:t>
            </a:r>
            <a:endParaRPr lang="en-US" sz="16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tiene que ver un código con otro</a:t>
            </a:r>
            <a:endParaRPr lang="en-US" sz="16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dónde empezar a mirar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77240" y="6263640"/>
            <a:ext cx="219456" cy="219456"/>
          </a:xfrm>
          <a:prstGeom prst="rect">
            <a:avLst/>
          </a:prstGeom>
          <a:solidFill>
            <a:srgbClr val="202CFC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626364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16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</a:t>
            </a:r>
            <a:endParaRPr lang="en-US" sz="816" dirty="0"/>
          </a:p>
        </p:txBody>
      </p:sp>
      <p:sp>
        <p:nvSpPr>
          <p:cNvPr id="9" name="Text 7"/>
          <p:cNvSpPr/>
          <p:nvPr/>
        </p:nvSpPr>
        <p:spPr>
          <a:xfrm>
            <a:off x="1078992" y="6263640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16" dirty="0">
                <a:solidFill>
                  <a:srgbClr val="1A1C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</a:t>
            </a:r>
            <a:endParaRPr lang="en-US" sz="816" dirty="0"/>
          </a:p>
        </p:txBody>
      </p:sp>
      <p:sp>
        <p:nvSpPr>
          <p:cNvPr id="10" name="Text 8"/>
          <p:cNvSpPr/>
          <p:nvPr/>
        </p:nvSpPr>
        <p:spPr>
          <a:xfrm>
            <a:off x="11064240" y="6263640"/>
            <a:ext cx="320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6858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C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hace la aplicación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77240" y="16002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esos mismos códigos y los datos del coche.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777240" y="2606040"/>
            <a:ext cx="10058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800"/>
              </a:lnSpc>
              <a:spcAft>
                <a:spcPts val="2200"/>
              </a:spcAft>
              <a:buSzPct val="100000"/>
              <a:buChar char="•"/>
            </a:pPr>
            <a:r>
              <a:rPr lang="en-US" sz="20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 por qué puede estar pasando eso</a:t>
            </a:r>
            <a:endParaRPr lang="en-US" sz="2000" dirty="0"/>
          </a:p>
          <a:p>
            <a:pPr marL="342900" indent="-342900">
              <a:lnSpc>
                <a:spcPts val="2800"/>
              </a:lnSpc>
              <a:spcAft>
                <a:spcPts val="2200"/>
              </a:spcAft>
              <a:buSzPct val="100000"/>
              <a:buChar char="•"/>
            </a:pPr>
            <a:r>
              <a:rPr lang="en-US" sz="20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da al mecánico una serie de opciones, no una sola causa</a:t>
            </a:r>
            <a:endParaRPr lang="en-US" sz="2000" dirty="0"/>
          </a:p>
          <a:p>
            <a:pPr marL="342900" indent="-342900">
              <a:lnSpc>
                <a:spcPts val="2800"/>
              </a:lnSpc>
              <a:spcAft>
                <a:spcPts val="2200"/>
              </a:spcAft>
              <a:buSzPct val="100000"/>
              <a:buChar char="•"/>
            </a:pPr>
            <a:r>
              <a:rPr lang="en-US" sz="20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los pasos a seguir para determinar de dónde viene el problema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77240" y="6263640"/>
            <a:ext cx="219456" cy="219456"/>
          </a:xfrm>
          <a:prstGeom prst="rect">
            <a:avLst/>
          </a:prstGeom>
          <a:solidFill>
            <a:srgbClr val="202CFC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626364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16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</a:t>
            </a:r>
            <a:endParaRPr lang="en-US" sz="816" dirty="0"/>
          </a:p>
        </p:txBody>
      </p:sp>
      <p:sp>
        <p:nvSpPr>
          <p:cNvPr id="7" name="Text 5"/>
          <p:cNvSpPr/>
          <p:nvPr/>
        </p:nvSpPr>
        <p:spPr>
          <a:xfrm>
            <a:off x="1078992" y="6263640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16" dirty="0">
                <a:solidFill>
                  <a:srgbClr val="1A1C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</a:t>
            </a:r>
            <a:endParaRPr lang="en-US" sz="816" dirty="0"/>
          </a:p>
        </p:txBody>
      </p:sp>
      <p:sp>
        <p:nvSpPr>
          <p:cNvPr id="8" name="Text 6"/>
          <p:cNvSpPr/>
          <p:nvPr/>
        </p:nvSpPr>
        <p:spPr>
          <a:xfrm>
            <a:off x="11064240" y="6263640"/>
            <a:ext cx="320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6400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C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esta arquitectura y no otra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77240" y="15087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Aquí el dominio son normas. Y las normas no las cambia nadie.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77724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02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Clean + Hexagonal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77240" y="2697480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1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dominio son normas: SAE J1979, ISO 15031, ISO 3779</a:t>
            </a:r>
            <a:endParaRPr lang="en-US" sz="1500" dirty="0"/>
          </a:p>
          <a:p>
            <a:pPr marL="342900" indent="-342900">
              <a:lnSpc>
                <a:spcPts val="21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fórmulas de cada PID y la decodificación del VIN</a:t>
            </a:r>
            <a:endParaRPr lang="en-US" sz="1500" dirty="0"/>
          </a:p>
          <a:p>
            <a:pPr marL="342900" indent="-342900">
              <a:lnSpc>
                <a:spcPts val="21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de eso se mezcla con la base de datos ni con el LLM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537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5A5F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no orientada a eventos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537960" y="2697480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1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un proceso: no hay servicios que desacoplar</a:t>
            </a:r>
            <a:endParaRPr lang="en-US" sz="1500" dirty="0"/>
          </a:p>
          <a:p>
            <a:pPr marL="342900" indent="-342900">
              <a:lnSpc>
                <a:spcPts val="21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mecánico pregunta y espera: el flujo es síncrono</a:t>
            </a:r>
            <a:endParaRPr lang="en-US" sz="1500" dirty="0"/>
          </a:p>
          <a:p>
            <a:pPr marL="342900" indent="-342900">
              <a:lnSpc>
                <a:spcPts val="21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programador: más piezas es más sitio donde romper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77240" y="4709160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C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este proyecto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512064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2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Dominio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560320" y="5120640"/>
            <a:ext cx="8778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Vin, DtcCode, PidCode, Formula, catálogos de PID y DTC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548640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2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560320" y="5486400"/>
            <a:ext cx="8778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IdentifyVehicle, ExecuteCognitiveDiagnosis, ObdRepository, LlmClientPort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77240" y="585216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2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Infraestructura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560320" y="5852160"/>
            <a:ext cx="8778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Express, Drizzle + SQLite, LanceDB, servidor MCP, transporte ELM327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77240" y="6263640"/>
            <a:ext cx="219456" cy="219456"/>
          </a:xfrm>
          <a:prstGeom prst="rect">
            <a:avLst/>
          </a:prstGeom>
          <a:solidFill>
            <a:srgbClr val="202CFC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626364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16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</a:t>
            </a:r>
            <a:endParaRPr lang="en-US" sz="816" dirty="0"/>
          </a:p>
        </p:txBody>
      </p:sp>
      <p:sp>
        <p:nvSpPr>
          <p:cNvPr id="17" name="Text 15"/>
          <p:cNvSpPr/>
          <p:nvPr/>
        </p:nvSpPr>
        <p:spPr>
          <a:xfrm>
            <a:off x="1078992" y="6263640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16" dirty="0">
                <a:solidFill>
                  <a:srgbClr val="1A1C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</a:t>
            </a:r>
            <a:endParaRPr lang="en-US" sz="816" dirty="0"/>
          </a:p>
        </p:txBody>
      </p:sp>
      <p:sp>
        <p:nvSpPr>
          <p:cNvPr id="18" name="Text 16"/>
          <p:cNvSpPr/>
          <p:nvPr/>
        </p:nvSpPr>
        <p:spPr>
          <a:xfrm>
            <a:off x="11064240" y="6263640"/>
            <a:ext cx="320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Intelligent Automotive Diagnostics — TFM</dc:title>
  <dc:subject>PptxGenJS Presentation</dc:subject>
  <dc:creator>Jesús Ángel Novillo Lucas-Vaquero</dc:creator>
  <cp:lastModifiedBy>Jesús Ángel Novillo Lucas-Vaquero</cp:lastModifiedBy>
  <cp:revision>1</cp:revision>
  <dcterms:created xsi:type="dcterms:W3CDTF">2026-08-25T10:36:50Z</dcterms:created>
  <dcterms:modified xsi:type="dcterms:W3CDTF">2026-08-25T10:36:50Z</dcterms:modified>
</cp:coreProperties>
</file>