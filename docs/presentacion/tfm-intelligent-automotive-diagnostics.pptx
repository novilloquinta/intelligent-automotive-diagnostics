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lugar de enseñarlas por separado y repetirme, la tabla va por medida: a la izquierda lo que hace el código, a la derecha las categorías que esa medida cubre en una lista y en la otra.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OWASP API Top 10 2023 y Top 10 2025</a:t>
            </a:r>
            <a:endParaRPr lang="en-US" sz="3000" dirty="0"/>
          </a:p>
        </p:txBody>
      </p:sp>
      <p:sp>
        <p:nvSpPr>
          <p:cNvPr id="3" name="Text 1"/>
          <p:cNvSpPr/>
          <p:nvPr/>
        </p:nvSpPr>
        <p:spPr>
          <a:xfrm>
            <a:off x="777240" y="1444752"/>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El backend es una API y la interfaz una aplicación web: cada medida cubre categorías de las dos listas.</a:t>
            </a:r>
            <a:endParaRPr lang="en-US" sz="1600" dirty="0"/>
          </a:p>
        </p:txBody>
      </p:sp>
      <p:sp>
        <p:nvSpPr>
          <p:cNvPr id="4" name="Text 2"/>
          <p:cNvSpPr/>
          <p:nvPr/>
        </p:nvSpPr>
        <p:spPr>
          <a:xfrm>
            <a:off x="777240" y="2084832"/>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Sesión en todo /api; la sesión de otro usuario devuelve 404, no 403</a:t>
            </a:r>
            <a:endParaRPr lang="en-US" sz="1300" dirty="0"/>
          </a:p>
        </p:txBody>
      </p:sp>
      <p:sp>
        <p:nvSpPr>
          <p:cNvPr id="5" name="Text 3"/>
          <p:cNvSpPr/>
          <p:nvPr/>
        </p:nvSpPr>
        <p:spPr>
          <a:xfrm>
            <a:off x="8503920" y="2084832"/>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API1 · API5 · A01</a:t>
            </a:r>
            <a:endParaRPr lang="en-US" sz="1100" dirty="0"/>
          </a:p>
        </p:txBody>
      </p:sp>
      <p:sp>
        <p:nvSpPr>
          <p:cNvPr id="6" name="Text 4"/>
          <p:cNvSpPr/>
          <p:nvPr/>
        </p:nvSpPr>
        <p:spPr>
          <a:xfrm>
            <a:off x="777240" y="2487168"/>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Los esquemas Zod son la allowlist de campos y de entrada</a:t>
            </a:r>
            <a:endParaRPr lang="en-US" sz="1300" dirty="0"/>
          </a:p>
        </p:txBody>
      </p:sp>
      <p:sp>
        <p:nvSpPr>
          <p:cNvPr id="7" name="Text 5"/>
          <p:cNvSpPr/>
          <p:nvPr/>
        </p:nvSpPr>
        <p:spPr>
          <a:xfrm>
            <a:off x="8503920" y="2487168"/>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API3 · A05 · A06</a:t>
            </a:r>
            <a:endParaRPr lang="en-US" sz="1100" dirty="0"/>
          </a:p>
        </p:txBody>
      </p:sp>
      <p:sp>
        <p:nvSpPr>
          <p:cNvPr id="8" name="Text 6"/>
          <p:cNvSpPr/>
          <p:nvPr/>
        </p:nvSpPr>
        <p:spPr>
          <a:xfrm>
            <a:off x="777240" y="2889504"/>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bcrypt 12 rondas, segundo factor TOTP y bloqueo de cuenta</a:t>
            </a:r>
            <a:endParaRPr lang="en-US" sz="1300" dirty="0"/>
          </a:p>
        </p:txBody>
      </p:sp>
      <p:sp>
        <p:nvSpPr>
          <p:cNvPr id="9" name="Text 7"/>
          <p:cNvSpPr/>
          <p:nvPr/>
        </p:nvSpPr>
        <p:spPr>
          <a:xfrm>
            <a:off x="8503920" y="2889504"/>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API2 · A04 · A07</a:t>
            </a:r>
            <a:endParaRPr lang="en-US" sz="1100" dirty="0"/>
          </a:p>
        </p:txBody>
      </p:sp>
      <p:sp>
        <p:nvSpPr>
          <p:cNvPr id="10" name="Text 8"/>
          <p:cNvSpPr/>
          <p:nvPr/>
        </p:nvSpPr>
        <p:spPr>
          <a:xfrm>
            <a:off x="777240" y="3291840"/>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Límites por familia, con contadores persistidos en base de datos</a:t>
            </a:r>
            <a:endParaRPr lang="en-US" sz="1300" dirty="0"/>
          </a:p>
        </p:txBody>
      </p:sp>
      <p:sp>
        <p:nvSpPr>
          <p:cNvPr id="11" name="Text 9"/>
          <p:cNvSpPr/>
          <p:nvPr/>
        </p:nvSpPr>
        <p:spPr>
          <a:xfrm>
            <a:off x="8503920" y="3291840"/>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API4 · API6</a:t>
            </a:r>
            <a:endParaRPr lang="en-US" sz="1100" dirty="0"/>
          </a:p>
        </p:txBody>
      </p:sp>
      <p:sp>
        <p:nvSpPr>
          <p:cNvPr id="12" name="Text 10"/>
          <p:cNvSpPr/>
          <p:nvPr/>
        </p:nvSpPr>
        <p:spPr>
          <a:xfrm>
            <a:off x="777240" y="3694176"/>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Helmet en la API, CSP en la interfaz, puertos solo en loopback</a:t>
            </a:r>
            <a:endParaRPr lang="en-US" sz="1300" dirty="0"/>
          </a:p>
        </p:txBody>
      </p:sp>
      <p:sp>
        <p:nvSpPr>
          <p:cNvPr id="13" name="Text 11"/>
          <p:cNvSpPr/>
          <p:nvPr/>
        </p:nvSpPr>
        <p:spPr>
          <a:xfrm>
            <a:off x="8503920" y="3694176"/>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API8 · A02</a:t>
            </a:r>
            <a:endParaRPr lang="en-US" sz="1100" dirty="0"/>
          </a:p>
        </p:txBody>
      </p:sp>
      <p:sp>
        <p:nvSpPr>
          <p:cNvPr id="14" name="Text 12"/>
          <p:cNvSpPr/>
          <p:nvPr/>
        </p:nvSpPr>
        <p:spPr>
          <a:xfrm>
            <a:off x="777240" y="4096512"/>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Lockfile, auditoría bloqueante e imágenes etiquetadas por commit</a:t>
            </a:r>
            <a:endParaRPr lang="en-US" sz="1300" dirty="0"/>
          </a:p>
        </p:txBody>
      </p:sp>
      <p:sp>
        <p:nvSpPr>
          <p:cNvPr id="15" name="Text 13"/>
          <p:cNvSpPr/>
          <p:nvPr/>
        </p:nvSpPr>
        <p:spPr>
          <a:xfrm>
            <a:off x="8503920" y="4096512"/>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A03 · A08</a:t>
            </a:r>
            <a:endParaRPr lang="en-US" sz="1100" dirty="0"/>
          </a:p>
        </p:txBody>
      </p:sp>
      <p:sp>
        <p:nvSpPr>
          <p:cNvPr id="16" name="Text 14"/>
          <p:cNvSpPr/>
          <p:nvPr/>
        </p:nvSpPr>
        <p:spPr>
          <a:xfrm>
            <a:off x="777240" y="4498848"/>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Especificación OpenAPI versionada, servida por la propia API</a:t>
            </a:r>
            <a:endParaRPr lang="en-US" sz="1300" dirty="0"/>
          </a:p>
        </p:txBody>
      </p:sp>
      <p:sp>
        <p:nvSpPr>
          <p:cNvPr id="17" name="Text 15"/>
          <p:cNvSpPr/>
          <p:nvPr/>
        </p:nvSpPr>
        <p:spPr>
          <a:xfrm>
            <a:off x="8503920" y="4498848"/>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18" name="Text 16"/>
          <p:cNvSpPr/>
          <p:nvPr/>
        </p:nvSpPr>
        <p:spPr>
          <a:xfrm>
            <a:off x="777240" y="4901184"/>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Ninguna URL de salida la elige el usuario</a:t>
            </a:r>
            <a:endParaRPr lang="en-US" sz="1300" dirty="0"/>
          </a:p>
        </p:txBody>
      </p:sp>
      <p:sp>
        <p:nvSpPr>
          <p:cNvPr id="19" name="Text 17"/>
          <p:cNvSpPr/>
          <p:nvPr/>
        </p:nvSpPr>
        <p:spPr>
          <a:xfrm>
            <a:off x="8503920" y="4901184"/>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API7 · A01</a:t>
            </a:r>
            <a:endParaRPr lang="en-US" sz="1100" dirty="0"/>
          </a:p>
        </p:txBody>
      </p:sp>
      <p:sp>
        <p:nvSpPr>
          <p:cNvPr id="20" name="Text 18"/>
          <p:cNvSpPr/>
          <p:nvPr/>
        </p:nvSpPr>
        <p:spPr>
          <a:xfrm>
            <a:off x="777240" y="5303520"/>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Auditoría con IP, usuario y duración; el error sale sin traza</a:t>
            </a:r>
            <a:endParaRPr lang="en-US" sz="1300" dirty="0"/>
          </a:p>
        </p:txBody>
      </p:sp>
      <p:sp>
        <p:nvSpPr>
          <p:cNvPr id="21" name="Text 19"/>
          <p:cNvSpPr/>
          <p:nvPr/>
        </p:nvSpPr>
        <p:spPr>
          <a:xfrm>
            <a:off x="8503920" y="5303520"/>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A09 · A10</a:t>
            </a:r>
            <a:endParaRPr lang="en-US" sz="1100" dirty="0"/>
          </a:p>
        </p:txBody>
      </p:sp>
      <p:sp>
        <p:nvSpPr>
          <p:cNvPr id="22" name="Text 20"/>
          <p:cNvSpPr/>
          <p:nvPr/>
        </p:nvSpPr>
        <p:spPr>
          <a:xfrm>
            <a:off x="777240" y="5705856"/>
            <a:ext cx="7589520" cy="365760"/>
          </a:xfrm>
          <a:prstGeom prst="rect">
            <a:avLst/>
          </a:prstGeom>
          <a:noFill/>
          <a:ln/>
        </p:spPr>
        <p:txBody>
          <a:bodyPr wrap="square" lIns="0" tIns="0" rIns="0" bIns="0" rtlCol="0" anchor="ctr"/>
          <a:lstStyle/>
          <a:p>
            <a:pPr indent="0" marL="0">
              <a:buNone/>
            </a:pPr>
            <a:r>
              <a:rPr lang="en-US" sz="1300" dirty="0">
                <a:solidFill>
                  <a:srgbClr val="1A1C2E"/>
                </a:solidFill>
                <a:latin typeface="Calibri" pitchFamily="34" charset="0"/>
                <a:ea typeface="Calibri" pitchFamily="34" charset="-122"/>
                <a:cs typeface="Calibri" pitchFamily="34" charset="-120"/>
              </a:rPr>
              <a:t>Lo recuperado llega al modelo marcado como no fiable</a:t>
            </a:r>
            <a:endParaRPr lang="en-US" sz="1300" dirty="0"/>
          </a:p>
        </p:txBody>
      </p:sp>
      <p:sp>
        <p:nvSpPr>
          <p:cNvPr id="23" name="Text 21"/>
          <p:cNvSpPr/>
          <p:nvPr/>
        </p:nvSpPr>
        <p:spPr>
          <a:xfrm>
            <a:off x="8503920" y="5705856"/>
            <a:ext cx="2880360" cy="365760"/>
          </a:xfrm>
          <a:prstGeom prst="rect">
            <a:avLst/>
          </a:prstGeom>
          <a:noFill/>
          <a:ln/>
        </p:spPr>
        <p:txBody>
          <a:bodyPr wrap="square" lIns="0" tIns="0" rIns="0" bIns="0" rtlCol="0" anchor="ctr"/>
          <a:lstStyle/>
          <a:p>
            <a:pPr algn="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24" name="Shape 22"/>
          <p:cNvSpPr/>
          <p:nvPr/>
        </p:nvSpPr>
        <p:spPr>
          <a:xfrm>
            <a:off x="777240" y="6263640"/>
            <a:ext cx="219456" cy="219456"/>
          </a:xfrm>
          <a:prstGeom prst="rect">
            <a:avLst/>
          </a:prstGeom>
          <a:solidFill>
            <a:srgbClr val="202CFC"/>
          </a:solidFill>
          <a:ln/>
        </p:spPr>
      </p:sp>
      <p:sp>
        <p:nvSpPr>
          <p:cNvPr id="25" name="Text 2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6" name="Text 2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7" name="Text 2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2026-08-27T13:02:14Z</dcterms:created>
  <dcterms:modified xsi:type="dcterms:W3CDTF">2026-08-27T13:02:14Z</dcterms:modified>
</cp:coreProperties>
</file>