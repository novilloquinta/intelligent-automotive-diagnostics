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 · acumulado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 · acumulado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entera, para que se entienda dónde encaja todo lo que viene después.
La primera fase es identificar el coche. El mecánico entra con su sesión, elige el vehículo —por cable, por WiFi o uno de los emuladores— y el sistema le pregunta al coche el bastidor con el modo 09. De ahí resuelve la marca por una cascada: primero mira la base de datos, luego el catálogo de fabricantes, luego la web, y si nada funciona lo confirma el mecánico a mano y queda aprendido. Después hace un barrido del bus para ver qué centralitas contestan.
La segunda fase es leer los datos: la telemetría con el modo 01 aplicando la fórmula de cada PID, los códigos de avería con los modos 03, 07 y 0A, y el freeze frame con el 02. Con eso el diagnóstico determinista calcula la severidad por regla, sin IA de por medio, y sale a pantalla. Todo eso queda guardado en SQLite con la sesión.
La tercera fase es la de IA, y solo entra si hay modelo configurado. Antes de llamarlo se buscan casos parecidos en la base vectorial. El agente entra con esos casos y con las dieciséis herramientas MCP, y va pidiendo lo que le falta: el catálogo, más lecturas del coche, o la web si hace falta. Sale un informe con narrativa, severidad y recomendaciones.
Y esa flecha de vuelta es la tesis del proyecto: el caso se indexa, y lo aprendido alimenta el siguiente diagnóstico.
[~75 s · acumulado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9:45]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13:15]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16:10]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88136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El sistema de un vistazo</a:t>
            </a:r>
            <a:endParaRPr lang="en-US" sz="3200" dirty="0"/>
          </a:p>
        </p:txBody>
      </p:sp>
      <p:sp>
        <p:nvSpPr>
          <p:cNvPr id="3" name="Text 1"/>
          <p:cNvSpPr/>
          <p:nvPr/>
        </p:nvSpPr>
        <p:spPr>
          <a:xfrm>
            <a:off x="640080" y="1234440"/>
            <a:ext cx="1088136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Del conector del coche hasta la respuesta, y de vuelta al catálogo.</a:t>
            </a:r>
            <a:endParaRPr lang="en-US" sz="1500" dirty="0"/>
          </a:p>
        </p:txBody>
      </p:sp>
      <p:sp>
        <p:nvSpPr>
          <p:cNvPr id="4" name="Text 2"/>
          <p:cNvSpPr/>
          <p:nvPr/>
        </p:nvSpPr>
        <p:spPr>
          <a:xfrm>
            <a:off x="640080" y="1655064"/>
            <a:ext cx="10881360" cy="256032"/>
          </a:xfrm>
          <a:prstGeom prst="rect">
            <a:avLst/>
          </a:prstGeom>
          <a:noFill/>
          <a:ln/>
        </p:spPr>
        <p:txBody>
          <a:bodyPr wrap="square" lIns="0" tIns="0" rIns="0" bIns="0" rtlCol="0" anchor="t"/>
          <a:lstStyle/>
          <a:p>
            <a:pPr indent="0" marL="0">
              <a:buNone/>
            </a:pPr>
            <a:r>
              <a:rPr lang="en-US" sz="1100" b="1" spc="140" kern="0" dirty="0">
                <a:solidFill>
                  <a:srgbClr val="202CFC"/>
                </a:solidFill>
                <a:latin typeface="Calibri" pitchFamily="34" charset="0"/>
                <a:ea typeface="Calibri" pitchFamily="34" charset="-122"/>
                <a:cs typeface="Calibri" pitchFamily="34" charset="-120"/>
              </a:rPr>
              <a:t>1 · IDENTIFICAR EL COCHE</a:t>
            </a:r>
            <a:endParaRPr lang="en-US" sz="1100" dirty="0"/>
          </a:p>
        </p:txBody>
      </p:sp>
      <p:sp>
        <p:nvSpPr>
          <p:cNvPr id="5" name="Shape 3"/>
          <p:cNvSpPr/>
          <p:nvPr/>
        </p:nvSpPr>
        <p:spPr>
          <a:xfrm>
            <a:off x="640080" y="1965960"/>
            <a:ext cx="1920240" cy="749808"/>
          </a:xfrm>
          <a:prstGeom prst="roundRect">
            <a:avLst>
              <a:gd name="adj" fmla="val 6098"/>
            </a:avLst>
          </a:prstGeom>
          <a:solidFill>
            <a:srgbClr val="FFFFFF"/>
          </a:solidFill>
          <a:ln w="12700">
            <a:solidFill>
              <a:srgbClr val="C9CCD8"/>
            </a:solidFill>
            <a:prstDash val="solid"/>
          </a:ln>
        </p:spPr>
      </p:sp>
      <p:sp>
        <p:nvSpPr>
          <p:cNvPr id="6" name="Text 4"/>
          <p:cNvSpPr/>
          <p:nvPr/>
        </p:nvSpPr>
        <p:spPr>
          <a:xfrm>
            <a:off x="713232" y="20574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mecánico</a:t>
            </a:r>
            <a:endParaRPr lang="en-US" sz="1050" dirty="0"/>
          </a:p>
        </p:txBody>
      </p:sp>
      <p:sp>
        <p:nvSpPr>
          <p:cNvPr id="7" name="Text 5"/>
          <p:cNvSpPr/>
          <p:nvPr/>
        </p:nvSpPr>
        <p:spPr>
          <a:xfrm>
            <a:off x="713232" y="23134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React 19, sesión JWT</a:t>
            </a:r>
            <a:endParaRPr lang="en-US" sz="900" dirty="0"/>
          </a:p>
        </p:txBody>
      </p:sp>
      <p:sp>
        <p:nvSpPr>
          <p:cNvPr id="8" name="Shape 6"/>
          <p:cNvSpPr/>
          <p:nvPr/>
        </p:nvSpPr>
        <p:spPr>
          <a:xfrm>
            <a:off x="2615184" y="2340864"/>
            <a:ext cx="210312" cy="0"/>
          </a:xfrm>
          <a:prstGeom prst="line">
            <a:avLst/>
          </a:prstGeom>
          <a:noFill/>
          <a:ln w="15875">
            <a:solidFill>
              <a:srgbClr val="202CFC"/>
            </a:solidFill>
            <a:prstDash val="solid"/>
            <a:tailEnd type="triangle"/>
          </a:ln>
        </p:spPr>
      </p:sp>
      <p:sp>
        <p:nvSpPr>
          <p:cNvPr id="9" name="Shape 7"/>
          <p:cNvSpPr/>
          <p:nvPr/>
        </p:nvSpPr>
        <p:spPr>
          <a:xfrm>
            <a:off x="2880360" y="1965960"/>
            <a:ext cx="1920240" cy="749808"/>
          </a:xfrm>
          <a:prstGeom prst="roundRect">
            <a:avLst>
              <a:gd name="adj" fmla="val 6098"/>
            </a:avLst>
          </a:prstGeom>
          <a:solidFill>
            <a:srgbClr val="FFFFFF"/>
          </a:solidFill>
          <a:ln w="12700">
            <a:solidFill>
              <a:srgbClr val="C9CCD8"/>
            </a:solidFill>
            <a:prstDash val="solid"/>
          </a:ln>
        </p:spPr>
      </p:sp>
      <p:sp>
        <p:nvSpPr>
          <p:cNvPr id="10" name="Text 8"/>
          <p:cNvSpPr/>
          <p:nvPr/>
        </p:nvSpPr>
        <p:spPr>
          <a:xfrm>
            <a:off x="2953512" y="20574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Elige vehículo</a:t>
            </a:r>
            <a:endParaRPr lang="en-US" sz="1050" dirty="0"/>
          </a:p>
        </p:txBody>
      </p:sp>
      <p:sp>
        <p:nvSpPr>
          <p:cNvPr id="11" name="Text 9"/>
          <p:cNvSpPr/>
          <p:nvPr/>
        </p:nvSpPr>
        <p:spPr>
          <a:xfrm>
            <a:off x="2953512" y="23134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cable USB, WiFi</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o emulador</a:t>
            </a:r>
            <a:endParaRPr lang="en-US" sz="900" dirty="0"/>
          </a:p>
        </p:txBody>
      </p:sp>
      <p:sp>
        <p:nvSpPr>
          <p:cNvPr id="12" name="Shape 10"/>
          <p:cNvSpPr/>
          <p:nvPr/>
        </p:nvSpPr>
        <p:spPr>
          <a:xfrm>
            <a:off x="4855464" y="2340864"/>
            <a:ext cx="210312" cy="0"/>
          </a:xfrm>
          <a:prstGeom prst="line">
            <a:avLst/>
          </a:prstGeom>
          <a:noFill/>
          <a:ln w="15875">
            <a:solidFill>
              <a:srgbClr val="202CFC"/>
            </a:solidFill>
            <a:prstDash val="solid"/>
            <a:tailEnd type="triangle"/>
          </a:ln>
        </p:spPr>
      </p:sp>
      <p:sp>
        <p:nvSpPr>
          <p:cNvPr id="13" name="Shape 11"/>
          <p:cNvSpPr/>
          <p:nvPr/>
        </p:nvSpPr>
        <p:spPr>
          <a:xfrm>
            <a:off x="5120640" y="1965960"/>
            <a:ext cx="1920240" cy="749808"/>
          </a:xfrm>
          <a:prstGeom prst="roundRect">
            <a:avLst>
              <a:gd name="adj" fmla="val 6098"/>
            </a:avLst>
          </a:prstGeom>
          <a:solidFill>
            <a:srgbClr val="FFFFFF"/>
          </a:solidFill>
          <a:ln w="12700">
            <a:solidFill>
              <a:srgbClr val="C9CCD8"/>
            </a:solidFill>
            <a:prstDash val="solid"/>
          </a:ln>
        </p:spPr>
      </p:sp>
      <p:sp>
        <p:nvSpPr>
          <p:cNvPr id="14" name="Text 12"/>
          <p:cNvSpPr/>
          <p:nvPr/>
        </p:nvSpPr>
        <p:spPr>
          <a:xfrm>
            <a:off x="5193792" y="20574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Lee el VIN</a:t>
            </a:r>
            <a:endParaRPr lang="en-US" sz="1050" dirty="0"/>
          </a:p>
        </p:txBody>
      </p:sp>
      <p:sp>
        <p:nvSpPr>
          <p:cNvPr id="15" name="Text 13"/>
          <p:cNvSpPr/>
          <p:nvPr/>
        </p:nvSpPr>
        <p:spPr>
          <a:xfrm>
            <a:off x="5193792" y="23134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modo 09, ISO 3779</a:t>
            </a:r>
            <a:endParaRPr lang="en-US" sz="900" dirty="0"/>
          </a:p>
        </p:txBody>
      </p:sp>
      <p:sp>
        <p:nvSpPr>
          <p:cNvPr id="16" name="Shape 14"/>
          <p:cNvSpPr/>
          <p:nvPr/>
        </p:nvSpPr>
        <p:spPr>
          <a:xfrm>
            <a:off x="7095744" y="2340864"/>
            <a:ext cx="210312" cy="0"/>
          </a:xfrm>
          <a:prstGeom prst="line">
            <a:avLst/>
          </a:prstGeom>
          <a:noFill/>
          <a:ln w="15875">
            <a:solidFill>
              <a:srgbClr val="202CFC"/>
            </a:solidFill>
            <a:prstDash val="solid"/>
            <a:tailEnd type="triangle"/>
          </a:ln>
        </p:spPr>
      </p:sp>
      <p:sp>
        <p:nvSpPr>
          <p:cNvPr id="17" name="Shape 15"/>
          <p:cNvSpPr/>
          <p:nvPr/>
        </p:nvSpPr>
        <p:spPr>
          <a:xfrm>
            <a:off x="7360920" y="1965960"/>
            <a:ext cx="1920240" cy="749808"/>
          </a:xfrm>
          <a:prstGeom prst="roundRect">
            <a:avLst>
              <a:gd name="adj" fmla="val 6098"/>
            </a:avLst>
          </a:prstGeom>
          <a:solidFill>
            <a:srgbClr val="FFFFFF"/>
          </a:solidFill>
          <a:ln w="12700">
            <a:solidFill>
              <a:srgbClr val="C9CCD8"/>
            </a:solidFill>
            <a:prstDash val="solid"/>
          </a:ln>
        </p:spPr>
      </p:sp>
      <p:sp>
        <p:nvSpPr>
          <p:cNvPr id="18" name="Text 16"/>
          <p:cNvSpPr/>
          <p:nvPr/>
        </p:nvSpPr>
        <p:spPr>
          <a:xfrm>
            <a:off x="7434072" y="20574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Resuelve la marca</a:t>
            </a:r>
            <a:endParaRPr lang="en-US" sz="1050" dirty="0"/>
          </a:p>
        </p:txBody>
      </p:sp>
      <p:sp>
        <p:nvSpPr>
          <p:cNvPr id="19" name="Text 17"/>
          <p:cNvSpPr/>
          <p:nvPr/>
        </p:nvSpPr>
        <p:spPr>
          <a:xfrm>
            <a:off x="7434072" y="23134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BBDD → catálogo →</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web → mecánico</a:t>
            </a:r>
            <a:endParaRPr lang="en-US" sz="900" dirty="0"/>
          </a:p>
        </p:txBody>
      </p:sp>
      <p:sp>
        <p:nvSpPr>
          <p:cNvPr id="20" name="Shape 18"/>
          <p:cNvSpPr/>
          <p:nvPr/>
        </p:nvSpPr>
        <p:spPr>
          <a:xfrm>
            <a:off x="9336024" y="2340864"/>
            <a:ext cx="210312" cy="0"/>
          </a:xfrm>
          <a:prstGeom prst="line">
            <a:avLst/>
          </a:prstGeom>
          <a:noFill/>
          <a:ln w="15875">
            <a:solidFill>
              <a:srgbClr val="202CFC"/>
            </a:solidFill>
            <a:prstDash val="solid"/>
            <a:tailEnd type="triangle"/>
          </a:ln>
        </p:spPr>
      </p:sp>
      <p:sp>
        <p:nvSpPr>
          <p:cNvPr id="21" name="Shape 19"/>
          <p:cNvSpPr/>
          <p:nvPr/>
        </p:nvSpPr>
        <p:spPr>
          <a:xfrm>
            <a:off x="9601200" y="1965960"/>
            <a:ext cx="1920240" cy="749808"/>
          </a:xfrm>
          <a:prstGeom prst="roundRect">
            <a:avLst>
              <a:gd name="adj" fmla="val 6098"/>
            </a:avLst>
          </a:prstGeom>
          <a:solidFill>
            <a:srgbClr val="FFFFFF"/>
          </a:solidFill>
          <a:ln w="12700">
            <a:solidFill>
              <a:srgbClr val="C9CCD8"/>
            </a:solidFill>
            <a:prstDash val="solid"/>
          </a:ln>
        </p:spPr>
      </p:sp>
      <p:sp>
        <p:nvSpPr>
          <p:cNvPr id="22" name="Text 20"/>
          <p:cNvSpPr/>
          <p:nvPr/>
        </p:nvSpPr>
        <p:spPr>
          <a:xfrm>
            <a:off x="9674352" y="20574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Barrido del bus</a:t>
            </a:r>
            <a:endParaRPr lang="en-US" sz="1050" dirty="0"/>
          </a:p>
        </p:txBody>
      </p:sp>
      <p:sp>
        <p:nvSpPr>
          <p:cNvPr id="23" name="Text 21"/>
          <p:cNvSpPr/>
          <p:nvPr/>
        </p:nvSpPr>
        <p:spPr>
          <a:xfrm>
            <a:off x="9674352" y="23134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quién contesta,</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ISO 15765-4</a:t>
            </a:r>
            <a:endParaRPr lang="en-US" sz="900" dirty="0"/>
          </a:p>
        </p:txBody>
      </p:sp>
      <p:sp>
        <p:nvSpPr>
          <p:cNvPr id="24" name="Text 22"/>
          <p:cNvSpPr/>
          <p:nvPr/>
        </p:nvSpPr>
        <p:spPr>
          <a:xfrm>
            <a:off x="640080" y="3026664"/>
            <a:ext cx="10881360" cy="256032"/>
          </a:xfrm>
          <a:prstGeom prst="rect">
            <a:avLst/>
          </a:prstGeom>
          <a:noFill/>
          <a:ln/>
        </p:spPr>
        <p:txBody>
          <a:bodyPr wrap="square" lIns="0" tIns="0" rIns="0" bIns="0" rtlCol="0" anchor="t"/>
          <a:lstStyle/>
          <a:p>
            <a:pPr indent="0" marL="0">
              <a:buNone/>
            </a:pPr>
            <a:r>
              <a:rPr lang="en-US" sz="1100" b="1" spc="140" kern="0" dirty="0">
                <a:solidFill>
                  <a:srgbClr val="202CFC"/>
                </a:solidFill>
                <a:latin typeface="Calibri" pitchFamily="34" charset="0"/>
                <a:ea typeface="Calibri" pitchFamily="34" charset="-122"/>
                <a:cs typeface="Calibri" pitchFamily="34" charset="-120"/>
              </a:rPr>
              <a:t>2 · LEER LOS DATOS</a:t>
            </a:r>
            <a:endParaRPr lang="en-US" sz="1100" dirty="0"/>
          </a:p>
        </p:txBody>
      </p:sp>
      <p:sp>
        <p:nvSpPr>
          <p:cNvPr id="25" name="Shape 23"/>
          <p:cNvSpPr/>
          <p:nvPr/>
        </p:nvSpPr>
        <p:spPr>
          <a:xfrm>
            <a:off x="640080" y="3337560"/>
            <a:ext cx="1920240" cy="749808"/>
          </a:xfrm>
          <a:prstGeom prst="roundRect">
            <a:avLst>
              <a:gd name="adj" fmla="val 6098"/>
            </a:avLst>
          </a:prstGeom>
          <a:solidFill>
            <a:srgbClr val="FFFFFF"/>
          </a:solidFill>
          <a:ln w="12700">
            <a:solidFill>
              <a:srgbClr val="C9CCD8"/>
            </a:solidFill>
            <a:prstDash val="solid"/>
          </a:ln>
        </p:spPr>
      </p:sp>
      <p:sp>
        <p:nvSpPr>
          <p:cNvPr id="26" name="Text 24"/>
          <p:cNvSpPr/>
          <p:nvPr/>
        </p:nvSpPr>
        <p:spPr>
          <a:xfrm>
            <a:off x="713232" y="34290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Telemetría</a:t>
            </a:r>
            <a:endParaRPr lang="en-US" sz="1050" dirty="0"/>
          </a:p>
        </p:txBody>
      </p:sp>
      <p:sp>
        <p:nvSpPr>
          <p:cNvPr id="27" name="Text 25"/>
          <p:cNvSpPr/>
          <p:nvPr/>
        </p:nvSpPr>
        <p:spPr>
          <a:xfrm>
            <a:off x="713232" y="36850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modo 01 + la fórmula</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de cada PID</a:t>
            </a:r>
            <a:endParaRPr lang="en-US" sz="900" dirty="0"/>
          </a:p>
        </p:txBody>
      </p:sp>
      <p:sp>
        <p:nvSpPr>
          <p:cNvPr id="28" name="Shape 26"/>
          <p:cNvSpPr/>
          <p:nvPr/>
        </p:nvSpPr>
        <p:spPr>
          <a:xfrm>
            <a:off x="2615184" y="3712464"/>
            <a:ext cx="210312" cy="0"/>
          </a:xfrm>
          <a:prstGeom prst="line">
            <a:avLst/>
          </a:prstGeom>
          <a:noFill/>
          <a:ln w="15875">
            <a:solidFill>
              <a:srgbClr val="202CFC"/>
            </a:solidFill>
            <a:prstDash val="solid"/>
            <a:tailEnd type="triangle"/>
          </a:ln>
        </p:spPr>
      </p:sp>
      <p:sp>
        <p:nvSpPr>
          <p:cNvPr id="29" name="Shape 27"/>
          <p:cNvSpPr/>
          <p:nvPr/>
        </p:nvSpPr>
        <p:spPr>
          <a:xfrm>
            <a:off x="2880360" y="3337560"/>
            <a:ext cx="1920240" cy="749808"/>
          </a:xfrm>
          <a:prstGeom prst="roundRect">
            <a:avLst>
              <a:gd name="adj" fmla="val 6098"/>
            </a:avLst>
          </a:prstGeom>
          <a:solidFill>
            <a:srgbClr val="FFFFFF"/>
          </a:solidFill>
          <a:ln w="12700">
            <a:solidFill>
              <a:srgbClr val="C9CCD8"/>
            </a:solidFill>
            <a:prstDash val="solid"/>
          </a:ln>
        </p:spPr>
      </p:sp>
      <p:sp>
        <p:nvSpPr>
          <p:cNvPr id="30" name="Text 28"/>
          <p:cNvSpPr/>
          <p:nvPr/>
        </p:nvSpPr>
        <p:spPr>
          <a:xfrm>
            <a:off x="2953512" y="34290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Códigos DTC</a:t>
            </a:r>
            <a:endParaRPr lang="en-US" sz="1050" dirty="0"/>
          </a:p>
        </p:txBody>
      </p:sp>
      <p:sp>
        <p:nvSpPr>
          <p:cNvPr id="31" name="Text 29"/>
          <p:cNvSpPr/>
          <p:nvPr/>
        </p:nvSpPr>
        <p:spPr>
          <a:xfrm>
            <a:off x="2953512" y="36850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modos 03, 07 y 0A</a:t>
            </a:r>
            <a:endParaRPr lang="en-US" sz="900" dirty="0"/>
          </a:p>
        </p:txBody>
      </p:sp>
      <p:sp>
        <p:nvSpPr>
          <p:cNvPr id="32" name="Shape 30"/>
          <p:cNvSpPr/>
          <p:nvPr/>
        </p:nvSpPr>
        <p:spPr>
          <a:xfrm>
            <a:off x="4855464" y="3712464"/>
            <a:ext cx="210312" cy="0"/>
          </a:xfrm>
          <a:prstGeom prst="line">
            <a:avLst/>
          </a:prstGeom>
          <a:noFill/>
          <a:ln w="15875">
            <a:solidFill>
              <a:srgbClr val="202CFC"/>
            </a:solidFill>
            <a:prstDash val="solid"/>
            <a:tailEnd type="triangle"/>
          </a:ln>
        </p:spPr>
      </p:sp>
      <p:sp>
        <p:nvSpPr>
          <p:cNvPr id="33" name="Shape 31"/>
          <p:cNvSpPr/>
          <p:nvPr/>
        </p:nvSpPr>
        <p:spPr>
          <a:xfrm>
            <a:off x="5120640" y="3337560"/>
            <a:ext cx="1920240" cy="749808"/>
          </a:xfrm>
          <a:prstGeom prst="roundRect">
            <a:avLst>
              <a:gd name="adj" fmla="val 6098"/>
            </a:avLst>
          </a:prstGeom>
          <a:solidFill>
            <a:srgbClr val="FFFFFF"/>
          </a:solidFill>
          <a:ln w="12700">
            <a:solidFill>
              <a:srgbClr val="C9CCD8"/>
            </a:solidFill>
            <a:prstDash val="solid"/>
          </a:ln>
        </p:spPr>
      </p:sp>
      <p:sp>
        <p:nvSpPr>
          <p:cNvPr id="34" name="Text 32"/>
          <p:cNvSpPr/>
          <p:nvPr/>
        </p:nvSpPr>
        <p:spPr>
          <a:xfrm>
            <a:off x="5193792" y="34290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Freeze frame</a:t>
            </a:r>
            <a:endParaRPr lang="en-US" sz="1050" dirty="0"/>
          </a:p>
        </p:txBody>
      </p:sp>
      <p:sp>
        <p:nvSpPr>
          <p:cNvPr id="35" name="Text 33"/>
          <p:cNvSpPr/>
          <p:nvPr/>
        </p:nvSpPr>
        <p:spPr>
          <a:xfrm>
            <a:off x="5193792" y="36850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modo 02</a:t>
            </a:r>
            <a:endParaRPr lang="en-US" sz="900" dirty="0"/>
          </a:p>
        </p:txBody>
      </p:sp>
      <p:sp>
        <p:nvSpPr>
          <p:cNvPr id="36" name="Shape 34"/>
          <p:cNvSpPr/>
          <p:nvPr/>
        </p:nvSpPr>
        <p:spPr>
          <a:xfrm>
            <a:off x="7095744" y="3712464"/>
            <a:ext cx="210312" cy="0"/>
          </a:xfrm>
          <a:prstGeom prst="line">
            <a:avLst/>
          </a:prstGeom>
          <a:noFill/>
          <a:ln w="15875">
            <a:solidFill>
              <a:srgbClr val="202CFC"/>
            </a:solidFill>
            <a:prstDash val="solid"/>
            <a:tailEnd type="triangle"/>
          </a:ln>
        </p:spPr>
      </p:sp>
      <p:sp>
        <p:nvSpPr>
          <p:cNvPr id="37" name="Shape 35"/>
          <p:cNvSpPr/>
          <p:nvPr/>
        </p:nvSpPr>
        <p:spPr>
          <a:xfrm>
            <a:off x="7360920" y="3337560"/>
            <a:ext cx="1920240" cy="749808"/>
          </a:xfrm>
          <a:prstGeom prst="roundRect">
            <a:avLst>
              <a:gd name="adj" fmla="val 6098"/>
            </a:avLst>
          </a:prstGeom>
          <a:solidFill>
            <a:srgbClr val="FFFFFF"/>
          </a:solidFill>
          <a:ln w="12700">
            <a:solidFill>
              <a:srgbClr val="C9CCD8"/>
            </a:solidFill>
            <a:prstDash val="solid"/>
          </a:ln>
        </p:spPr>
      </p:sp>
      <p:sp>
        <p:nvSpPr>
          <p:cNvPr id="38" name="Text 36"/>
          <p:cNvSpPr/>
          <p:nvPr/>
        </p:nvSpPr>
        <p:spPr>
          <a:xfrm>
            <a:off x="7434072" y="34290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Determinista</a:t>
            </a:r>
            <a:endParaRPr lang="en-US" sz="1050" dirty="0"/>
          </a:p>
        </p:txBody>
      </p:sp>
      <p:sp>
        <p:nvSpPr>
          <p:cNvPr id="39" name="Text 37"/>
          <p:cNvSpPr/>
          <p:nvPr/>
        </p:nvSpPr>
        <p:spPr>
          <a:xfrm>
            <a:off x="7434072" y="36850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severidad por regla,</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sin IA</a:t>
            </a:r>
            <a:endParaRPr lang="en-US" sz="900" dirty="0"/>
          </a:p>
        </p:txBody>
      </p:sp>
      <p:sp>
        <p:nvSpPr>
          <p:cNvPr id="40" name="Shape 38"/>
          <p:cNvSpPr/>
          <p:nvPr/>
        </p:nvSpPr>
        <p:spPr>
          <a:xfrm>
            <a:off x="9336024" y="3712464"/>
            <a:ext cx="210312" cy="0"/>
          </a:xfrm>
          <a:prstGeom prst="line">
            <a:avLst/>
          </a:prstGeom>
          <a:noFill/>
          <a:ln w="15875">
            <a:solidFill>
              <a:srgbClr val="202CFC"/>
            </a:solidFill>
            <a:prstDash val="solid"/>
            <a:tailEnd type="triangle"/>
          </a:ln>
        </p:spPr>
      </p:sp>
      <p:sp>
        <p:nvSpPr>
          <p:cNvPr id="41" name="Shape 39"/>
          <p:cNvSpPr/>
          <p:nvPr/>
        </p:nvSpPr>
        <p:spPr>
          <a:xfrm>
            <a:off x="9601200" y="3337560"/>
            <a:ext cx="1920240" cy="749808"/>
          </a:xfrm>
          <a:prstGeom prst="roundRect">
            <a:avLst>
              <a:gd name="adj" fmla="val 6098"/>
            </a:avLst>
          </a:prstGeom>
          <a:solidFill>
            <a:srgbClr val="FFFFFF"/>
          </a:solidFill>
          <a:ln w="12700">
            <a:solidFill>
              <a:srgbClr val="C9CCD8"/>
            </a:solidFill>
            <a:prstDash val="solid"/>
          </a:ln>
        </p:spPr>
      </p:sp>
      <p:sp>
        <p:nvSpPr>
          <p:cNvPr id="42" name="Text 40"/>
          <p:cNvSpPr/>
          <p:nvPr/>
        </p:nvSpPr>
        <p:spPr>
          <a:xfrm>
            <a:off x="9674352" y="34290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A la pantalla</a:t>
            </a:r>
            <a:endParaRPr lang="en-US" sz="1050" dirty="0"/>
          </a:p>
        </p:txBody>
      </p:sp>
      <p:sp>
        <p:nvSpPr>
          <p:cNvPr id="43" name="Text 41"/>
          <p:cNvSpPr/>
          <p:nvPr/>
        </p:nvSpPr>
        <p:spPr>
          <a:xfrm>
            <a:off x="9674352" y="36850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y a SQLite,</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con la sesión</a:t>
            </a:r>
            <a:endParaRPr lang="en-US" sz="900" dirty="0"/>
          </a:p>
        </p:txBody>
      </p:sp>
      <p:sp>
        <p:nvSpPr>
          <p:cNvPr id="44" name="Text 42"/>
          <p:cNvSpPr/>
          <p:nvPr/>
        </p:nvSpPr>
        <p:spPr>
          <a:xfrm>
            <a:off x="640080" y="4398264"/>
            <a:ext cx="10881360" cy="256032"/>
          </a:xfrm>
          <a:prstGeom prst="rect">
            <a:avLst/>
          </a:prstGeom>
          <a:noFill/>
          <a:ln/>
        </p:spPr>
        <p:txBody>
          <a:bodyPr wrap="square" lIns="0" tIns="0" rIns="0" bIns="0" rtlCol="0" anchor="t"/>
          <a:lstStyle/>
          <a:p>
            <a:pPr indent="0" marL="0">
              <a:buNone/>
            </a:pPr>
            <a:r>
              <a:rPr lang="en-US" sz="1100" b="1" spc="140" kern="0" dirty="0">
                <a:solidFill>
                  <a:srgbClr val="202CFC"/>
                </a:solidFill>
                <a:latin typeface="Calibri" pitchFamily="34" charset="0"/>
                <a:ea typeface="Calibri" pitchFamily="34" charset="-122"/>
                <a:cs typeface="Calibri" pitchFamily="34" charset="-120"/>
              </a:rPr>
              <a:t>3 · RAZONAR CON IA</a:t>
            </a:r>
            <a:endParaRPr lang="en-US" sz="1100" dirty="0"/>
          </a:p>
        </p:txBody>
      </p:sp>
      <p:sp>
        <p:nvSpPr>
          <p:cNvPr id="45" name="Shape 43"/>
          <p:cNvSpPr/>
          <p:nvPr/>
        </p:nvSpPr>
        <p:spPr>
          <a:xfrm>
            <a:off x="640080" y="4709160"/>
            <a:ext cx="1920240" cy="749808"/>
          </a:xfrm>
          <a:prstGeom prst="roundRect">
            <a:avLst>
              <a:gd name="adj" fmla="val 6098"/>
            </a:avLst>
          </a:prstGeom>
          <a:solidFill>
            <a:srgbClr val="FFFFFF"/>
          </a:solidFill>
          <a:ln w="12700">
            <a:solidFill>
              <a:srgbClr val="C9CCD8"/>
            </a:solidFill>
            <a:prstDash val="solid"/>
          </a:ln>
        </p:spPr>
      </p:sp>
      <p:sp>
        <p:nvSpPr>
          <p:cNvPr id="46" name="Text 44"/>
          <p:cNvSpPr/>
          <p:nvPr/>
        </p:nvSpPr>
        <p:spPr>
          <a:xfrm>
            <a:off x="713232" y="48006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Casos parecidos</a:t>
            </a:r>
            <a:endParaRPr lang="en-US" sz="1050" dirty="0"/>
          </a:p>
        </p:txBody>
      </p:sp>
      <p:sp>
        <p:nvSpPr>
          <p:cNvPr id="47" name="Text 45"/>
          <p:cNvSpPr/>
          <p:nvPr/>
        </p:nvSpPr>
        <p:spPr>
          <a:xfrm>
            <a:off x="713232" y="50566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búsqueda vectorial</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en LanceDB</a:t>
            </a:r>
            <a:endParaRPr lang="en-US" sz="900" dirty="0"/>
          </a:p>
        </p:txBody>
      </p:sp>
      <p:sp>
        <p:nvSpPr>
          <p:cNvPr id="48" name="Shape 46"/>
          <p:cNvSpPr/>
          <p:nvPr/>
        </p:nvSpPr>
        <p:spPr>
          <a:xfrm>
            <a:off x="2615184" y="5084064"/>
            <a:ext cx="210312" cy="0"/>
          </a:xfrm>
          <a:prstGeom prst="line">
            <a:avLst/>
          </a:prstGeom>
          <a:noFill/>
          <a:ln w="15875">
            <a:solidFill>
              <a:srgbClr val="202CFC"/>
            </a:solidFill>
            <a:prstDash val="solid"/>
            <a:tailEnd type="triangle"/>
          </a:ln>
        </p:spPr>
      </p:sp>
      <p:sp>
        <p:nvSpPr>
          <p:cNvPr id="49" name="Shape 47"/>
          <p:cNvSpPr/>
          <p:nvPr/>
        </p:nvSpPr>
        <p:spPr>
          <a:xfrm>
            <a:off x="2880360" y="4709160"/>
            <a:ext cx="1920240" cy="749808"/>
          </a:xfrm>
          <a:prstGeom prst="roundRect">
            <a:avLst>
              <a:gd name="adj" fmla="val 6098"/>
            </a:avLst>
          </a:prstGeom>
          <a:solidFill>
            <a:srgbClr val="FFFFFF"/>
          </a:solidFill>
          <a:ln w="12700">
            <a:solidFill>
              <a:srgbClr val="C9CCD8"/>
            </a:solidFill>
            <a:prstDash val="solid"/>
          </a:ln>
        </p:spPr>
      </p:sp>
      <p:sp>
        <p:nvSpPr>
          <p:cNvPr id="50" name="Text 48"/>
          <p:cNvSpPr/>
          <p:nvPr/>
        </p:nvSpPr>
        <p:spPr>
          <a:xfrm>
            <a:off x="2953512" y="48006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agente</a:t>
            </a:r>
            <a:endParaRPr lang="en-US" sz="1050" dirty="0"/>
          </a:p>
        </p:txBody>
      </p:sp>
      <p:sp>
        <p:nvSpPr>
          <p:cNvPr id="51" name="Text 49"/>
          <p:cNvSpPr/>
          <p:nvPr/>
        </p:nvSpPr>
        <p:spPr>
          <a:xfrm>
            <a:off x="2953512" y="50566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16 herramientas MCP</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 el modelo</a:t>
            </a:r>
            <a:endParaRPr lang="en-US" sz="900" dirty="0"/>
          </a:p>
        </p:txBody>
      </p:sp>
      <p:sp>
        <p:nvSpPr>
          <p:cNvPr id="52" name="Shape 50"/>
          <p:cNvSpPr/>
          <p:nvPr/>
        </p:nvSpPr>
        <p:spPr>
          <a:xfrm>
            <a:off x="4855464" y="5084064"/>
            <a:ext cx="210312" cy="0"/>
          </a:xfrm>
          <a:prstGeom prst="line">
            <a:avLst/>
          </a:prstGeom>
          <a:noFill/>
          <a:ln w="15875">
            <a:solidFill>
              <a:srgbClr val="202CFC"/>
            </a:solidFill>
            <a:prstDash val="solid"/>
            <a:tailEnd type="triangle"/>
          </a:ln>
        </p:spPr>
      </p:sp>
      <p:sp>
        <p:nvSpPr>
          <p:cNvPr id="53" name="Shape 51"/>
          <p:cNvSpPr/>
          <p:nvPr/>
        </p:nvSpPr>
        <p:spPr>
          <a:xfrm>
            <a:off x="5120640" y="4709160"/>
            <a:ext cx="1920240" cy="749808"/>
          </a:xfrm>
          <a:prstGeom prst="roundRect">
            <a:avLst>
              <a:gd name="adj" fmla="val 6098"/>
            </a:avLst>
          </a:prstGeom>
          <a:solidFill>
            <a:srgbClr val="FFFFFF"/>
          </a:solidFill>
          <a:ln w="12700">
            <a:solidFill>
              <a:srgbClr val="C9CCD8"/>
            </a:solidFill>
            <a:prstDash val="solid"/>
          </a:ln>
        </p:spPr>
      </p:sp>
      <p:sp>
        <p:nvSpPr>
          <p:cNvPr id="54" name="Text 52"/>
          <p:cNvSpPr/>
          <p:nvPr/>
        </p:nvSpPr>
        <p:spPr>
          <a:xfrm>
            <a:off x="5193792" y="48006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Busca lo que falta</a:t>
            </a:r>
            <a:endParaRPr lang="en-US" sz="1050" dirty="0"/>
          </a:p>
        </p:txBody>
      </p:sp>
      <p:sp>
        <p:nvSpPr>
          <p:cNvPr id="55" name="Text 53"/>
          <p:cNvSpPr/>
          <p:nvPr/>
        </p:nvSpPr>
        <p:spPr>
          <a:xfrm>
            <a:off x="5193792" y="50566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catálogo, el coche</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o la web</a:t>
            </a:r>
            <a:endParaRPr lang="en-US" sz="900" dirty="0"/>
          </a:p>
        </p:txBody>
      </p:sp>
      <p:sp>
        <p:nvSpPr>
          <p:cNvPr id="56" name="Shape 54"/>
          <p:cNvSpPr/>
          <p:nvPr/>
        </p:nvSpPr>
        <p:spPr>
          <a:xfrm>
            <a:off x="7095744" y="5084064"/>
            <a:ext cx="210312" cy="0"/>
          </a:xfrm>
          <a:prstGeom prst="line">
            <a:avLst/>
          </a:prstGeom>
          <a:noFill/>
          <a:ln w="15875">
            <a:solidFill>
              <a:srgbClr val="202CFC"/>
            </a:solidFill>
            <a:prstDash val="solid"/>
            <a:tailEnd type="triangle"/>
          </a:ln>
        </p:spPr>
      </p:sp>
      <p:sp>
        <p:nvSpPr>
          <p:cNvPr id="57" name="Shape 55"/>
          <p:cNvSpPr/>
          <p:nvPr/>
        </p:nvSpPr>
        <p:spPr>
          <a:xfrm>
            <a:off x="7360920" y="4709160"/>
            <a:ext cx="1920240" cy="749808"/>
          </a:xfrm>
          <a:prstGeom prst="roundRect">
            <a:avLst>
              <a:gd name="adj" fmla="val 6098"/>
            </a:avLst>
          </a:prstGeom>
          <a:solidFill>
            <a:srgbClr val="FFFFFF"/>
          </a:solidFill>
          <a:ln w="12700">
            <a:solidFill>
              <a:srgbClr val="C9CCD8"/>
            </a:solidFill>
            <a:prstDash val="solid"/>
          </a:ln>
        </p:spPr>
      </p:sp>
      <p:sp>
        <p:nvSpPr>
          <p:cNvPr id="58" name="Text 56"/>
          <p:cNvSpPr/>
          <p:nvPr/>
        </p:nvSpPr>
        <p:spPr>
          <a:xfrm>
            <a:off x="7434072" y="48006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Informe</a:t>
            </a:r>
            <a:endParaRPr lang="en-US" sz="1050" dirty="0"/>
          </a:p>
        </p:txBody>
      </p:sp>
      <p:sp>
        <p:nvSpPr>
          <p:cNvPr id="59" name="Text 57"/>
          <p:cNvSpPr/>
          <p:nvPr/>
        </p:nvSpPr>
        <p:spPr>
          <a:xfrm>
            <a:off x="7434072" y="50566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narrativa, severidad</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y recomendaciones</a:t>
            </a:r>
            <a:endParaRPr lang="en-US" sz="900" dirty="0"/>
          </a:p>
        </p:txBody>
      </p:sp>
      <p:sp>
        <p:nvSpPr>
          <p:cNvPr id="60" name="Shape 58"/>
          <p:cNvSpPr/>
          <p:nvPr/>
        </p:nvSpPr>
        <p:spPr>
          <a:xfrm>
            <a:off x="9336024" y="5084064"/>
            <a:ext cx="210312" cy="0"/>
          </a:xfrm>
          <a:prstGeom prst="line">
            <a:avLst/>
          </a:prstGeom>
          <a:noFill/>
          <a:ln w="15875">
            <a:solidFill>
              <a:srgbClr val="202CFC"/>
            </a:solidFill>
            <a:prstDash val="solid"/>
            <a:tailEnd type="triangle"/>
          </a:ln>
        </p:spPr>
      </p:sp>
      <p:sp>
        <p:nvSpPr>
          <p:cNvPr id="61" name="Shape 59"/>
          <p:cNvSpPr/>
          <p:nvPr/>
        </p:nvSpPr>
        <p:spPr>
          <a:xfrm>
            <a:off x="9601200" y="4709160"/>
            <a:ext cx="1920240" cy="749808"/>
          </a:xfrm>
          <a:prstGeom prst="roundRect">
            <a:avLst>
              <a:gd name="adj" fmla="val 6098"/>
            </a:avLst>
          </a:prstGeom>
          <a:solidFill>
            <a:srgbClr val="FFFFFF"/>
          </a:solidFill>
          <a:ln w="12700">
            <a:solidFill>
              <a:srgbClr val="C9CCD8"/>
            </a:solidFill>
            <a:prstDash val="solid"/>
          </a:ln>
        </p:spPr>
      </p:sp>
      <p:sp>
        <p:nvSpPr>
          <p:cNvPr id="62" name="Text 60"/>
          <p:cNvSpPr/>
          <p:nvPr/>
        </p:nvSpPr>
        <p:spPr>
          <a:xfrm>
            <a:off x="9674352" y="4800600"/>
            <a:ext cx="1773936" cy="256032"/>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Se indexa</a:t>
            </a:r>
            <a:endParaRPr lang="en-US" sz="1050" dirty="0"/>
          </a:p>
        </p:txBody>
      </p:sp>
      <p:sp>
        <p:nvSpPr>
          <p:cNvPr id="63" name="Text 61"/>
          <p:cNvSpPr/>
          <p:nvPr/>
        </p:nvSpPr>
        <p:spPr>
          <a:xfrm>
            <a:off x="9674352" y="5056632"/>
            <a:ext cx="1773936" cy="347472"/>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el caso vuelve</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al catálogo</a:t>
            </a:r>
            <a:endParaRPr lang="en-US" sz="900" dirty="0"/>
          </a:p>
        </p:txBody>
      </p:sp>
      <p:sp>
        <p:nvSpPr>
          <p:cNvPr id="64" name="Shape 62"/>
          <p:cNvSpPr/>
          <p:nvPr/>
        </p:nvSpPr>
        <p:spPr>
          <a:xfrm>
            <a:off x="1600200" y="5779008"/>
            <a:ext cx="8961120" cy="0"/>
          </a:xfrm>
          <a:prstGeom prst="line">
            <a:avLst/>
          </a:prstGeom>
          <a:noFill/>
          <a:ln w="12700">
            <a:solidFill>
              <a:srgbClr val="C9CCD8"/>
            </a:solidFill>
            <a:prstDash val="dash"/>
            <a:headEnd type="triangle"/>
          </a:ln>
        </p:spPr>
      </p:sp>
      <p:sp>
        <p:nvSpPr>
          <p:cNvPr id="65" name="Text 63"/>
          <p:cNvSpPr/>
          <p:nvPr/>
        </p:nvSpPr>
        <p:spPr>
          <a:xfrm>
            <a:off x="640080" y="5833872"/>
            <a:ext cx="10881360" cy="256032"/>
          </a:xfrm>
          <a:prstGeom prst="rect">
            <a:avLst/>
          </a:prstGeom>
          <a:noFill/>
          <a:ln/>
        </p:spPr>
        <p:txBody>
          <a:bodyPr wrap="square" lIns="0" tIns="0" rIns="0" bIns="0" rtlCol="0" anchor="ctr"/>
          <a:lstStyle/>
          <a:p>
            <a:pPr algn="ctr" indent="0" marL="0">
              <a:buNone/>
            </a:pPr>
            <a:r>
              <a:rPr lang="en-US" sz="1000" i="1" dirty="0">
                <a:solidFill>
                  <a:srgbClr val="5A5F73"/>
                </a:solidFill>
                <a:latin typeface="Calibri" pitchFamily="34" charset="0"/>
                <a:ea typeface="Calibri" pitchFamily="34" charset="-122"/>
                <a:cs typeface="Calibri" pitchFamily="34" charset="-120"/>
              </a:rPr>
              <a:t>lo aprendido alimenta el siguiente diagnóstico</a:t>
            </a:r>
            <a:endParaRPr lang="en-US" sz="1000" dirty="0"/>
          </a:p>
        </p:txBody>
      </p:sp>
      <p:sp>
        <p:nvSpPr>
          <p:cNvPr id="66" name="Shape 64"/>
          <p:cNvSpPr/>
          <p:nvPr/>
        </p:nvSpPr>
        <p:spPr>
          <a:xfrm>
            <a:off x="777240" y="6263640"/>
            <a:ext cx="219456" cy="219456"/>
          </a:xfrm>
          <a:prstGeom prst="rect">
            <a:avLst/>
          </a:prstGeom>
          <a:solidFill>
            <a:srgbClr val="202CFC"/>
          </a:solidFill>
          <a:ln/>
        </p:spPr>
      </p:sp>
      <p:sp>
        <p:nvSpPr>
          <p:cNvPr id="67" name="Text 65"/>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68" name="Text 66"/>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69" name="Text 67"/>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 qué está hecho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2026-08-25T21:25:06Z</dcterms:created>
  <dcterms:modified xsi:type="dcterms:W3CDTF">2026-08-25T21:25:06Z</dcterms:modified>
</cp:coreProperties>
</file>