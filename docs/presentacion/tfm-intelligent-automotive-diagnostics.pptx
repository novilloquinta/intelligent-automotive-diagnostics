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es este. Empiezo por qué resuelve la herramienta, sigo por cómo funciona de cara al mecánico, luego el diseño y la implementación pieza a pieza, os enseño la aplicación funcionando, y cierro con cómo se sostiene: calidad y seguridad. Las conclusiones al final.
[~15 s · acumulado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Índice</a:t>
            </a:r>
            <a:endParaRPr lang="en-US" sz="3400" dirty="0"/>
          </a:p>
        </p:txBody>
      </p:sp>
      <p:sp>
        <p:nvSpPr>
          <p:cNvPr id="3" name="Text 1"/>
          <p:cNvSpPr/>
          <p:nvPr/>
        </p:nvSpPr>
        <p:spPr>
          <a:xfrm>
            <a:off x="777240" y="201168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1554480" y="201168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Introducción</a:t>
            </a:r>
            <a:endParaRPr lang="en-US" sz="2000" dirty="0"/>
          </a:p>
        </p:txBody>
      </p:sp>
      <p:sp>
        <p:nvSpPr>
          <p:cNvPr id="5" name="Text 3"/>
          <p:cNvSpPr/>
          <p:nvPr/>
        </p:nvSpPr>
        <p:spPr>
          <a:xfrm>
            <a:off x="777240" y="257860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1554480" y="257860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Funcionamiento</a:t>
            </a:r>
            <a:endParaRPr lang="en-US" sz="2000" dirty="0"/>
          </a:p>
        </p:txBody>
      </p:sp>
      <p:sp>
        <p:nvSpPr>
          <p:cNvPr id="7" name="Text 5"/>
          <p:cNvSpPr/>
          <p:nvPr/>
        </p:nvSpPr>
        <p:spPr>
          <a:xfrm>
            <a:off x="777240" y="3145536"/>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1554480" y="3145536"/>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Diseño</a:t>
            </a:r>
            <a:endParaRPr lang="en-US" sz="2000" dirty="0"/>
          </a:p>
        </p:txBody>
      </p:sp>
      <p:sp>
        <p:nvSpPr>
          <p:cNvPr id="9" name="Text 7"/>
          <p:cNvSpPr/>
          <p:nvPr/>
        </p:nvSpPr>
        <p:spPr>
          <a:xfrm>
            <a:off x="777240" y="3712464"/>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4</a:t>
            </a:r>
            <a:endParaRPr lang="en-US" sz="2000" dirty="0"/>
          </a:p>
        </p:txBody>
      </p:sp>
      <p:sp>
        <p:nvSpPr>
          <p:cNvPr id="10" name="Text 8"/>
          <p:cNvSpPr/>
          <p:nvPr/>
        </p:nvSpPr>
        <p:spPr>
          <a:xfrm>
            <a:off x="1554480" y="3712464"/>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Implementación</a:t>
            </a:r>
            <a:endParaRPr lang="en-US" sz="2000" dirty="0"/>
          </a:p>
        </p:txBody>
      </p:sp>
      <p:sp>
        <p:nvSpPr>
          <p:cNvPr id="11" name="Text 9"/>
          <p:cNvSpPr/>
          <p:nvPr/>
        </p:nvSpPr>
        <p:spPr>
          <a:xfrm>
            <a:off x="777240" y="4279392"/>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5</a:t>
            </a:r>
            <a:endParaRPr lang="en-US" sz="2000" dirty="0"/>
          </a:p>
        </p:txBody>
      </p:sp>
      <p:sp>
        <p:nvSpPr>
          <p:cNvPr id="12" name="Text 10"/>
          <p:cNvSpPr/>
          <p:nvPr/>
        </p:nvSpPr>
        <p:spPr>
          <a:xfrm>
            <a:off x="1554480" y="4279392"/>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Resultados</a:t>
            </a:r>
            <a:endParaRPr lang="en-US" sz="2000" dirty="0"/>
          </a:p>
        </p:txBody>
      </p:sp>
      <p:sp>
        <p:nvSpPr>
          <p:cNvPr id="13" name="Text 11"/>
          <p:cNvSpPr/>
          <p:nvPr/>
        </p:nvSpPr>
        <p:spPr>
          <a:xfrm>
            <a:off x="777240" y="484632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6</a:t>
            </a:r>
            <a:endParaRPr lang="en-US" sz="2000" dirty="0"/>
          </a:p>
        </p:txBody>
      </p:sp>
      <p:sp>
        <p:nvSpPr>
          <p:cNvPr id="14" name="Text 12"/>
          <p:cNvSpPr/>
          <p:nvPr/>
        </p:nvSpPr>
        <p:spPr>
          <a:xfrm>
            <a:off x="1554480" y="484632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Calidad y seguridad</a:t>
            </a:r>
            <a:endParaRPr lang="en-US" sz="2000" dirty="0"/>
          </a:p>
        </p:txBody>
      </p:sp>
      <p:sp>
        <p:nvSpPr>
          <p:cNvPr id="15" name="Text 13"/>
          <p:cNvSpPr/>
          <p:nvPr/>
        </p:nvSpPr>
        <p:spPr>
          <a:xfrm>
            <a:off x="777240" y="541324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7</a:t>
            </a:r>
            <a:endParaRPr lang="en-US" sz="2000" dirty="0"/>
          </a:p>
        </p:txBody>
      </p:sp>
      <p:sp>
        <p:nvSpPr>
          <p:cNvPr id="16" name="Text 14"/>
          <p:cNvSpPr/>
          <p:nvPr/>
        </p:nvSpPr>
        <p:spPr>
          <a:xfrm>
            <a:off x="1554480" y="541324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Conclusiones</a:t>
            </a:r>
            <a:endParaRPr lang="en-US" sz="20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1  Introducción</a:t>
            </a:r>
            <a:endParaRPr lang="en-US" sz="1300" dirty="0"/>
          </a:p>
        </p:txBody>
      </p:sp>
      <p:sp>
        <p:nvSpPr>
          <p:cNvPr id="3" name="Text 1"/>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202CFC"/>
                </a:solidFill>
                <a:latin typeface="Arial" pitchFamily="34" charset="0"/>
                <a:ea typeface="Arial" pitchFamily="34" charset="-122"/>
                <a:cs typeface="Arial" pitchFamily="34" charset="-120"/>
              </a:rPr>
              <a:t>1.1  </a:t>
            </a:r>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4" name="Text 2"/>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5" name="Text 3"/>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6" name="Text 4"/>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7" name="Text 5"/>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8" name="Text 6"/>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9" name="Text 7"/>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10" name="Text 8"/>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1" name="Text 9"/>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2" name="Text 10"/>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3" name="Text 11"/>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4" name="Text 12"/>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09728"/>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2  Funcionamiento</a:t>
            </a:r>
            <a:endParaRPr lang="en-US" sz="1300" dirty="0"/>
          </a:p>
        </p:txBody>
      </p:sp>
      <p:sp>
        <p:nvSpPr>
          <p:cNvPr id="3" name="Text 1"/>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202CFC"/>
                </a:solidFill>
                <a:latin typeface="Arial" pitchFamily="34" charset="0"/>
                <a:ea typeface="Arial" pitchFamily="34" charset="-122"/>
                <a:cs typeface="Arial" pitchFamily="34" charset="-120"/>
              </a:rPr>
              <a:t>2.1  </a:t>
            </a:r>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4" name="Text 2"/>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5" name="Shape 3"/>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6" name="Text 4"/>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7" name="Shape 5"/>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8" name="Text 6"/>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9" name="Shape 7"/>
          <p:cNvSpPr/>
          <p:nvPr/>
        </p:nvSpPr>
        <p:spPr>
          <a:xfrm>
            <a:off x="2971800" y="2029968"/>
            <a:ext cx="0" cy="146304"/>
          </a:xfrm>
          <a:prstGeom prst="line">
            <a:avLst/>
          </a:prstGeom>
          <a:noFill/>
          <a:ln w="15875">
            <a:solidFill>
              <a:srgbClr val="202CFC"/>
            </a:solidFill>
            <a:prstDash val="solid"/>
            <a:tailEnd type="triangle"/>
          </a:ln>
        </p:spPr>
      </p:sp>
      <p:sp>
        <p:nvSpPr>
          <p:cNvPr id="10" name="Shape 8"/>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1" name="Text 9"/>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2" name="Shape 10"/>
          <p:cNvSpPr/>
          <p:nvPr/>
        </p:nvSpPr>
        <p:spPr>
          <a:xfrm>
            <a:off x="2971800" y="2633472"/>
            <a:ext cx="0" cy="146304"/>
          </a:xfrm>
          <a:prstGeom prst="line">
            <a:avLst/>
          </a:prstGeom>
          <a:noFill/>
          <a:ln w="15875">
            <a:solidFill>
              <a:srgbClr val="202CFC"/>
            </a:solidFill>
            <a:prstDash val="solid"/>
            <a:tailEnd type="triangle"/>
          </a:ln>
        </p:spPr>
      </p:sp>
      <p:sp>
        <p:nvSpPr>
          <p:cNvPr id="13" name="Shape 11"/>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4" name="Text 12"/>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5" name="Shape 13"/>
          <p:cNvSpPr/>
          <p:nvPr/>
        </p:nvSpPr>
        <p:spPr>
          <a:xfrm>
            <a:off x="2971800" y="3236976"/>
            <a:ext cx="0" cy="146304"/>
          </a:xfrm>
          <a:prstGeom prst="line">
            <a:avLst/>
          </a:prstGeom>
          <a:noFill/>
          <a:ln w="15875">
            <a:solidFill>
              <a:srgbClr val="202CFC"/>
            </a:solidFill>
            <a:prstDash val="solid"/>
            <a:tailEnd type="triangle"/>
          </a:ln>
        </p:spPr>
      </p:sp>
      <p:sp>
        <p:nvSpPr>
          <p:cNvPr id="16" name="Shape 14"/>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7" name="Text 15"/>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8" name="Shape 16"/>
          <p:cNvSpPr/>
          <p:nvPr/>
        </p:nvSpPr>
        <p:spPr>
          <a:xfrm>
            <a:off x="2971800" y="3840480"/>
            <a:ext cx="0" cy="146304"/>
          </a:xfrm>
          <a:prstGeom prst="line">
            <a:avLst/>
          </a:prstGeom>
          <a:noFill/>
          <a:ln w="15875">
            <a:solidFill>
              <a:srgbClr val="202CFC"/>
            </a:solidFill>
            <a:prstDash val="solid"/>
            <a:tailEnd type="triangle"/>
          </a:ln>
        </p:spPr>
      </p:sp>
      <p:sp>
        <p:nvSpPr>
          <p:cNvPr id="19" name="Shape 17"/>
          <p:cNvSpPr/>
          <p:nvPr/>
        </p:nvSpPr>
        <p:spPr>
          <a:xfrm>
            <a:off x="2971800" y="4443984"/>
            <a:ext cx="0" cy="146304"/>
          </a:xfrm>
          <a:prstGeom prst="line">
            <a:avLst/>
          </a:prstGeom>
          <a:noFill/>
          <a:ln w="15875">
            <a:solidFill>
              <a:srgbClr val="202CFC"/>
            </a:solidFill>
            <a:prstDash val="solid"/>
            <a:tailEnd type="triangle"/>
          </a:ln>
        </p:spPr>
      </p:sp>
      <p:sp>
        <p:nvSpPr>
          <p:cNvPr id="20" name="Shape 18"/>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1" name="Text 19"/>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2" name="Shape 20"/>
          <p:cNvSpPr/>
          <p:nvPr/>
        </p:nvSpPr>
        <p:spPr>
          <a:xfrm>
            <a:off x="2971800" y="5303520"/>
            <a:ext cx="0" cy="256032"/>
          </a:xfrm>
          <a:prstGeom prst="line">
            <a:avLst/>
          </a:prstGeom>
          <a:noFill/>
          <a:ln w="15875">
            <a:solidFill>
              <a:srgbClr val="202CFC"/>
            </a:solidFill>
            <a:prstDash val="solid"/>
            <a:tailEnd type="triangle"/>
          </a:ln>
        </p:spPr>
      </p:sp>
      <p:sp>
        <p:nvSpPr>
          <p:cNvPr id="23" name="Shape 21"/>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4" name="Text 22"/>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5" name="Text 23"/>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6" name="Shape 24"/>
          <p:cNvSpPr/>
          <p:nvPr/>
        </p:nvSpPr>
        <p:spPr>
          <a:xfrm>
            <a:off x="4572000" y="4946904"/>
            <a:ext cx="1554480" cy="0"/>
          </a:xfrm>
          <a:prstGeom prst="line">
            <a:avLst/>
          </a:prstGeom>
          <a:noFill/>
          <a:ln w="15875">
            <a:solidFill>
              <a:srgbClr val="202CFC"/>
            </a:solidFill>
            <a:prstDash val="solid"/>
          </a:ln>
        </p:spPr>
      </p:sp>
      <p:sp>
        <p:nvSpPr>
          <p:cNvPr id="27" name="Shape 25"/>
          <p:cNvSpPr/>
          <p:nvPr/>
        </p:nvSpPr>
        <p:spPr>
          <a:xfrm>
            <a:off x="6126480" y="1801368"/>
            <a:ext cx="0" cy="3145536"/>
          </a:xfrm>
          <a:prstGeom prst="line">
            <a:avLst/>
          </a:prstGeom>
          <a:noFill/>
          <a:ln w="15875">
            <a:solidFill>
              <a:srgbClr val="202CFC"/>
            </a:solidFill>
            <a:prstDash val="solid"/>
          </a:ln>
        </p:spPr>
      </p:sp>
      <p:sp>
        <p:nvSpPr>
          <p:cNvPr id="28" name="Shape 26"/>
          <p:cNvSpPr/>
          <p:nvPr/>
        </p:nvSpPr>
        <p:spPr>
          <a:xfrm>
            <a:off x="6126480" y="1801368"/>
            <a:ext cx="960120" cy="0"/>
          </a:xfrm>
          <a:prstGeom prst="line">
            <a:avLst/>
          </a:prstGeom>
          <a:noFill/>
          <a:ln w="15875">
            <a:solidFill>
              <a:srgbClr val="202CFC"/>
            </a:solidFill>
            <a:prstDash val="solid"/>
            <a:tailEnd type="triangle"/>
          </a:ln>
        </p:spPr>
      </p:sp>
      <p:sp>
        <p:nvSpPr>
          <p:cNvPr id="29" name="Text 27"/>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30" name="Shape 28"/>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1" name="Text 29"/>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2" name="Shape 30"/>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3" name="Text 31"/>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4" name="Shape 32"/>
          <p:cNvSpPr/>
          <p:nvPr/>
        </p:nvSpPr>
        <p:spPr>
          <a:xfrm>
            <a:off x="9189720" y="2029968"/>
            <a:ext cx="0" cy="146304"/>
          </a:xfrm>
          <a:prstGeom prst="line">
            <a:avLst/>
          </a:prstGeom>
          <a:noFill/>
          <a:ln w="15875">
            <a:solidFill>
              <a:srgbClr val="202CFC"/>
            </a:solidFill>
            <a:prstDash val="solid"/>
            <a:tailEnd type="triangle"/>
          </a:ln>
        </p:spPr>
      </p:sp>
      <p:sp>
        <p:nvSpPr>
          <p:cNvPr id="35" name="Shape 33"/>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6" name="Text 34"/>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7" name="Shape 35"/>
          <p:cNvSpPr/>
          <p:nvPr/>
        </p:nvSpPr>
        <p:spPr>
          <a:xfrm>
            <a:off x="9189720" y="2633472"/>
            <a:ext cx="0" cy="146304"/>
          </a:xfrm>
          <a:prstGeom prst="line">
            <a:avLst/>
          </a:prstGeom>
          <a:noFill/>
          <a:ln w="15875">
            <a:solidFill>
              <a:srgbClr val="202CFC"/>
            </a:solidFill>
            <a:prstDash val="solid"/>
            <a:tailEnd type="triangle"/>
          </a:ln>
        </p:spPr>
      </p:sp>
      <p:sp>
        <p:nvSpPr>
          <p:cNvPr id="38" name="Shape 36"/>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9" name="Text 37"/>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40" name="Shape 38"/>
          <p:cNvSpPr/>
          <p:nvPr/>
        </p:nvSpPr>
        <p:spPr>
          <a:xfrm>
            <a:off x="9189720" y="3236976"/>
            <a:ext cx="0" cy="146304"/>
          </a:xfrm>
          <a:prstGeom prst="line">
            <a:avLst/>
          </a:prstGeom>
          <a:noFill/>
          <a:ln w="15875">
            <a:solidFill>
              <a:srgbClr val="202CFC"/>
            </a:solidFill>
            <a:prstDash val="solid"/>
            <a:tailEnd type="triangle"/>
          </a:ln>
        </p:spPr>
      </p:sp>
      <p:sp>
        <p:nvSpPr>
          <p:cNvPr id="41" name="Shape 39"/>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2" name="Text 40"/>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3" name="Shape 41"/>
          <p:cNvSpPr/>
          <p:nvPr/>
        </p:nvSpPr>
        <p:spPr>
          <a:xfrm>
            <a:off x="9189720" y="3840480"/>
            <a:ext cx="0" cy="146304"/>
          </a:xfrm>
          <a:prstGeom prst="line">
            <a:avLst/>
          </a:prstGeom>
          <a:noFill/>
          <a:ln w="15875">
            <a:solidFill>
              <a:srgbClr val="202CFC"/>
            </a:solidFill>
            <a:prstDash val="solid"/>
            <a:tailEnd type="triangle"/>
          </a:ln>
        </p:spPr>
      </p:sp>
      <p:sp>
        <p:nvSpPr>
          <p:cNvPr id="44" name="Shape 42"/>
          <p:cNvSpPr/>
          <p:nvPr/>
        </p:nvSpPr>
        <p:spPr>
          <a:xfrm>
            <a:off x="777240" y="6263640"/>
            <a:ext cx="219456" cy="219456"/>
          </a:xfrm>
          <a:prstGeom prst="rect">
            <a:avLst/>
          </a:prstGeom>
          <a:solidFill>
            <a:srgbClr val="202CFC"/>
          </a:solidFill>
          <a:ln/>
        </p:spPr>
      </p:sp>
      <p:sp>
        <p:nvSpPr>
          <p:cNvPr id="45" name="Text 4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6" name="Text 4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7" name="Text 4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2.2  </a:t>
            </a:r>
            <a:pPr indent="0" marL="0">
              <a:buNone/>
            </a:pPr>
            <a:r>
              <a:rPr lang="en-US" sz="2900" b="1" dirty="0">
                <a:solidFill>
                  <a:srgbClr val="1A1C2E"/>
                </a:solidFill>
                <a:latin typeface="Arial" pitchFamily="34" charset="0"/>
                <a:ea typeface="Arial" pitchFamily="34" charset="-122"/>
                <a:cs typeface="Arial" pitchFamily="34" charset="-120"/>
              </a:rPr>
              <a:t>Diagnóstico determinista y diagnóstico cognitivo</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37744"/>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3  Diseño</a:t>
            </a:r>
            <a:endParaRPr lang="en-US" sz="1300" dirty="0"/>
          </a:p>
        </p:txBody>
      </p:sp>
      <p:sp>
        <p:nvSpPr>
          <p:cNvPr id="3" name="Text 1"/>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3.1  </a:t>
            </a:r>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4" name="Text 2"/>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5" name="Text 3"/>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6" name="Text 4"/>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7" name="Text 5"/>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8" name="Text 6"/>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9" name="Text 7"/>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10" name="Text 8"/>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1" name="Text 9"/>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2" name="Text 10"/>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3" name="Text 11"/>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4" name="Text 12"/>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5" name="Text 13"/>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6" name="Text 14"/>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7" name="Text 15"/>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8" name="Text 16"/>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9" name="Text 17"/>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20" name="Text 18"/>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1" name="Text 19"/>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2" name="Text 20"/>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3.2  </a:t>
            </a:r>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4  Implementación</a:t>
            </a:r>
            <a:endParaRPr lang="en-US" sz="1300" dirty="0"/>
          </a:p>
        </p:txBody>
      </p:sp>
      <p:sp>
        <p:nvSpPr>
          <p:cNvPr id="3" name="Text 1"/>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4.1  </a:t>
            </a:r>
            <a:pPr indent="0" marL="0">
              <a:buNone/>
            </a:pPr>
            <a:r>
              <a:rPr lang="en-US" sz="2900" b="1" dirty="0">
                <a:solidFill>
                  <a:srgbClr val="1A1C2E"/>
                </a:solidFill>
                <a:latin typeface="Arial" pitchFamily="34" charset="0"/>
                <a:ea typeface="Arial" pitchFamily="34" charset="-122"/>
                <a:cs typeface="Arial" pitchFamily="34" charset="-120"/>
              </a:rPr>
              <a:t>Adquisición de datos mediante OBD-II</a:t>
            </a:r>
            <a:endParaRPr lang="en-US" sz="29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5" name="Shape 3"/>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6" name="Text 4"/>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7" name="Shape 5"/>
          <p:cNvSpPr/>
          <p:nvPr/>
        </p:nvSpPr>
        <p:spPr>
          <a:xfrm>
            <a:off x="3081528" y="2857500"/>
            <a:ext cx="374904" cy="0"/>
          </a:xfrm>
          <a:prstGeom prst="line">
            <a:avLst/>
          </a:prstGeom>
          <a:noFill/>
          <a:ln w="19050">
            <a:solidFill>
              <a:srgbClr val="202CFC"/>
            </a:solidFill>
            <a:prstDash val="solid"/>
            <a:tailEnd type="triangle"/>
          </a:ln>
        </p:spPr>
      </p:sp>
      <p:sp>
        <p:nvSpPr>
          <p:cNvPr id="8" name="Shape 6"/>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9" name="Text 7"/>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10" name="Shape 8"/>
          <p:cNvSpPr/>
          <p:nvPr/>
        </p:nvSpPr>
        <p:spPr>
          <a:xfrm>
            <a:off x="5870448" y="2857500"/>
            <a:ext cx="374904" cy="0"/>
          </a:xfrm>
          <a:prstGeom prst="line">
            <a:avLst/>
          </a:prstGeom>
          <a:noFill/>
          <a:ln w="19050">
            <a:solidFill>
              <a:srgbClr val="202CFC"/>
            </a:solidFill>
            <a:prstDash val="solid"/>
            <a:tailEnd type="triangle"/>
          </a:ln>
        </p:spPr>
      </p:sp>
      <p:sp>
        <p:nvSpPr>
          <p:cNvPr id="11" name="Shape 9"/>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2" name="Text 10"/>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3" name="Shape 11"/>
          <p:cNvSpPr/>
          <p:nvPr/>
        </p:nvSpPr>
        <p:spPr>
          <a:xfrm>
            <a:off x="8659368" y="2857500"/>
            <a:ext cx="374904" cy="0"/>
          </a:xfrm>
          <a:prstGeom prst="line">
            <a:avLst/>
          </a:prstGeom>
          <a:noFill/>
          <a:ln w="19050">
            <a:solidFill>
              <a:srgbClr val="202CFC"/>
            </a:solidFill>
            <a:prstDash val="solid"/>
            <a:tailEnd type="triangle"/>
          </a:ln>
        </p:spPr>
      </p:sp>
      <p:sp>
        <p:nvSpPr>
          <p:cNvPr id="14" name="Shape 12"/>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5" name="Text 13"/>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6" name="Text 14"/>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7" name="Text 15"/>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8" name="Text 16"/>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9" name="Text 17"/>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20" name="Text 18"/>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1" name="Text 19"/>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2" name="Text 20"/>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4.2  </a:t>
            </a:r>
            <a:pPr indent="0" marL="0">
              <a:buNone/>
            </a:pPr>
            <a:r>
              <a:rPr lang="en-US" sz="2900" b="1" dirty="0">
                <a:solidFill>
                  <a:srgbClr val="1A1C2E"/>
                </a:solidFill>
                <a:latin typeface="Arial" pitchFamily="34" charset="0"/>
                <a:ea typeface="Arial" pitchFamily="34" charset="-122"/>
                <a:cs typeface="Arial" pitchFamily="34" charset="-120"/>
              </a:rPr>
              <a:t>Persistencia: modelo relacional y modelo vectorial</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4.3  </a:t>
            </a:r>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4.4  </a:t>
            </a:r>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4.5  </a:t>
            </a:r>
            <a:pPr indent="0" marL="0">
              <a:buNone/>
            </a:pPr>
            <a:r>
              <a:rPr lang="en-US" sz="2900" b="1" dirty="0">
                <a:solidFill>
                  <a:srgbClr val="1A1C2E"/>
                </a:solidFill>
                <a:latin typeface="Arial" pitchFamily="34" charset="0"/>
                <a:ea typeface="Arial" pitchFamily="34" charset="-122"/>
                <a:cs typeface="Arial" pitchFamily="34" charset="-120"/>
              </a:rPr>
              <a:t>Model Context Protocol: herramientas del agente</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4.6  </a:t>
            </a:r>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4.7  </a:t>
            </a:r>
            <a:pPr indent="0" marL="0">
              <a:buNone/>
            </a:pPr>
            <a:r>
              <a:rPr lang="en-US" sz="2900" b="1" dirty="0">
                <a:solidFill>
                  <a:srgbClr val="1A1C2E"/>
                </a:solidFill>
                <a:latin typeface="Arial" pitchFamily="34" charset="0"/>
                <a:ea typeface="Arial" pitchFamily="34" charset="-122"/>
                <a:cs typeface="Arial" pitchFamily="34" charset="-120"/>
              </a:rPr>
              <a:t>Modelos empleados: lenguaje y embeddings</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4.8  </a:t>
            </a:r>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92024"/>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5  Resultados</a:t>
            </a:r>
            <a:endParaRPr lang="en-US" sz="1300" dirty="0"/>
          </a:p>
        </p:txBody>
      </p:sp>
      <p:sp>
        <p:nvSpPr>
          <p:cNvPr id="3" name="Text 1"/>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202CFC"/>
                </a:solidFill>
                <a:latin typeface="Arial" pitchFamily="34" charset="0"/>
                <a:ea typeface="Arial" pitchFamily="34" charset="-122"/>
                <a:cs typeface="Arial" pitchFamily="34" charset="-120"/>
              </a:rPr>
              <a:t>5.1  </a:t>
            </a:r>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4" name="Text 2"/>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5" name="Text 3"/>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6"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7" name="Text 4"/>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8"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9" name="Text 5"/>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10"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1" name="Text 6"/>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2"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3" name="Shape 7"/>
          <p:cNvSpPr/>
          <p:nvPr/>
        </p:nvSpPr>
        <p:spPr>
          <a:xfrm>
            <a:off x="777240" y="6263640"/>
            <a:ext cx="219456" cy="219456"/>
          </a:xfrm>
          <a:prstGeom prst="rect">
            <a:avLst/>
          </a:prstGeom>
          <a:solidFill>
            <a:srgbClr val="202CFC"/>
          </a:solidFill>
          <a:ln/>
        </p:spPr>
      </p:sp>
      <p:sp>
        <p:nvSpPr>
          <p:cNvPr id="14"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6  Calidad y seguridad</a:t>
            </a:r>
            <a:endParaRPr lang="en-US" sz="1300" dirty="0"/>
          </a:p>
        </p:txBody>
      </p:sp>
      <p:sp>
        <p:nvSpPr>
          <p:cNvPr id="3" name="Text 1"/>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6.1  </a:t>
            </a:r>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5" name="Text 3"/>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6" name="Text 4"/>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7" name="Text 5"/>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8" name="Text 6"/>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202CFC"/>
                </a:solidFill>
                <a:latin typeface="Arial" pitchFamily="34" charset="0"/>
                <a:ea typeface="Arial" pitchFamily="34" charset="-122"/>
                <a:cs typeface="Arial" pitchFamily="34" charset="-120"/>
              </a:rPr>
              <a:t>6.2  </a:t>
            </a:r>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6.3  </a:t>
            </a:r>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29184"/>
            <a:ext cx="10607040" cy="274320"/>
          </a:xfrm>
          <a:prstGeom prst="rect">
            <a:avLst/>
          </a:prstGeom>
          <a:noFill/>
          <a:ln/>
        </p:spPr>
        <p:txBody>
          <a:bodyPr wrap="square" lIns="0" tIns="0" rIns="0" bIns="0" rtlCol="0" anchor="t"/>
          <a:lstStyle/>
          <a:p>
            <a:pPr indent="0" marL="0">
              <a:buNone/>
            </a:pPr>
            <a:r>
              <a:rPr lang="en-US" sz="1300" b="1" dirty="0">
                <a:solidFill>
                  <a:srgbClr val="202CFC"/>
                </a:solidFill>
                <a:latin typeface="Arial" pitchFamily="34" charset="0"/>
                <a:ea typeface="Arial" pitchFamily="34" charset="-122"/>
                <a:cs typeface="Arial" pitchFamily="34" charset="-120"/>
              </a:rPr>
              <a:t>7  Conclusiones</a:t>
            </a:r>
            <a:endParaRPr lang="en-US" sz="1300" dirty="0"/>
          </a:p>
        </p:txBody>
      </p:sp>
      <p:sp>
        <p:nvSpPr>
          <p:cNvPr id="3" name="Text 1"/>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7.1  </a:t>
            </a:r>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4" name="Text 2"/>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5" name="Text 3"/>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6" name="Text 4"/>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7" name="Text 5"/>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8" name="Text 6"/>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2026-08-27T13:32:16Z</dcterms:created>
  <dcterms:modified xsi:type="dcterms:W3CDTF">2026-08-27T13:32:16Z</dcterms:modified>
</cp:coreProperties>
</file>